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  <a:p>
            <a:r>
              <a:t>정정: department.parent_id는 논리 관계만 존재. 날짜별 행은 복합 UNIQUE이며 PK 선언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  <a:p>
            <a:r>
              <a:t>정정: schedule_dates는 복합 UNIQUE. 감사 로그의 actor_id와 target_user_id 모두 NULL 허용.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HTTP 매핑 88개 · 페이지 17개 · schema.sql 테이블 21개 · 활성 설정 12개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783080"/>
            <a:ext cx="1069848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B8CBE5"/>
                </a:solidFill>
                <a:latin typeface="맑은 고딕"/>
                <a:ea typeface="맑은 고딕"/>
              </a:rPr>
              <a:t>시스템 구성 · 데이터베이스 · 기능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0" y="2880360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246120"/>
                <a:gridCol w="2103120"/>
              </a:tblGrid>
              <a:tr h="420624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841248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841248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841248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최초 포함 총 3회 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5724144"/>
            <a:ext cx="10927080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마스킹해 표시합니다. 공휴일은 DB 캐시를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117336"/>
            <a:ext cx="1092708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메일은 업무 저장과 함께 큐에 적재 → 15분마다 재시도(최초 포함 총 3회) → 실패 건은 관리자 수동 재발송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40233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5998464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매 요청 서버가 재직·역할·온보딩 상태를 재확인 · 본인 결재 금지(총관리자 예외)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마지막 총관리자 강등·퇴직 금지 · 본인 퇴직 처리 금지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ERD 1 · 사원·조직·연차·복리후생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FK 열의 →는 참조 테이블, 1·N은 최대 관계 수입니다. 같은 두 테이블의 FK는 한 선으로 묶었습니다.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ERD|employment_periods"/>
          <p:cNvSpPr/>
          <p:nvPr/>
        </p:nvSpPr>
        <p:spPr>
          <a:xfrm>
            <a:off x="438912" y="1920240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employment_periods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seq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hire_date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retired_at</a:t>
            </a:r>
          </a:p>
        </p:txBody>
      </p:sp>
      <p:sp>
        <p:nvSpPr>
          <p:cNvPr id="6" name="ERD|leave_reset_history"/>
          <p:cNvSpPr/>
          <p:nvPr/>
        </p:nvSpPr>
        <p:spPr>
          <a:xfrm>
            <a:off x="438912" y="4187952"/>
            <a:ext cx="2103120" cy="1653235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6040">
                <a:srgbClr val="0D203D"/>
              </a:gs>
              <a:gs pos="1604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leave_reset_history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prev_base_days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new_base_days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prev_use_days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carried_bonus_days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expired_days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advance_settled</a:t>
            </a:r>
          </a:p>
        </p:txBody>
      </p:sp>
      <p:sp>
        <p:nvSpPr>
          <p:cNvPr id="7" name="ERD|users"/>
          <p:cNvSpPr/>
          <p:nvPr/>
        </p:nvSpPr>
        <p:spPr>
          <a:xfrm>
            <a:off x="2770632" y="1920240"/>
            <a:ext cx="2103120" cy="2658160"/>
          </a:xfrm>
          <a:prstGeom prst="rect">
            <a:avLst/>
          </a:prstGeom>
          <a:gradFill rotWithShape="1">
            <a:gsLst>
              <a:gs pos="0">
                <a:srgbClr val="245BCE"/>
              </a:gs>
              <a:gs pos="9976">
                <a:srgbClr val="245BCE"/>
              </a:gs>
              <a:gs pos="99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role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department_id FK → department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hire_date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last_reset_date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base_days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bonus_days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onboarding_status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is_active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retired_at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purged_at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version</a:t>
            </a:r>
          </a:p>
        </p:txBody>
      </p:sp>
      <p:sp>
        <p:nvSpPr>
          <p:cNvPr id="8" name="ERD|department"/>
          <p:cNvSpPr/>
          <p:nvPr/>
        </p:nvSpPr>
        <p:spPr>
          <a:xfrm>
            <a:off x="2770632" y="4892040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department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parent_id → department (논리)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leader_id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system_default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9" name="ERD|leave_requests"/>
          <p:cNvSpPr/>
          <p:nvPr/>
        </p:nvSpPr>
        <p:spPr>
          <a:xfrm>
            <a:off x="510235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primary_approver_id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request_reason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cancel_reason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advance_used_days</a:t>
            </a:r>
          </a:p>
        </p:txBody>
      </p:sp>
      <p:sp>
        <p:nvSpPr>
          <p:cNvPr id="10" name="ERD|leave_dates"/>
          <p:cNvSpPr/>
          <p:nvPr/>
        </p:nvSpPr>
        <p:spPr>
          <a:xfrm>
            <a:off x="5102352" y="4169663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leave_dates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leave_requests_id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UQ (leave_requests_id, day)</a:t>
            </a:r>
          </a:p>
        </p:txBody>
      </p:sp>
      <p:sp>
        <p:nvSpPr>
          <p:cNvPr id="11" name="ERD|leave_action_history"/>
          <p:cNvSpPr/>
          <p:nvPr/>
        </p:nvSpPr>
        <p:spPr>
          <a:xfrm>
            <a:off x="5102352" y="5212080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leave_action_history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leave_requests_id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leave_requests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· actor_id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 · comment</a:t>
            </a:r>
          </a:p>
        </p:txBody>
      </p:sp>
      <p:sp>
        <p:nvSpPr>
          <p:cNvPr id="12" name="ERD|welfare_requests"/>
          <p:cNvSpPr/>
          <p:nvPr/>
        </p:nvSpPr>
        <p:spPr>
          <a:xfrm>
            <a:off x="743407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policy_id FK → welfare_policies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primary_approver_id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sub_approver_id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category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add_days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reason</a:t>
            </a:r>
          </a:p>
        </p:txBody>
      </p:sp>
      <p:sp>
        <p:nvSpPr>
          <p:cNvPr id="13" name="ERD|welfare_action_history"/>
          <p:cNvSpPr/>
          <p:nvPr/>
        </p:nvSpPr>
        <p:spPr>
          <a:xfrm>
            <a:off x="7434072" y="4553712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welfare_action_history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welfare_requests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· actor_id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comment</a:t>
            </a:r>
          </a:p>
        </p:txBody>
      </p:sp>
      <p:sp>
        <p:nvSpPr>
          <p:cNvPr id="14" name="ERD|welfare_policies"/>
          <p:cNvSpPr/>
          <p:nvPr/>
        </p:nvSpPr>
        <p:spPr>
          <a:xfrm>
            <a:off x="9765792" y="1920240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welfare_policies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category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default_days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default_evidence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cxnSp>
        <p:nvCxnSpPr>
          <p:cNvPr id="15" name="관계|employment_periods|user_id|users|0"/>
          <p:cNvCxnSpPr/>
          <p:nvPr/>
        </p:nvCxnSpPr>
        <p:spPr>
          <a:xfrm flipH="1">
            <a:off x="2542032" y="2322576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관계수|employment_periods|users|1"/>
          <p:cNvSpPr txBox="1"/>
          <p:nvPr/>
        </p:nvSpPr>
        <p:spPr>
          <a:xfrm>
            <a:off x="2596896" y="213969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관계수|employment_periods|users|N"/>
          <p:cNvSpPr txBox="1"/>
          <p:nvPr/>
        </p:nvSpPr>
        <p:spPr>
          <a:xfrm>
            <a:off x="2560320" y="234086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18" name="관계|leave_reset_history|user_id|users|0"/>
          <p:cNvCxnSpPr/>
          <p:nvPr/>
        </p:nvCxnSpPr>
        <p:spPr>
          <a:xfrm flipH="1">
            <a:off x="2660904" y="2743200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관계|leave_reset_history|user_id|users|1"/>
          <p:cNvCxnSpPr/>
          <p:nvPr/>
        </p:nvCxnSpPr>
        <p:spPr>
          <a:xfrm>
            <a:off x="2660904" y="2743200"/>
            <a:ext cx="0" cy="18105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관계|leave_reset_history|user_id|users|2"/>
          <p:cNvCxnSpPr/>
          <p:nvPr/>
        </p:nvCxnSpPr>
        <p:spPr>
          <a:xfrm flipH="1">
            <a:off x="2542032" y="4553712"/>
            <a:ext cx="1188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관계수|leave_reset_history|users|1"/>
          <p:cNvSpPr txBox="1"/>
          <p:nvPr/>
        </p:nvSpPr>
        <p:spPr>
          <a:xfrm>
            <a:off x="2596896" y="256032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2" name="관계수|leave_reset_history|users|N"/>
          <p:cNvSpPr txBox="1"/>
          <p:nvPr/>
        </p:nvSpPr>
        <p:spPr>
          <a:xfrm>
            <a:off x="2560320" y="457200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3" name="관계|leave_requests|user_id,primary_approver_id,sub_approver_id|users|0"/>
          <p:cNvCxnSpPr/>
          <p:nvPr/>
        </p:nvCxnSpPr>
        <p:spPr>
          <a:xfrm>
            <a:off x="4873752" y="2377440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관계수|leave_requests|users|1"/>
          <p:cNvSpPr txBox="1"/>
          <p:nvPr/>
        </p:nvSpPr>
        <p:spPr>
          <a:xfrm>
            <a:off x="4892040" y="21945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5" name="관계수|leave_requests|users|N"/>
          <p:cNvSpPr txBox="1"/>
          <p:nvPr/>
        </p:nvSpPr>
        <p:spPr>
          <a:xfrm>
            <a:off x="4928616" y="23957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6" name="관계|welfare_requests|user_id,primary_approver_id,sub_approver_id|users|0"/>
          <p:cNvCxnSpPr/>
          <p:nvPr/>
        </p:nvCxnSpPr>
        <p:spPr>
          <a:xfrm flipV="1">
            <a:off x="443484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관계|welfare_requests|user_id,primary_approver_id,sub_approver_id|users|1"/>
          <p:cNvCxnSpPr/>
          <p:nvPr/>
        </p:nvCxnSpPr>
        <p:spPr>
          <a:xfrm>
            <a:off x="4434840" y="1709928"/>
            <a:ext cx="33192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관계|welfare_requests|user_id,primary_approver_id,sub_approver_id|users|2"/>
          <p:cNvCxnSpPr/>
          <p:nvPr/>
        </p:nvCxnSpPr>
        <p:spPr>
          <a:xfrm>
            <a:off x="7754112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관계수|welfare_requests|users|1"/>
          <p:cNvSpPr txBox="1"/>
          <p:nvPr/>
        </p:nvSpPr>
        <p:spPr>
          <a:xfrm>
            <a:off x="425195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0" name="관계수|welfare_requests|users|N"/>
          <p:cNvSpPr txBox="1"/>
          <p:nvPr/>
        </p:nvSpPr>
        <p:spPr>
          <a:xfrm>
            <a:off x="7781544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1" name="관계|users|department_id|department|0"/>
          <p:cNvCxnSpPr/>
          <p:nvPr/>
        </p:nvCxnSpPr>
        <p:spPr>
          <a:xfrm flipV="1">
            <a:off x="3401568" y="4578400"/>
            <a:ext cx="0" cy="31364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관계수|users|department|1"/>
          <p:cNvSpPr txBox="1"/>
          <p:nvPr/>
        </p:nvSpPr>
        <p:spPr>
          <a:xfrm>
            <a:off x="3218688" y="47000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관계수|users|department|N"/>
          <p:cNvSpPr txBox="1"/>
          <p:nvPr/>
        </p:nvSpPr>
        <p:spPr>
          <a:xfrm>
            <a:off x="3429000" y="4596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4" name="관계|department|leader_id|users|0"/>
          <p:cNvCxnSpPr/>
          <p:nvPr/>
        </p:nvCxnSpPr>
        <p:spPr>
          <a:xfrm>
            <a:off x="4187952" y="4578400"/>
            <a:ext cx="0" cy="31364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관계수|department|users|1"/>
          <p:cNvSpPr txBox="1"/>
          <p:nvPr/>
        </p:nvSpPr>
        <p:spPr>
          <a:xfrm>
            <a:off x="4005072" y="4596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6" name="관계수|department|users|N"/>
          <p:cNvSpPr txBox="1"/>
          <p:nvPr/>
        </p:nvSpPr>
        <p:spPr>
          <a:xfrm>
            <a:off x="4215384" y="47000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7" name="관계|department|parent_id|department|0"/>
          <p:cNvCxnSpPr/>
          <p:nvPr/>
        </p:nvCxnSpPr>
        <p:spPr>
          <a:xfrm flipH="1">
            <a:off x="2660904" y="5010912"/>
            <a:ext cx="109728" cy="0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관계|department|parent_id|department|1"/>
          <p:cNvCxnSpPr/>
          <p:nvPr/>
        </p:nvCxnSpPr>
        <p:spPr>
          <a:xfrm>
            <a:off x="2660904" y="5010912"/>
            <a:ext cx="0" cy="832104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관계|department|parent_id|department|2"/>
          <p:cNvCxnSpPr/>
          <p:nvPr/>
        </p:nvCxnSpPr>
        <p:spPr>
          <a:xfrm>
            <a:off x="2660904" y="5843016"/>
            <a:ext cx="109728" cy="0"/>
          </a:xfrm>
          <a:prstGeom prst="line">
            <a:avLst/>
          </a:prstGeom>
          <a:ln w="12700">
            <a:solidFill>
              <a:srgbClr val="8C610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관계수|department|department|1"/>
          <p:cNvSpPr txBox="1"/>
          <p:nvPr/>
        </p:nvSpPr>
        <p:spPr>
          <a:xfrm>
            <a:off x="2596896" y="4828032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8C610D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1" name="관계수|department|department|N"/>
          <p:cNvSpPr txBox="1"/>
          <p:nvPr/>
        </p:nvSpPr>
        <p:spPr>
          <a:xfrm>
            <a:off x="2596896" y="5861303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8C610D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2" name="관계|leave_dates|leave_requests_id|leave_requests|0"/>
          <p:cNvCxnSpPr/>
          <p:nvPr/>
        </p:nvCxnSpPr>
        <p:spPr>
          <a:xfrm>
            <a:off x="5532120" y="3717036"/>
            <a:ext cx="0" cy="452627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관계수|leave_dates|leave_requests|1"/>
          <p:cNvSpPr txBox="1"/>
          <p:nvPr/>
        </p:nvSpPr>
        <p:spPr>
          <a:xfrm>
            <a:off x="5349240" y="37353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4" name="관계수|leave_dates|leave_requests|N"/>
          <p:cNvSpPr txBox="1"/>
          <p:nvPr/>
        </p:nvSpPr>
        <p:spPr>
          <a:xfrm>
            <a:off x="5559552" y="3977639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5" name="관계|leave_action_history|leave_requests_id|leave_requests|0"/>
          <p:cNvCxnSpPr/>
          <p:nvPr/>
        </p:nvCxnSpPr>
        <p:spPr>
          <a:xfrm>
            <a:off x="7205472" y="3520440"/>
            <a:ext cx="109728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관계|leave_action_history|leave_requests_id|leave_requests|1"/>
          <p:cNvCxnSpPr/>
          <p:nvPr/>
        </p:nvCxnSpPr>
        <p:spPr>
          <a:xfrm>
            <a:off x="7315200" y="3520440"/>
            <a:ext cx="0" cy="205740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관계|leave_action_history|leave_requests_id|leave_requests|2"/>
          <p:cNvCxnSpPr/>
          <p:nvPr/>
        </p:nvCxnSpPr>
        <p:spPr>
          <a:xfrm flipH="1">
            <a:off x="7205472" y="5577840"/>
            <a:ext cx="109728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관계수|leave_action_history|leave_requests|1"/>
          <p:cNvSpPr txBox="1"/>
          <p:nvPr/>
        </p:nvSpPr>
        <p:spPr>
          <a:xfrm>
            <a:off x="7223759" y="33375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9" name="관계수|leave_action_history|leave_requests|N"/>
          <p:cNvSpPr txBox="1"/>
          <p:nvPr/>
        </p:nvSpPr>
        <p:spPr>
          <a:xfrm>
            <a:off x="7223759" y="5596127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0" name="관계|leave_action_history|user_id,actor_id|users|0"/>
          <p:cNvCxnSpPr/>
          <p:nvPr/>
        </p:nvCxnSpPr>
        <p:spPr>
          <a:xfrm>
            <a:off x="4873752" y="4343400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관계|leave_action_history|user_id,actor_id|users|1"/>
          <p:cNvCxnSpPr/>
          <p:nvPr/>
        </p:nvCxnSpPr>
        <p:spPr>
          <a:xfrm>
            <a:off x="4983480" y="4343400"/>
            <a:ext cx="0" cy="130759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관계|leave_action_history|user_id,actor_id|users|2"/>
          <p:cNvCxnSpPr/>
          <p:nvPr/>
        </p:nvCxnSpPr>
        <p:spPr>
          <a:xfrm>
            <a:off x="4983480" y="5650992"/>
            <a:ext cx="118872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관계수|leave_action_history|users|1"/>
          <p:cNvSpPr txBox="1"/>
          <p:nvPr/>
        </p:nvSpPr>
        <p:spPr>
          <a:xfrm>
            <a:off x="4892040" y="416052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4" name="관계수|leave_action_history|users|N"/>
          <p:cNvSpPr txBox="1"/>
          <p:nvPr/>
        </p:nvSpPr>
        <p:spPr>
          <a:xfrm>
            <a:off x="4928616" y="5669279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5" name="관계|welfare_requests|policy_id|welfare_policies|0"/>
          <p:cNvCxnSpPr/>
          <p:nvPr/>
        </p:nvCxnSpPr>
        <p:spPr>
          <a:xfrm flipH="1">
            <a:off x="9537192" y="2578608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관계수|welfare_requests|welfare_policies|1"/>
          <p:cNvSpPr txBox="1"/>
          <p:nvPr/>
        </p:nvSpPr>
        <p:spPr>
          <a:xfrm>
            <a:off x="9592056" y="2395727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7" name="관계수|welfare_requests|welfare_policies|N"/>
          <p:cNvSpPr txBox="1"/>
          <p:nvPr/>
        </p:nvSpPr>
        <p:spPr>
          <a:xfrm>
            <a:off x="9555480" y="259689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58" name="관계|welfare_action_history|welfare_request_id|welfare_requests|0"/>
          <p:cNvCxnSpPr/>
          <p:nvPr/>
        </p:nvCxnSpPr>
        <p:spPr>
          <a:xfrm>
            <a:off x="8549640" y="3717036"/>
            <a:ext cx="0" cy="836676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관계수|welfare_action_history|welfare_requests|1"/>
          <p:cNvSpPr txBox="1"/>
          <p:nvPr/>
        </p:nvSpPr>
        <p:spPr>
          <a:xfrm>
            <a:off x="8366760" y="37353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0" name="관계수|welfare_action_history|welfare_requests|N"/>
          <p:cNvSpPr txBox="1"/>
          <p:nvPr/>
        </p:nvSpPr>
        <p:spPr>
          <a:xfrm>
            <a:off x="8577072" y="436168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61" name="관계|welfare_action_history|user_id,actor_id|users|0"/>
          <p:cNvCxnSpPr/>
          <p:nvPr/>
        </p:nvCxnSpPr>
        <p:spPr>
          <a:xfrm>
            <a:off x="4873752" y="3767328"/>
            <a:ext cx="1097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관계|welfare_action_history|user_id,actor_id|users|1"/>
          <p:cNvCxnSpPr/>
          <p:nvPr/>
        </p:nvCxnSpPr>
        <p:spPr>
          <a:xfrm>
            <a:off x="4983480" y="3767328"/>
            <a:ext cx="0" cy="18288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관계|welfare_action_history|user_id,actor_id|users|2"/>
          <p:cNvCxnSpPr/>
          <p:nvPr/>
        </p:nvCxnSpPr>
        <p:spPr>
          <a:xfrm>
            <a:off x="4983480" y="3950208"/>
            <a:ext cx="466344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관계|welfare_action_history|user_id,actor_id|users|3"/>
          <p:cNvCxnSpPr/>
          <p:nvPr/>
        </p:nvCxnSpPr>
        <p:spPr>
          <a:xfrm>
            <a:off x="9646920" y="3950208"/>
            <a:ext cx="0" cy="20391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관계|welfare_action_history|user_id,actor_id|users|4"/>
          <p:cNvCxnSpPr/>
          <p:nvPr/>
        </p:nvCxnSpPr>
        <p:spPr>
          <a:xfrm flipH="1">
            <a:off x="8915400" y="5989320"/>
            <a:ext cx="73152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관계|welfare_action_history|user_id,actor_id|users|5"/>
          <p:cNvCxnSpPr/>
          <p:nvPr/>
        </p:nvCxnSpPr>
        <p:spPr>
          <a:xfrm flipV="1">
            <a:off x="8915400" y="5776264"/>
            <a:ext cx="0" cy="213056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관계수|welfare_action_history|users|1"/>
          <p:cNvSpPr txBox="1"/>
          <p:nvPr/>
        </p:nvSpPr>
        <p:spPr>
          <a:xfrm>
            <a:off x="4892040" y="358444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관계수|welfare_action_history|users|N"/>
          <p:cNvSpPr txBox="1"/>
          <p:nvPr/>
        </p:nvSpPr>
        <p:spPr>
          <a:xfrm>
            <a:off x="8942832" y="5794552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84080" y="3886200"/>
            <a:ext cx="2048256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점선: 부서의 논리 자기참조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(실제 FK 제약 없음)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날짜별 행: 복합 UQ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근속 구간: 사원·순번 복합 UQ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NULL 허용은 FK별로 다름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8912" y="6364224"/>
            <a:ext cx="10378440" cy="1920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일수: DECIMAL(4,1). 상태·종류: MySQL ENUM. 개인정보 파기는 행을 보존하고 식별값·사유 본문을 익명화합니다.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ERD 2 · 이메일·일정·감사·정책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users는 앞 장의 참조입니다. FK가 없는 정책·자격 증명·공휴일 테이블도 함께 표시합니다.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ERD|users"/>
          <p:cNvSpPr/>
          <p:nvPr/>
        </p:nvSpPr>
        <p:spPr>
          <a:xfrm>
            <a:off x="438912" y="1920240"/>
            <a:ext cx="2103120" cy="791870"/>
          </a:xfrm>
          <a:prstGeom prst="rect">
            <a:avLst/>
          </a:prstGeom>
          <a:gradFill rotWithShape="1">
            <a:gsLst>
              <a:gs pos="0">
                <a:srgbClr val="245BCE"/>
              </a:gs>
              <a:gs pos="33487">
                <a:srgbClr val="245BCE"/>
              </a:gs>
              <a:gs pos="33487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role</a:t>
            </a:r>
          </a:p>
        </p:txBody>
      </p:sp>
      <p:sp>
        <p:nvSpPr>
          <p:cNvPr id="6" name="ERD|email_history"/>
          <p:cNvSpPr/>
          <p:nvPr/>
        </p:nvSpPr>
        <p:spPr>
          <a:xfrm>
            <a:off x="277063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email_history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from_id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status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retry_count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sending_at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sent_at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error_message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title</a:t>
            </a:r>
          </a:p>
        </p:txBody>
      </p:sp>
      <p:sp>
        <p:nvSpPr>
          <p:cNvPr id="7" name="ERD|leave_reminder_dispatch"/>
          <p:cNvSpPr/>
          <p:nvPr/>
        </p:nvSpPr>
        <p:spPr>
          <a:xfrm>
            <a:off x="5102352" y="1920240"/>
            <a:ext cx="2103120" cy="1796796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4758">
                <a:srgbClr val="0D203D"/>
              </a:gs>
              <a:gs pos="1475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leave_reminder_dispatch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email_history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cycle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period_key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reference_date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next_reset_date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remaining_days_snapshot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8" name="ERD|schedule_entries"/>
          <p:cNvSpPr/>
          <p:nvPr/>
        </p:nvSpPr>
        <p:spPr>
          <a:xfrm>
            <a:off x="7434072" y="1920240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schedule_entries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schedule_type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memo</a:t>
            </a:r>
          </a:p>
        </p:txBody>
      </p:sp>
      <p:sp>
        <p:nvSpPr>
          <p:cNvPr id="9" name="ERD|schedule_dates"/>
          <p:cNvSpPr/>
          <p:nvPr/>
        </p:nvSpPr>
        <p:spPr>
          <a:xfrm>
            <a:off x="9765792" y="1920240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schedule_dates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schedule_entry_id FK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→ schedule_entries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UQ (schedule_entry_id, day)</a:t>
            </a:r>
          </a:p>
        </p:txBody>
      </p:sp>
      <p:sp>
        <p:nvSpPr>
          <p:cNvPr id="10" name="ERD|email_templates"/>
          <p:cNvSpPr/>
          <p:nvPr/>
        </p:nvSpPr>
        <p:spPr>
          <a:xfrm>
            <a:off x="438912" y="4187952"/>
            <a:ext cx="2103120" cy="122255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1690">
                <a:srgbClr val="0D203D"/>
              </a:gs>
              <a:gs pos="21690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email_templates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template_key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subject_template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body_template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version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updated_by FK → users</a:t>
            </a:r>
          </a:p>
        </p:txBody>
      </p:sp>
      <p:sp>
        <p:nvSpPr>
          <p:cNvPr id="11" name="ERD|admin_audit_log"/>
          <p:cNvSpPr/>
          <p:nvPr/>
        </p:nvSpPr>
        <p:spPr>
          <a:xfrm>
            <a:off x="2770632" y="4187952"/>
            <a:ext cx="2103120" cy="1509674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17565">
                <a:srgbClr val="0D203D"/>
              </a:gs>
              <a:gs pos="17565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admin_audit_log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FK → users (NULL 허용)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target_user_id FK → users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  (NULL 허용)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action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target_label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before_value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after_value</a:t>
            </a:r>
          </a:p>
        </p:txBody>
      </p:sp>
      <p:sp>
        <p:nvSpPr>
          <p:cNvPr id="12" name="ERD|mail_credentials"/>
          <p:cNvSpPr/>
          <p:nvPr/>
        </p:nvSpPr>
        <p:spPr>
          <a:xfrm>
            <a:off x="5102352" y="4187952"/>
            <a:ext cx="2103120" cy="1078992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4576">
                <a:srgbClr val="0D203D"/>
              </a:gs>
              <a:gs pos="24576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mail_credentials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provider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username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encrypted_secret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13" name="ERD|holidays"/>
          <p:cNvSpPr/>
          <p:nvPr/>
        </p:nvSpPr>
        <p:spPr>
          <a:xfrm>
            <a:off x="7434072" y="3593592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holidays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date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year</a:t>
            </a:r>
          </a:p>
        </p:txBody>
      </p:sp>
      <p:sp>
        <p:nvSpPr>
          <p:cNvPr id="14" name="ERD|leave_policy"/>
          <p:cNvSpPr/>
          <p:nvPr/>
        </p:nvSpPr>
        <p:spPr>
          <a:xfrm>
            <a:off x="9765792" y="3593592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leave_policy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years_of_service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annual_leave_days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sp>
        <p:nvSpPr>
          <p:cNvPr id="15" name="ERD|leave_policy_config"/>
          <p:cNvSpPr/>
          <p:nvPr/>
        </p:nvSpPr>
        <p:spPr>
          <a:xfrm>
            <a:off x="7434072" y="4901184"/>
            <a:ext cx="2103120" cy="791870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33487">
                <a:srgbClr val="0D203D"/>
              </a:gs>
              <a:gs pos="33487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leave_policy_config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name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value</a:t>
            </a:r>
          </a:p>
        </p:txBody>
      </p:sp>
      <p:sp>
        <p:nvSpPr>
          <p:cNvPr id="16" name="ERD|holiday_api_credentials"/>
          <p:cNvSpPr/>
          <p:nvPr/>
        </p:nvSpPr>
        <p:spPr>
          <a:xfrm>
            <a:off x="9765792" y="4901184"/>
            <a:ext cx="2103120" cy="935431"/>
          </a:xfrm>
          <a:prstGeom prst="rect">
            <a:avLst/>
          </a:prstGeom>
          <a:gradFill rotWithShape="1">
            <a:gsLst>
              <a:gs pos="0">
                <a:srgbClr val="0D203D"/>
              </a:gs>
              <a:gs pos="28348">
                <a:srgbClr val="0D203D"/>
              </a:gs>
              <a:gs pos="28348">
                <a:srgbClr val="FFFFFF"/>
              </a:gs>
              <a:gs pos="100000">
                <a:srgbClr val="FFFFFF"/>
              </a:gs>
            </a:gsLst>
            <a:lin ang="5400000" scaled="0"/>
          </a:gradFill>
          <a:ln w="10795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2004" bIns="0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FFFFFF"/>
                </a:solidFill>
                <a:latin typeface="맑은 고딕"/>
                <a:ea typeface="맑은 고딕"/>
              </a:rPr>
              <a:t>holiday_api_credentials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id PK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provider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encrypted_api_key</a:t>
            </a:r>
          </a:p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ko-KR">
                <a:solidFill>
                  <a:srgbClr val="172B49"/>
                </a:solidFill>
                <a:latin typeface="맑은 고딕"/>
                <a:ea typeface="맑은 고딕"/>
              </a:rPr>
              <a:t>active</a:t>
            </a:r>
          </a:p>
        </p:txBody>
      </p:sp>
      <p:cxnSp>
        <p:nvCxnSpPr>
          <p:cNvPr id="17" name="관계|email_history|user_id,from_id|users|0"/>
          <p:cNvCxnSpPr/>
          <p:nvPr/>
        </p:nvCxnSpPr>
        <p:spPr>
          <a:xfrm>
            <a:off x="2542032" y="2404872"/>
            <a:ext cx="228600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관계수|email_history|users|1"/>
          <p:cNvSpPr txBox="1"/>
          <p:nvPr/>
        </p:nvSpPr>
        <p:spPr>
          <a:xfrm>
            <a:off x="2560320" y="2221991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9" name="관계수|email_history|users|N"/>
          <p:cNvSpPr txBox="1"/>
          <p:nvPr/>
        </p:nvSpPr>
        <p:spPr>
          <a:xfrm>
            <a:off x="2596896" y="2423160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0" name="관계|leave_reminder_dispatch|user_id|users|0"/>
          <p:cNvCxnSpPr/>
          <p:nvPr/>
        </p:nvCxnSpPr>
        <p:spPr>
          <a:xfrm flipV="1">
            <a:off x="205740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관계|leave_reminder_dispatch|user_id|users|1"/>
          <p:cNvCxnSpPr/>
          <p:nvPr/>
        </p:nvCxnSpPr>
        <p:spPr>
          <a:xfrm>
            <a:off x="2057400" y="1709928"/>
            <a:ext cx="344728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관계|leave_reminder_dispatch|user_id|users|2"/>
          <p:cNvCxnSpPr/>
          <p:nvPr/>
        </p:nvCxnSpPr>
        <p:spPr>
          <a:xfrm>
            <a:off x="5504688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관계수|leave_reminder_dispatch|users|1"/>
          <p:cNvSpPr txBox="1"/>
          <p:nvPr/>
        </p:nvSpPr>
        <p:spPr>
          <a:xfrm>
            <a:off x="187451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" name="관계수|leave_reminder_dispatch|users|N"/>
          <p:cNvSpPr txBox="1"/>
          <p:nvPr/>
        </p:nvSpPr>
        <p:spPr>
          <a:xfrm>
            <a:off x="5532120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5" name="관계|schedule_entries|user_id|users|0"/>
          <p:cNvCxnSpPr/>
          <p:nvPr/>
        </p:nvCxnSpPr>
        <p:spPr>
          <a:xfrm flipV="1">
            <a:off x="2057400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관계|schedule_entries|user_id|users|1"/>
          <p:cNvCxnSpPr/>
          <p:nvPr/>
        </p:nvCxnSpPr>
        <p:spPr>
          <a:xfrm>
            <a:off x="2057400" y="1709928"/>
            <a:ext cx="587044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관계|schedule_entries|user_id|users|2"/>
          <p:cNvCxnSpPr/>
          <p:nvPr/>
        </p:nvCxnSpPr>
        <p:spPr>
          <a:xfrm>
            <a:off x="7927848" y="1709928"/>
            <a:ext cx="0" cy="21031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관계수|schedule_entries|users|N"/>
          <p:cNvSpPr txBox="1"/>
          <p:nvPr/>
        </p:nvSpPr>
        <p:spPr>
          <a:xfrm>
            <a:off x="7955279" y="172821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29" name="관계|leave_reminder_dispatch|email_history_id|email_history|0"/>
          <p:cNvCxnSpPr/>
          <p:nvPr/>
        </p:nvCxnSpPr>
        <p:spPr>
          <a:xfrm>
            <a:off x="4873752" y="2688336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관계수|leave_reminder_dispatch|email_history|1"/>
          <p:cNvSpPr txBox="1"/>
          <p:nvPr/>
        </p:nvSpPr>
        <p:spPr>
          <a:xfrm>
            <a:off x="4892040" y="250545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1" name="관계수|leave_reminder_dispatch|email_history|N"/>
          <p:cNvSpPr txBox="1"/>
          <p:nvPr/>
        </p:nvSpPr>
        <p:spPr>
          <a:xfrm>
            <a:off x="4928616" y="270662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2" name="관계|email_templates|updated_by|users|0"/>
          <p:cNvCxnSpPr/>
          <p:nvPr/>
        </p:nvCxnSpPr>
        <p:spPr>
          <a:xfrm>
            <a:off x="1078992" y="2712110"/>
            <a:ext cx="0" cy="1475842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관계수|email_templates|users|1"/>
          <p:cNvSpPr txBox="1"/>
          <p:nvPr/>
        </p:nvSpPr>
        <p:spPr>
          <a:xfrm>
            <a:off x="896112" y="273039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4" name="관계수|email_templates|users|N"/>
          <p:cNvSpPr txBox="1"/>
          <p:nvPr/>
        </p:nvSpPr>
        <p:spPr>
          <a:xfrm>
            <a:off x="1106424" y="39959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35" name="관계|admin_audit_log|actor_id,target_user_id|users|0"/>
          <p:cNvCxnSpPr/>
          <p:nvPr/>
        </p:nvCxnSpPr>
        <p:spPr>
          <a:xfrm>
            <a:off x="1993392" y="2712110"/>
            <a:ext cx="0" cy="1228953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관계|admin_audit_log|actor_id,target_user_id|users|1"/>
          <p:cNvCxnSpPr/>
          <p:nvPr/>
        </p:nvCxnSpPr>
        <p:spPr>
          <a:xfrm>
            <a:off x="1993392" y="3941063"/>
            <a:ext cx="1709928" cy="0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관계|admin_audit_log|actor_id,target_user_id|users|2"/>
          <p:cNvCxnSpPr/>
          <p:nvPr/>
        </p:nvCxnSpPr>
        <p:spPr>
          <a:xfrm>
            <a:off x="3703320" y="3941063"/>
            <a:ext cx="0" cy="246889"/>
          </a:xfrm>
          <a:prstGeom prst="line">
            <a:avLst/>
          </a:prstGeom>
          <a:ln w="1270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관계수|admin_audit_log|users|1"/>
          <p:cNvSpPr txBox="1"/>
          <p:nvPr/>
        </p:nvSpPr>
        <p:spPr>
          <a:xfrm>
            <a:off x="1810512" y="273039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9" name="관계수|admin_audit_log|users|N"/>
          <p:cNvSpPr txBox="1"/>
          <p:nvPr/>
        </p:nvSpPr>
        <p:spPr>
          <a:xfrm>
            <a:off x="3730752" y="3995928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245BCE"/>
                </a:solidFill>
                <a:latin typeface="맑은 고딕"/>
                <a:ea typeface="맑은 고딕"/>
              </a:rPr>
              <a:t>N</a:t>
            </a:r>
          </a:p>
        </p:txBody>
      </p:sp>
      <p:cxnSp>
        <p:nvCxnSpPr>
          <p:cNvPr id="40" name="관계|schedule_dates|schedule_entry_id|schedule_entries|0"/>
          <p:cNvCxnSpPr/>
          <p:nvPr/>
        </p:nvCxnSpPr>
        <p:spPr>
          <a:xfrm>
            <a:off x="9537192" y="2414016"/>
            <a:ext cx="228600" cy="0"/>
          </a:xfrm>
          <a:prstGeom prst="line">
            <a:avLst/>
          </a:prstGeom>
          <a:ln w="12700">
            <a:solidFill>
              <a:srgbClr val="087E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관계수|schedule_dates|schedule_entries|1"/>
          <p:cNvSpPr txBox="1"/>
          <p:nvPr/>
        </p:nvSpPr>
        <p:spPr>
          <a:xfrm>
            <a:off x="9555480" y="2231136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2" name="관계수|schedule_dates|schedule_entries|N"/>
          <p:cNvSpPr txBox="1"/>
          <p:nvPr/>
        </p:nvSpPr>
        <p:spPr>
          <a:xfrm>
            <a:off x="9592056" y="2432304"/>
            <a:ext cx="155448" cy="1737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ko-KR">
                <a:solidFill>
                  <a:srgbClr val="087E8B"/>
                </a:solidFill>
                <a:latin typeface="맑은 고딕"/>
                <a:ea typeface="맑은 고딕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" y="6062472"/>
            <a:ext cx="6675120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 중복 방지: UNIQUE (user_id, cycle, period_key). 날짜별 행은 복합 UQ이며 PK는 없습니다.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6364224"/>
            <a:ext cx="10378440" cy="1920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독립 테이블은 관계선을 두지 않습니다. 1·N은 최대 관계 수이며, NULL 허용 FK는 연결된 부모가 없을 수 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93392"/>
            <a:ext cx="22860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날짜·내용 작성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 후 신청</a:t>
            </a:r>
          </a:p>
        </p:txBody>
      </p:sp>
      <p:sp>
        <p:nvSpPr>
          <p:cNvPr id="6" name="Diamond 5"/>
          <p:cNvSpPr/>
          <p:nvPr/>
        </p:nvSpPr>
        <p:spPr>
          <a:xfrm>
            <a:off x="3657600" y="1792224"/>
            <a:ext cx="19202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93392"/>
            <a:ext cx="3749039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두 명 중 한 명이 결재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432304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432304"/>
            <a:ext cx="82296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05856" y="2011680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245BCE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87368"/>
            <a:ext cx="2286000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날짜·내용 수정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검증·반려 사유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3072384"/>
            <a:ext cx="0" cy="44805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965960" y="3520440"/>
            <a:ext cx="265176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65960" y="3520440"/>
            <a:ext cx="0" cy="5669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73168" y="3172968"/>
            <a:ext cx="257860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A13B4A"/>
                </a:solidFill>
                <a:latin typeface="맑은 고딕"/>
                <a:ea typeface="맑은 고딕"/>
              </a:rPr>
              <a:t>검증 실패: 사유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5321808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A13B4A"/>
                </a:solidFill>
                <a:latin typeface="맑은 고딕"/>
                <a:ea typeface="맑은 고딕"/>
              </a:rPr>
              <a:t>수정 후 다시 신청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8912" y="4590288"/>
            <a:ext cx="38404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38912" y="2432304"/>
            <a:ext cx="0" cy="215798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38912" y="2432304"/>
            <a:ext cx="38404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7818120" y="3950208"/>
            <a:ext cx="19202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0" y="2862072"/>
            <a:ext cx="0" cy="108813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434840" y="4087368"/>
            <a:ext cx="2468880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903720" y="4590288"/>
            <a:ext cx="91440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76872" y="4187952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108960" y="4590288"/>
            <a:ext cx="13258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82112" y="4206240"/>
            <a:ext cx="11612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사유 확인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77272" y="4087368"/>
            <a:ext cx="144475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연차 사용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38360" y="4590288"/>
            <a:ext cx="438912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56648" y="4197096"/>
            <a:ext cx="39319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5449824"/>
            <a:ext cx="6601968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항목: 주말·공휴일·지난 날짜·중복·잔여일수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5907024"/>
            <a:ext cx="109270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복리후생 신청도 같은 결재 흐름이며, 승인 시 보너스 연차로 가산합니다.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메일: 신청 시 신청자 + 승인자 2명 / 결과는 재직 총관리자 전원도 수신합니다.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2194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3657600" y="1819656"/>
            <a:ext cx="2194560" cy="135331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29968"/>
            <a:ext cx="201168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2029968"/>
            <a:ext cx="2359152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필요하면 다시 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8장 신청 단계로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496312"/>
            <a:ext cx="6400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52160" y="2496312"/>
            <a:ext cx="73152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70448" y="2075688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595360" y="2496312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0" y="3794760"/>
            <a:ext cx="2194560" cy="93268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80" y="3172968"/>
            <a:ext cx="0" cy="621792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92040" y="3310128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6" name="Diamond 15"/>
          <p:cNvSpPr/>
          <p:nvPr/>
        </p:nvSpPr>
        <p:spPr>
          <a:xfrm>
            <a:off x="6400800" y="3639312"/>
            <a:ext cx="182880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52160" y="4270248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315200" y="3337560"/>
            <a:ext cx="0" cy="30175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315200" y="3337560"/>
            <a:ext cx="300837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323576" y="2962656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10144" y="341071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794760"/>
            <a:ext cx="2359152" cy="93268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잔액 복구 없음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4270248"/>
            <a:ext cx="91440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02752" y="3840480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323576" y="4727448"/>
            <a:ext cx="0" cy="80467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38912" y="5532120"/>
            <a:ext cx="9884664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38912" y="2496312"/>
            <a:ext cx="0" cy="303580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8912" y="2496312"/>
            <a:ext cx="38404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9536" y="5129784"/>
            <a:ext cx="6080760" cy="265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A13B4A"/>
                </a:solidFill>
                <a:latin typeface="맑은 고딕"/>
                <a:ea typeface="맑은 고딕"/>
              </a:rPr>
              <a:t>취소 거부 후 다시 취소 요청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879592"/>
            <a:ext cx="10927080" cy="5394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신청과 승인 후 오늘·미래 날짜만 있는 신청은 즉시 취소하며, 현재 회차 차감분을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메일: 취소 요청은 신청자 + 승인자 / 취소 결재 결과는 재직 총관리자 전원도 수신합니다.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3936"/>
            <a:ext cx="1088136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456432"/>
            <a:ext cx="228600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날짜 선택·신청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신청 날짜별 회차 구분</a:t>
            </a:r>
          </a:p>
        </p:txBody>
      </p:sp>
      <p:sp>
        <p:nvSpPr>
          <p:cNvPr id="7" name="Diamond 6"/>
          <p:cNvSpPr/>
          <p:nvPr/>
        </p:nvSpPr>
        <p:spPr>
          <a:xfrm>
            <a:off x="3749039" y="2487168"/>
            <a:ext cx="28346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 또는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sp>
        <p:nvSpPr>
          <p:cNvPr id="8" name="Diamond 7"/>
          <p:cNvSpPr/>
          <p:nvPr/>
        </p:nvSpPr>
        <p:spPr>
          <a:xfrm>
            <a:off x="3749039" y="4251960"/>
            <a:ext cx="28346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허용·한도 내?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657600"/>
            <a:ext cx="320040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337560" y="3127248"/>
            <a:ext cx="0" cy="530352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37560" y="3127248"/>
            <a:ext cx="411479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44952" y="2788920"/>
            <a:ext cx="62179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245BCE"/>
                </a:solidFill>
                <a:latin typeface="맑은 고딕"/>
                <a:ea typeface="맑은 고딕"/>
              </a:rPr>
              <a:t>현재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4160520"/>
            <a:ext cx="320040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37560" y="4160520"/>
            <a:ext cx="0" cy="7315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337560" y="4892040"/>
            <a:ext cx="41147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044952" y="5111496"/>
            <a:ext cx="62179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53657D"/>
                </a:solidFill>
                <a:latin typeface="맑은 고딕"/>
                <a:ea typeface="맑은 고딕"/>
              </a:rPr>
              <a:t>다음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606040"/>
            <a:ext cx="4023360" cy="1042415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부족분은 당겨쓰기로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0" y="3127248"/>
            <a:ext cx="8229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56832" y="2734056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361688"/>
            <a:ext cx="4023360" cy="1042415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다음 회차 예약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현재 잔액 유지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예약 한도에는 당겨쓰기 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4892040"/>
            <a:ext cx="8229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56832" y="4489704"/>
            <a:ext cx="67665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423160"/>
            <a:ext cx="2286000" cy="86868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날짜 줄여 재신청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82312"/>
            <a:ext cx="2286000" cy="84124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예약 불가·한도 초과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날짜 줄여 재신청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166360" y="2286000"/>
            <a:ext cx="0" cy="2011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874519" y="2286000"/>
            <a:ext cx="3291841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874519" y="2286000"/>
            <a:ext cx="0" cy="13716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035808" y="2423160"/>
            <a:ext cx="658368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A13B4A"/>
                </a:solidFill>
                <a:latin typeface="맑은 고딕"/>
                <a:ea typeface="맑은 고딕"/>
              </a:rPr>
              <a:t>불가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38912" y="2862072"/>
            <a:ext cx="29260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8912" y="2862072"/>
            <a:ext cx="0" cy="79552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38912" y="3657600"/>
            <a:ext cx="29260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66360" y="5532120"/>
            <a:ext cx="0" cy="25603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874519" y="5788152"/>
            <a:ext cx="3291841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874519" y="5623560"/>
            <a:ext cx="0" cy="16459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40096" y="5550408"/>
            <a:ext cx="758952" cy="210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lang="ko-KR">
                <a:solidFill>
                  <a:srgbClr val="A13B4A"/>
                </a:solidFill>
                <a:latin typeface="맑은 고딕"/>
                <a:ea typeface="맑은 고딕"/>
              </a:rPr>
              <a:t>불가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38912" y="5202936"/>
            <a:ext cx="29260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8912" y="4160520"/>
            <a:ext cx="0" cy="10424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8912" y="4160520"/>
            <a:ext cx="29260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예약합니다. 현재 회차는 기산일부터 다음 기산일 전날까지입니다.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93392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993392"/>
            <a:ext cx="2194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가입·정보 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943600" y="1801368"/>
            <a:ext cx="2148840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993392"/>
            <a:ext cx="2788920" cy="86868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온보딩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88920" y="2441448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94960" y="2441448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92440" y="2441448"/>
            <a:ext cx="5943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38160" y="2029968"/>
            <a:ext cx="493776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3502152"/>
            <a:ext cx="2514600" cy="86868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18020" y="3081528"/>
            <a:ext cx="0" cy="420624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59752" y="317296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961120" y="3310128"/>
            <a:ext cx="2103120" cy="125272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3936491"/>
            <a:ext cx="6858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064240" y="3936491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795760" y="2441448"/>
            <a:ext cx="0" cy="1495043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1475720" y="2441448"/>
            <a:ext cx="3200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137392" y="3182112"/>
            <a:ext cx="603504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4983480"/>
            <a:ext cx="2514600" cy="85039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12680" y="4562856"/>
            <a:ext cx="0" cy="420624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168128" y="464515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4983480"/>
            <a:ext cx="2514600" cy="85039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입사일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A13B4A"/>
                </a:solidFill>
                <a:latin typeface="맑은 고딕"/>
                <a:ea typeface="맑은 고딕"/>
              </a:rPr>
              <a:t>반려된 입사일 확인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275320" y="5408676"/>
            <a:ext cx="50292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200400" y="3502152"/>
            <a:ext cx="2194560" cy="86868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8C610D"/>
                </a:solidFill>
                <a:latin typeface="맑은 고딕"/>
                <a:ea typeface="맑은 고딕"/>
              </a:rPr>
              <a:t>대기 중 1회 수정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허용 시 입사일·생일 수정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394960" y="3936491"/>
            <a:ext cx="365760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297680" y="4370832"/>
            <a:ext cx="0" cy="292608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2920" y="4663440"/>
            <a:ext cx="3794760" cy="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02920" y="3200400"/>
            <a:ext cx="0" cy="146304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2920" y="3200400"/>
            <a:ext cx="5120640" cy="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623560" y="2441448"/>
            <a:ext cx="0" cy="758952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23560" y="2441448"/>
            <a:ext cx="320040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02920" y="5408676"/>
            <a:ext cx="525780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02920" y="4663440"/>
            <a:ext cx="0" cy="745236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536" y="402336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수정 후 다시 판정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038344"/>
            <a:ext cx="4517136" cy="2468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반려 후 재입력도 같은 판정으로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5907024"/>
            <a:ext cx="109270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기간과 대기 중 수정 허용은 관리자 설정입니다. 수정 후 총관리자에게 알립니다.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관리자 승인·반려 결과는 본인에게 메일로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기술 스택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백엔드는 업무 규칙과 저장을, 프론트엔드는 화면과 서버 데이터 갱신을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92224"/>
            <a:ext cx="5340096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백엔드 · Java 21 / Spring Boot 4.1.0 / Gradle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2784" y="1792224"/>
            <a:ext cx="5285232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프론트엔드 · React 19.2 / Vite 8 / Node.js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2304288"/>
          <a:ext cx="5340096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64"/>
                <a:gridCol w="2542032"/>
              </a:tblGrid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Web MVC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REST API 제공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Data JPA / Hibernate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객체와 DB 연결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Security / OAuth2 Client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로그인·역할 제어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발급·검증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 Mail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이메일 발송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Bean Validation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입력 형식·요청 값 검증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Java 코드 축소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DB 연결 / 테스트 DB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/ Mockito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규칙·권한 자동 검증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72784" y="2304288"/>
          <a:ext cx="5285232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404872"/>
              </a:tblGrid>
              <a:tr h="36576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anchor="ctr" marL="109728" marR="109728" marT="45720" marB="45720"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화면·입력 상태 구성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 이동·접근 제한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캐시·갱신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요청·로그인 만료·오류 처리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Vite 플러그인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CSS 디자인 값 적용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날짜·회차 계산과 표시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아이콘·처리 결과 알림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화면·사용자 조작 자동 검증</a:t>
                      </a:r>
                    </a:p>
                  </a:txBody>
                  <a:tcPr anchor="ctr" marL="109728" marR="109728" marT="45720" marB="45720"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33756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기본 오류·규칙 위반 검사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Docker 단계별 빌드로 화면·서버를 통합하고, Docker Compose로 앱과 MySQL 8을 구성합니다.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 규모와 운영 전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구현 수치는 2026-09-11 코드 기준이며, 자동 테스트는 2026-09-11 실행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2656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1224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1224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810512"/>
            <a:ext cx="1828800" cy="676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lang="ko-KR">
                <a:solidFill>
                  <a:srgbClr val="245BCE"/>
                </a:solidFill>
                <a:latin typeface="맑은 고딕"/>
                <a:ea typeface="맑은 고딕"/>
              </a:rPr>
              <a:t>829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59689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" y="3136392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" y="3419856"/>
            <a:ext cx="5047488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14215"/>
            <a:ext cx="4937760" cy="1719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419856"/>
            <a:ext cx="5093208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014215"/>
            <a:ext cx="5093208" cy="18196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 로그인과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실제 사원 데이터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수신·SMTP·공휴일 API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+ 프론트엔드 329건. 실제 운영 환경에서의 확인은 남아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MLsoft 사내 연차·복리후생 관리 시스템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