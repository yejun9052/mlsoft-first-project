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docs/발표자료/브리프-소개-ppt-2026-09-11.md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아키텍처·배포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backend/.../holiday/client/HolidayApiClient.java</a:t>
            </a:r>
          </a:p>
          <a:p>
            <a:r>
              <a:t>security/CustomOAuth2UserService.java</a:t>
            </a:r>
          </a:p>
          <a:p>
            <a:r>
              <a:t>email/service/MailSenderResolver.java</a:t>
            </a:r>
          </a:p>
          <a:p>
            <a:r>
              <a:t>LeaveScheduler.syncHolidaysForNewYear (0 5 0 1 1 *)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계층 구조</a:t>
            </a:r>
          </a:p>
          <a:p>
            <a:r>
              <a:t>backend/src/main/java/com/mlsoft/backend/domain/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프론트엔드 데이터 흐름</a:t>
            </a:r>
          </a:p>
          <a:p>
            <a:r>
              <a:t>frontend/src/pages/</a:t>
            </a:r>
          </a:p>
          <a:p>
            <a:r>
              <a:t>frontend/src/api/index.js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db/schema.sql — CREATE TABLE 21개, FOREIGN KEY 27개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db/schema.sql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backend/src/main/java/com/mlsoft/backend/domain/leave/service/LeaveService.java:413~479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연차 잔액 모델</a:t>
            </a:r>
          </a:p>
          <a:p>
            <a:r>
              <a:t>backend/src/main/java/com/mlsoft/backend/domain/leave/service/LeaveService.java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backend/src/main/java/com/mlsoft/backend/domain/auth/service/AuthService.java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backend/src/main/java/com/mlsoft/backend/domain/welfare/service/WelfareService.java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docs/09-스케줄러-설계.md</a:t>
            </a:r>
          </a:p>
          <a:p>
            <a:r>
              <a:t>backend/src/main/java/com/mlsoft/backend/domain/leave/scheduler/LeaveScheduler.java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backend/src/main/java/com/mlsoft/backend/domain/email/service/EmailNotificationPublisher.java</a:t>
            </a:r>
          </a:p>
          <a:p>
            <a:r>
              <a:t>backend/src/main/java/com/mlsoft/backend/domain/email/service/EmailDeliveryService.java</a:t>
            </a:r>
          </a:p>
          <a:p>
            <a:r>
              <a:t>backend/src/main/java/com/mlsoft/backend/domain/email/service/MailSenderResolver.java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backend/src/main/java/com/mlsoft/backend/domain/user/service/UserService.java:434~648</a:t>
            </a:r>
          </a:p>
          <a:p>
            <a:r>
              <a:t>backend/src/main/java/com/mlsoft/backend/domain/user/service/RetireePurgeService.java</a:t>
            </a:r>
          </a:p>
          <a:p>
            <a:r>
              <a:t>backend/src/main/java/com/mlsoft/backend/domain/audit/service/AdminAuditService.java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backend/src/main/java/com/mlsoft/backend/security/OnboardingCheckInterceptor.java</a:t>
            </a:r>
          </a:p>
          <a:p>
            <a:r>
              <a:t>backend/src/main/java/com/mlsoft/backend/domain/leave/service/LeaveService.java:638~655</a:t>
            </a:r>
          </a:p>
          <a:p>
            <a:r>
              <a:t>backend/src/main/java/com/mlsoft/backend/domain/user/service/UserService.java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backend/build.gradle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frontend/package.json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코드 실측: HTTP 메서드 매핑 88개, 테스트 제외 페이지 17개, schema.sql CREATE TABLE 21개, 정책 설정 ACTIVE 12개</a:t>
            </a:r>
          </a:p>
          <a:p>
            <a:r>
              <a:t>docs/12-남은-작업.md, 현재 상태 스냅샷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0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B8CBE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783080"/>
            <a:ext cx="1069848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lang="ko-KR">
                <a:solidFill>
                  <a:srgbClr val="FFFFFF"/>
                </a:solidFill>
                <a:latin typeface="맑은 고딕"/>
                <a:ea typeface="맑은 고딕"/>
              </a:rPr>
              <a:t>MLsoft 사내 연차·복리후생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lang="ko-KR">
                <a:solidFill>
                  <a:srgbClr val="FFFFFF"/>
                </a:solidFill>
                <a:latin typeface="맑은 고딕"/>
                <a:ea typeface="맑은 고딕"/>
              </a:rPr>
              <a:t>관리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840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ko-KR">
                <a:solidFill>
                  <a:srgbClr val="B8CBE5"/>
                </a:solidFill>
                <a:latin typeface="맑은 고딕"/>
                <a:ea typeface="맑은 고딕"/>
              </a:rPr>
              <a:t>시스템 구성 · 데이터베이스 · 기능 흐름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4645152"/>
            <a:ext cx="10424160" cy="0"/>
          </a:xfrm>
          <a:prstGeom prst="line">
            <a:avLst/>
          </a:prstGeom>
          <a:ln w="8890">
            <a:solidFill>
              <a:srgbClr val="36527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500176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84DCEA"/>
                </a:solidFill>
                <a:latin typeface="맑은 고딕"/>
                <a:ea typeface="맑은 고딕"/>
              </a:rPr>
              <a:t>미완성본 · 2026-09-11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시스템 전체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브라우저 화면과 업무 서버를 하나의 애플리케이션 컨테이너로 배포합니다.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770632"/>
            <a:ext cx="2029968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172B49"/>
                </a:solidFill>
                <a:latin typeface="맑은 고딕"/>
                <a:ea typeface="맑은 고딕"/>
              </a:rPr>
              <a:t>브라우저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172B49"/>
                </a:solidFill>
                <a:latin typeface="맑은 고딕"/>
                <a:ea typeface="맑은 고딕"/>
              </a:rPr>
              <a:t>React 화면</a:t>
            </a:r>
          </a:p>
        </p:txBody>
      </p:sp>
      <p:sp>
        <p:nvSpPr>
          <p:cNvPr id="6" name="Rectangle 5"/>
          <p:cNvSpPr/>
          <p:nvPr/>
        </p:nvSpPr>
        <p:spPr>
          <a:xfrm>
            <a:off x="3694176" y="2487168"/>
            <a:ext cx="3749039" cy="1691640"/>
          </a:xfrm>
          <a:prstGeom prst="rect">
            <a:avLst/>
          </a:prstGeom>
          <a:solidFill>
            <a:srgbClr val="0D203D"/>
          </a:solidFill>
          <a:ln w="12700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FFFFFF"/>
                </a:solidFill>
                <a:latin typeface="맑은 고딕"/>
                <a:ea typeface="맑은 고딕"/>
              </a:rPr>
              <a:t>Spring Boot 서버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화면 파일 제공 + 업무 API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단일 앱 컨테이너 · 포트 8080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88336" y="3401568"/>
            <a:ext cx="1005840" cy="0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670048" y="2880360"/>
            <a:ext cx="10515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요청·응답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3736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OAuth2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회사 계정 로그인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8010144" y="2139696"/>
            <a:ext cx="0" cy="11887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10144" y="213969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705088" y="283464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MySQL 8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운영 데이터 저장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010144" y="3236976"/>
            <a:ext cx="0" cy="914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010144" y="323697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705088" y="393192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발송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010144" y="3328416"/>
            <a:ext cx="0" cy="10058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10144" y="433425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705088" y="502920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공공데이터포털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공휴일 정보 동기화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0144" y="3328416"/>
            <a:ext cx="0" cy="21031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10144" y="543153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694176" y="4919472"/>
            <a:ext cx="3749039" cy="813816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245BCE"/>
                </a:solidFill>
                <a:latin typeface="맑은 고딕"/>
                <a:ea typeface="맑은 고딕"/>
              </a:rPr>
              <a:t>내부 스케줄러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245BCE"/>
                </a:solidFill>
                <a:latin typeface="맑은 고딕"/>
                <a:ea typeface="맑은 고딕"/>
              </a:rPr>
              <a:t>매일 00:10 KST · 5개 작업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568696" y="4178808"/>
            <a:ext cx="0" cy="740664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테스트 데이터베이스는 H2를 사용합니다. SMTP는 Gmail 앱 비밀번호 방식의 계정을 연동합니다.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외부 연동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세 가지 외부 서비스에 의존하며, 어느 하나가 멈춰도 업무 처리는 계속됩니다.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270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429000"/>
                <a:gridCol w="3291840"/>
                <a:gridCol w="2103120"/>
              </a:tblGrid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외부 서비스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 · 호출 시점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실패하면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인증 정보 보관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공공데이터포털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특일정보 API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 목록 조회 (연 단위)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매년 1월 1일 00:05 자동 · 관리자 수동 동기화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캐시가 비어 있을 때 최초 1회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기존 공휴일 캐시 유지, 빈 결과로 계속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 신청은 막히지 않음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수동 동기화만 원인별 오류 표시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화면에서 암호화 저장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없으면 서버 환경변수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OAuth2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로그인 (프로필·이메일만 요청)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회사 도메인 계정만 허용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로그인 불가 · 안내 메시지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허용 도메인이 아니면 거부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환경변수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(클라이언트 ID · 시크릿)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Gmail SMTP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 발송 (587 · STARTTLS)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사건 즉시 + 15분마다 재시도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실패 이력 기록 · 총 3회 재시도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이후 관리자 수동 재발송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처리에는 영향 없음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화면에서 암호화 저장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없으면 서버 환경변수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자격 증명은 저장만 되고 화면에는 마스킹된 값만 보입니다. 공휴일은 요청마다 외부를 부르지 않고 DB 캐시를 씁니다.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내부의 업무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12개 업무 영역을 나누고, 요청 처리와 업무 규칙·데이터 저장의 역할을 분리했습니다.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요청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입력과 역할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1901952"/>
            <a:ext cx="2258568" cy="1033271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업무 규칙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잔액·승인자·상태 변경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9944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저장소 접근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조회와 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9281160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업무 데이터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상태와 이력 보관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26080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97296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668512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" y="3410712"/>
            <a:ext cx="10789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245BCE"/>
                </a:solidFill>
                <a:latin typeface="맑은 고딕"/>
                <a:ea typeface="맑은 고딕"/>
              </a:rPr>
              <a:t>12개 업무 영역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1792" y="3922776"/>
          <a:ext cx="1080820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2736"/>
                <a:gridCol w="3602736"/>
                <a:gridCol w="3602736"/>
              </a:tblGrid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사람과 조직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연차와 일정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운영 지원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인증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구성원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복리후생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부서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개인 일정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외부 연동 자격 증명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감사 기록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공통 상태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인증 정보는 JWT가 담긴 HttpOnly 쿠키로 전달하고, 서버는 최신 계정 상태를 다시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화면과 데이터의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17개 화면이 서버 데이터를 공통 방식으로 요청하고 갱신합니다.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API 연결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Axios로 요청·응답 처리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4599432" y="1947672"/>
            <a:ext cx="2999232" cy="1060704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245BCE"/>
                </a:solidFill>
                <a:latin typeface="맑은 고딕"/>
                <a:ea typeface="맑은 고딕"/>
              </a:rPr>
              <a:t>데이터 조회·캐시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React Query로 공통 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513064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업무 화면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페이지가 데이터를 표시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85032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8664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4088" y="3611880"/>
            <a:ext cx="52578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공통 화면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대시보드 · 캘린더 · 내역 · 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내 정보 · 결재 관리 · 팀 현황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· 로그인 연결 · 온보딩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361188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관리자 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구성원 · 부서 · 연차 정책 · 복리후생 정책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처리 이력 · 이메일 · 외부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권한에 맞춰 화면을 열고, 오류 알림을 공통 처리합니다. 디자인 값은 Tailwind v4의 CSS에서 관리합니다.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데이터베이스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사원(users)을 중심으로 21개 테이블이 7개 영역으로 나뉩니다.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691640"/>
            <a:ext cx="32918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조직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department 부서 (parent_id 계층 · leader_id 팀장)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employment_periods 과거 근속 구간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691640"/>
            <a:ext cx="3474720" cy="123444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245BCE"/>
                </a:solidFill>
                <a:latin typeface="맑은 고딕"/>
                <a:ea typeface="맑은 고딕"/>
              </a:rPr>
              <a:t>연차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leave_requests 신청 · leave_dates 날짜별 행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leave_action_history 처리 이력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leave_reset_history 기산일 스냅샷</a:t>
            </a:r>
          </a:p>
        </p:txBody>
      </p:sp>
      <p:sp>
        <p:nvSpPr>
          <p:cNvPr id="7" name="Rectangle 6"/>
          <p:cNvSpPr/>
          <p:nvPr/>
        </p:nvSpPr>
        <p:spPr>
          <a:xfrm>
            <a:off x="8183879" y="1691640"/>
            <a:ext cx="33649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복리후생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welfare_policies 정책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welfare_requests 신청 (policy_id)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welfare_action_history 처리 이력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3127248"/>
            <a:ext cx="32918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일정 · 공휴일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schedule_entries 개인 일정 · schedule_dates 날짜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holidays 공휴일 캐시 (독립)</a:t>
            </a:r>
          </a:p>
        </p:txBody>
      </p:sp>
      <p:sp>
        <p:nvSpPr>
          <p:cNvPr id="9" name="Rectangle 8"/>
          <p:cNvSpPr/>
          <p:nvPr/>
        </p:nvSpPr>
        <p:spPr>
          <a:xfrm>
            <a:off x="4983480" y="3200400"/>
            <a:ext cx="2240280" cy="960120"/>
          </a:xfrm>
          <a:prstGeom prst="rect">
            <a:avLst/>
          </a:prstGeom>
          <a:solidFill>
            <a:srgbClr val="0D203D"/>
          </a:solidFill>
          <a:ln w="12700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FFFFFF"/>
                </a:solidFill>
                <a:latin typeface="맑은 고딕"/>
                <a:ea typeface="맑은 고딕"/>
              </a:rPr>
              <a:t>users 사원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FFFFFF"/>
                </a:solidFill>
                <a:latin typeface="맑은 고딕"/>
                <a:ea typeface="맑은 고딕"/>
              </a:rPr>
              <a:t>잔액 3필드 · 기산일 · 역할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FFFFFF"/>
                </a:solidFill>
                <a:latin typeface="맑은 고딕"/>
                <a:ea typeface="맑은 고딕"/>
              </a:rPr>
              <a:t>온보딩 · 퇴직/파기 상태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3127248"/>
            <a:ext cx="336499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이메일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email_history 발송 큐·이력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leave_reminder_dispatch 소진 안내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email_templates 양식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4434840"/>
            <a:ext cx="3291840" cy="123444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8C610D"/>
                </a:solidFill>
                <a:latin typeface="맑은 고딕"/>
                <a:ea typeface="맑은 고딕"/>
              </a:rPr>
              <a:t>정책 · 자격 증명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8C610D"/>
                </a:solidFill>
                <a:latin typeface="맑은 고딕"/>
                <a:ea typeface="맑은 고딕"/>
              </a:rPr>
              <a:t>leave_policy 근속별 부여 · leave_policy_config 설정 12키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8C610D"/>
                </a:solidFill>
                <a:latin typeface="맑은 고딕"/>
                <a:ea typeface="맑은 고딕"/>
              </a:rPr>
              <a:t>mail_credentials · holiday_api_credentials (암호화 저장)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4434840"/>
            <a:ext cx="3474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감사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admin_audit_log 관리자 조작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actor_id 누가 · target_user_id 누구에게 · action 13종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452628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화살표는 users를 참조하는 외래 키입니다.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정책·자격 증명은 사원과 무관한 설정입니다.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파기 시 행을 지우지 않고 값만 익명화합니다.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6103620" y="2926080"/>
            <a:ext cx="0" cy="27432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03620" y="4160520"/>
            <a:ext cx="0" cy="27432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913632" y="3675887"/>
            <a:ext cx="10698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23760" y="3675887"/>
            <a:ext cx="960119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133087" y="3401568"/>
            <a:ext cx="850393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133087" y="2743200"/>
            <a:ext cx="0" cy="658368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3913632" y="2743200"/>
            <a:ext cx="219455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3401568"/>
            <a:ext cx="74980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973568" y="2743200"/>
            <a:ext cx="0" cy="658368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973568" y="2743200"/>
            <a:ext cx="210311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17920" y="2935224"/>
            <a:ext cx="17373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245BCE"/>
                </a:solidFill>
                <a:latin typeface="맑은 고딕"/>
                <a:ea typeface="맑은 고딕"/>
              </a:rPr>
              <a:t>user_id · 승인자 2명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187952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actor_id · target_user_id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3419856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user_id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419856"/>
            <a:ext cx="8229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user_id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연차 일수는 소수 첫째 자리까지 저장합니다. 상태 값은 DB ENUM으로 제한해 잘못된 값이 들어가지 않습니다.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핵심 테이블의 주요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자주 보게 될 여섯 테이블입니다. 컬럼 이름은 실제 스키마 그대로입니다.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270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2057400"/>
                <a:gridCol w="7086600"/>
              </a:tblGrid>
              <a:tr h="4572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테이블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담나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컬럼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572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users (사원)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계정·역할·소속과 연차 잔액, 퇴직·파기 상태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base_days · bonus_days · use_days (잔액) · advance_days (파생) · hire_date · last_reset_date (기산일) · role · onboarding_status · is_active · retired_at · purged_at · purge_hold_reason · version (낙관적 락)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572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leave_requests + leave_dates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 신청 1건과 날짜별 행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status (PENDING · APPROVED · REJECTED · CANCELLED · CANCEL_PENDING) · leave_type (종일·오전·오후) · days · primary_approver_id · sub_approver_id · request_reason · cancel_reason · advance_used_days · leave_dates.day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572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welfare_requests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복리후생 신청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policy_id · category · target · add_days (승인 시 bonus_days에 가산) · status · 승인자 2명 · reason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572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department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부서 계층과 팀장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name · parent_id (상위 부서) · leader_id (팀장) · system_default (미배정 부서) · active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572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email_history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발송 큐이자 이력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email_type · status (PENDING · SENDING · SENT · FAILED) · retry_count · sending_at · sent_at · error_message · title · content (보낸 HTML 원문)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572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admin_audit_log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조작 기록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actor_id 누가 · action 13종 · target_user_id · target_label 누구에게 · before_value · after_value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신청과 결재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현재 회차의 연차는 신청 즉시 차감됩니다. 승인 시 추가 차감은 없습니다.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2103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날짜 선택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종일·오전·오후반차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1847088"/>
            <a:ext cx="2057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기본·서브 승인자</a:t>
            </a:r>
          </a:p>
        </p:txBody>
      </p:sp>
      <p:sp>
        <p:nvSpPr>
          <p:cNvPr id="7" name="Diamond 6"/>
          <p:cNvSpPr/>
          <p:nvPr/>
        </p:nvSpPr>
        <p:spPr>
          <a:xfrm>
            <a:off x="5577840" y="1682496"/>
            <a:ext cx="1645920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신청 가능?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810512"/>
            <a:ext cx="3840480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대기 상태 · 현재 회차 선차감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메일: 신청자 + 기본·서브 승인자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2240280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212080" y="2240280"/>
            <a:ext cx="36576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23760" y="2240280"/>
            <a:ext cx="41148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05472" y="1856231"/>
            <a:ext cx="42976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0" y="2798064"/>
            <a:ext cx="0" cy="52120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276088" y="3319272"/>
            <a:ext cx="2240280" cy="658368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사유 안내 후 수정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889504"/>
            <a:ext cx="65836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944368"/>
            <a:ext cx="4224528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확인 항목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주말·공휴일·지난 날짜·중복·잔여일수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55480" y="2679192"/>
            <a:ext cx="0" cy="1636776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01200" y="3255264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승인자 중 한 명이 결재</a:t>
            </a:r>
          </a:p>
        </p:txBody>
      </p:sp>
      <p:sp>
        <p:nvSpPr>
          <p:cNvPr id="19" name="Diamond 18"/>
          <p:cNvSpPr/>
          <p:nvPr/>
        </p:nvSpPr>
        <p:spPr>
          <a:xfrm>
            <a:off x="8686800" y="4315968"/>
            <a:ext cx="1737360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4453128"/>
            <a:ext cx="3054096" cy="83210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잔액 유지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53128"/>
            <a:ext cx="3017520" cy="83210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잔액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A13B4A"/>
                </a:solidFill>
                <a:latin typeface="맑은 고딕"/>
                <a:ea typeface="맑은 고딕"/>
              </a:rPr>
              <a:t>반려 사유 입력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671816" y="4873752"/>
            <a:ext cx="101498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44968" y="4517136"/>
            <a:ext cx="80467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55480" y="5431536"/>
            <a:ext cx="0" cy="192024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194560" y="5623560"/>
            <a:ext cx="7360920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194560" y="5285232"/>
            <a:ext cx="0" cy="33832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69280" y="563270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결재 결과 메일: 신청자 + 기본·서브 승인자 + 재직 총관리자 전원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취소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승인 여부와 사용 날짜에 따라 즉시 취소 또는 취소 결재로 나뉩니다.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57400"/>
            <a:ext cx="1874519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취소 요청</a:t>
            </a:r>
          </a:p>
        </p:txBody>
      </p:sp>
      <p:sp>
        <p:nvSpPr>
          <p:cNvPr id="6" name="Diamond 5"/>
          <p:cNvSpPr/>
          <p:nvPr/>
        </p:nvSpPr>
        <p:spPr>
          <a:xfrm>
            <a:off x="2999232" y="1783080"/>
            <a:ext cx="1938528" cy="1335024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승인된 건에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지난 날짜 포함?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975104"/>
            <a:ext cx="2743200" cy="932688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취소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176B50"/>
                </a:solidFill>
                <a:latin typeface="맑은 고딕"/>
                <a:ea typeface="맑은 고딕"/>
              </a:rPr>
              <a:t>현재 회차 차감분 복구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4232" y="1947672"/>
            <a:ext cx="2807208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신청자 + 승인자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32888" y="2450592"/>
            <a:ext cx="4663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937760" y="2450592"/>
            <a:ext cx="64008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37760" y="203911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35224" y="3749039"/>
            <a:ext cx="2103120" cy="804672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취소 결재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8C610D"/>
                </a:solidFill>
                <a:latin typeface="맑은 고딕"/>
                <a:ea typeface="맑은 고딕"/>
              </a:rPr>
              <a:t>이때는 잔액 유지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968496" y="3118104"/>
            <a:ext cx="0" cy="630935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6512" y="324612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5" name="Diamond 14"/>
          <p:cNvSpPr/>
          <p:nvPr/>
        </p:nvSpPr>
        <p:spPr>
          <a:xfrm>
            <a:off x="5605272" y="3474720"/>
            <a:ext cx="1737360" cy="132588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8C610D"/>
                </a:solidFill>
                <a:latin typeface="맑은 고딕"/>
                <a:ea typeface="맑은 고딕"/>
              </a:rPr>
              <a:t>취소 승인?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38344" y="4151376"/>
            <a:ext cx="56692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257031" y="3456432"/>
            <a:ext cx="3236976" cy="78638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취소 완료 · 잔액 복구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57031" y="4727448"/>
            <a:ext cx="3236976" cy="78638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승인 상태 유지 · 복구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42631" y="4142232"/>
            <a:ext cx="475489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818120" y="3849624"/>
            <a:ext cx="0" cy="292608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18120" y="3849624"/>
            <a:ext cx="438911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06640" y="3483864"/>
            <a:ext cx="7315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73952" y="4800600"/>
            <a:ext cx="0" cy="32004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473952" y="5120640"/>
            <a:ext cx="1783079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123176" y="4736592"/>
            <a:ext cx="9601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거부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4892040"/>
            <a:ext cx="4599432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53657D"/>
                </a:solidFill>
                <a:latin typeface="맑은 고딕"/>
                <a:ea typeface="맑은 고딕"/>
              </a:rPr>
              <a:t>취소 요청 메일: 신청자 + 승인자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53657D"/>
                </a:solidFill>
                <a:latin typeface="맑은 고딕"/>
                <a:ea typeface="맑은 고딕"/>
              </a:rPr>
              <a:t>취소 결재 결과: 위 수신자 + 총관리자 전원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승인 전 신청, 승인 후 오늘·미래 날짜만 있는 신청은 즉시 취소할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잔액이 계산되는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기산일은 연차가 새로 부여되는 기준일입니다. 신청 날짜별로 어느 회차인지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013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ko-KR">
                <a:solidFill>
                  <a:srgbClr val="245BCE"/>
                </a:solidFill>
                <a:latin typeface="맑은 고딕"/>
                <a:ea typeface="맑은 고딕"/>
              </a:rPr>
              <a:t>잔여 연차 = 부여된 연차 + 보너스 연차 − 사용·대기 연차</a:t>
            </a:r>
          </a:p>
        </p:txBody>
      </p:sp>
      <p:sp>
        <p:nvSpPr>
          <p:cNvPr id="6" name="Diamond 5"/>
          <p:cNvSpPr/>
          <p:nvPr/>
        </p:nvSpPr>
        <p:spPr>
          <a:xfrm>
            <a:off x="685800" y="3026664"/>
            <a:ext cx="1938528" cy="139903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신청 날짜가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현재 회차인가?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2706624"/>
            <a:ext cx="2267712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245BCE"/>
                </a:solidFill>
                <a:latin typeface="맑은 고딕"/>
                <a:ea typeface="맑은 고딕"/>
              </a:rPr>
              <a:t>현재 회차 잔액 확인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기산일 ~ 다음 기산일 전날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4608576"/>
            <a:ext cx="2267712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다음 회차 예약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허용·한도 내일 때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현재 잔액은 유지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24328" y="3726180"/>
            <a:ext cx="246888" cy="0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871216" y="3140964"/>
            <a:ext cx="0" cy="585216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871216" y="3140964"/>
            <a:ext cx="256032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42032" y="2779776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4425696"/>
            <a:ext cx="0" cy="694944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55064" y="5120640"/>
            <a:ext cx="147218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37360" y="4654296"/>
            <a:ext cx="135331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회차</a:t>
            </a:r>
          </a:p>
        </p:txBody>
      </p:sp>
      <p:sp>
        <p:nvSpPr>
          <p:cNvPr id="16" name="Diamond 15"/>
          <p:cNvSpPr/>
          <p:nvPr/>
        </p:nvSpPr>
        <p:spPr>
          <a:xfrm>
            <a:off x="5852160" y="2615184"/>
            <a:ext cx="1691640" cy="10515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잔여 충분?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94960" y="3140964"/>
            <a:ext cx="45720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092440" y="2724912"/>
            <a:ext cx="3383280" cy="82296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접수 · 현재 회차 선차감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43800" y="3140964"/>
            <a:ext cx="54864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552944" y="2752344"/>
            <a:ext cx="53035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21" name="Diamond 20"/>
          <p:cNvSpPr/>
          <p:nvPr/>
        </p:nvSpPr>
        <p:spPr>
          <a:xfrm>
            <a:off x="5788152" y="4069080"/>
            <a:ext cx="1828800" cy="117043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당겨쓰기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허용·상한 내?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97980" y="3666744"/>
            <a:ext cx="0" cy="402336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784848" y="3712463"/>
            <a:ext cx="8686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4178808"/>
            <a:ext cx="3383280" cy="941832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부족분 기록 후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다음 기산일의 새 연차에서 상환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2" y="4654296"/>
            <a:ext cx="475488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589520" y="4279392"/>
            <a:ext cx="493776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79008" y="5532120"/>
            <a:ext cx="1847088" cy="484632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신청 제한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02552" y="5239512"/>
            <a:ext cx="0" cy="29260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526694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6108192"/>
            <a:ext cx="1083564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1회차까지만 예약하며, 예약 한도에는 당겨쓰기를 적용하지 않습니다.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첫 로그인과 입사 정보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온보딩이 완료되어야 다른 업무 화면을 사용할 수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56231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로그인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회사 도메인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1856231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ko-KR">
                <a:solidFill>
                  <a:srgbClr val="172B49"/>
                </a:solidFill>
                <a:latin typeface="맑은 고딕"/>
                <a:ea typeface="맑은 고딕"/>
              </a:rPr>
              <a:t>자동 가입·입력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생일·입사일·직급</a:t>
            </a:r>
          </a:p>
        </p:txBody>
      </p:sp>
      <p:sp>
        <p:nvSpPr>
          <p:cNvPr id="7" name="Diamond 6"/>
          <p:cNvSpPr/>
          <p:nvPr/>
        </p:nvSpPr>
        <p:spPr>
          <a:xfrm>
            <a:off x="5303520" y="1700784"/>
            <a:ext cx="1865376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최근 90일 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입사일인가?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847088"/>
            <a:ext cx="3776472" cy="8138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완료 · 연차 산정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60320" y="2249424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92040" y="2249424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68896" y="2258568"/>
            <a:ext cx="51206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87184" y="1865376"/>
            <a:ext cx="48463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3752" y="3383280"/>
            <a:ext cx="2706624" cy="841248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승인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8C610D"/>
                </a:solidFill>
                <a:latin typeface="맑은 고딕"/>
                <a:ea typeface="맑은 고딕"/>
              </a:rPr>
              <a:t>연차 0일 · 총관리자에게 메일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36208" y="2816352"/>
            <a:ext cx="0" cy="566928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55080" y="2926080"/>
            <a:ext cx="950976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Diamond 15"/>
          <p:cNvSpPr/>
          <p:nvPr/>
        </p:nvSpPr>
        <p:spPr>
          <a:xfrm>
            <a:off x="8330183" y="3172968"/>
            <a:ext cx="1737360" cy="126187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결재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80375" y="3803904"/>
            <a:ext cx="74980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729984" y="4974336"/>
            <a:ext cx="2633472" cy="83210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연차 산정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본인에게 결과 메일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29216" y="4974336"/>
            <a:ext cx="1828800" cy="83210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재입력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A13B4A"/>
                </a:solidFill>
                <a:latin typeface="맑은 고딕"/>
                <a:ea typeface="맑은 고딕"/>
              </a:rPr>
              <a:t>본인에게 메일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78240" y="4123944"/>
            <a:ext cx="0" cy="475488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046720" y="4599432"/>
            <a:ext cx="731520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46720" y="4599432"/>
            <a:ext cx="0" cy="37490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06640" y="4297680"/>
            <a:ext cx="10972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067544" y="3803904"/>
            <a:ext cx="576072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643616" y="3803904"/>
            <a:ext cx="0" cy="1170432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671048" y="427939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" y="3337560"/>
            <a:ext cx="3721608" cy="2331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자동 승인 기간은 관리자 설정으로 조정합니다.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수정 허용 시, 대기 중 입사일·생일을 1회 수정할 수 있습니다. 수정 후 다시 판정하며 총관리자에게 알립니다.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미래 입사일은 입력할 수 없습니다. 반려 메일에는 반려된 입사일을 함께 안내합니다.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복리후생 신청과 보너스 연차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정책에 따른 신청이 승인되면 보너스 연차가 쌓입니다.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2267712"/>
            <a:ext cx="2084831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2B49"/>
                </a:solidFill>
                <a:latin typeface="맑은 고딕"/>
                <a:ea typeface="맑은 고딕"/>
              </a:rPr>
              <a:t>정책 선택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경조·포상 등</a:t>
            </a:r>
          </a:p>
        </p:txBody>
      </p:sp>
      <p:sp>
        <p:nvSpPr>
          <p:cNvPr id="6" name="Rectangle 5"/>
          <p:cNvSpPr/>
          <p:nvPr/>
        </p:nvSpPr>
        <p:spPr>
          <a:xfrm>
            <a:off x="3328416" y="2267712"/>
            <a:ext cx="231343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사유 입력·신청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</a:t>
            </a:r>
          </a:p>
        </p:txBody>
      </p:sp>
      <p:sp>
        <p:nvSpPr>
          <p:cNvPr id="7" name="Diamond 6"/>
          <p:cNvSpPr/>
          <p:nvPr/>
        </p:nvSpPr>
        <p:spPr>
          <a:xfrm>
            <a:off x="6254496" y="2039112"/>
            <a:ext cx="1892807" cy="141732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0" y="1837943"/>
            <a:ext cx="2633472" cy="100584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보너스 가산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0" y="3767328"/>
            <a:ext cx="2633472" cy="1005840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가산 없음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79776" y="2743200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641848" y="2743200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47304" y="2743200"/>
            <a:ext cx="356616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503920" y="2340864"/>
            <a:ext cx="0" cy="402336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03920" y="2340864"/>
            <a:ext cx="36576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165592" y="194767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00900" y="3456432"/>
            <a:ext cx="0" cy="813816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00900" y="4270248"/>
            <a:ext cx="1668780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909560" y="3867912"/>
            <a:ext cx="7772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023360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신청 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신청자 + 기본·서브 승인자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결재 결과 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위 수신자 + 재직 총관리자 전원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관리자는 복리후생 정책과 정책별 가산 일수를 화면에서 관리합니다.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매일 00:10 자동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한국 시간 기준으로 다섯 작업을 정해진 순서대로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67712"/>
            <a:ext cx="1874519" cy="173736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245BCE"/>
                </a:solidFill>
                <a:latin typeface="맑은 고딕"/>
                <a:ea typeface="맑은 고딕"/>
              </a:rPr>
              <a:t>① 기산일 리셋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근속별 새 연차 부여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당겨쓴 일수 상환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98648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② 월차 적립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1년 미만 매월 1일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입사일 + N개월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73168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57216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③ 생일 반차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보너스 0.5일 가산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본인·총관리자 메일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031736" y="3136392"/>
            <a:ext cx="384047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415783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④ 소진 안내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잔여 있는 사원에게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설정 주기별 메일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290304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674352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⑤ 퇴직자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자동 모드만 실행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보존·예고 확인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4608576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4944" y="4901184"/>
            <a:ext cx="504748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순서를 고정하는 이유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잔액을 갱신한 뒤 생일 반차와 안내를 처리합니다.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4901184"/>
            <a:ext cx="518464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사원 1명씩 독립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한 사원의 오류가 다른 사원에게 번지지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소진 안내는 같은 주기 중복 발송을 막습니다. 자동 파기 30일 예고·결과 메일은 총관리자에게 보냅니다.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이메일이 나가는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업무 결과를 먼저 기록한 뒤 발송하며, 실패 이력은 자동 재시도와 수동 재발송에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56816"/>
            <a:ext cx="200253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업무 사건 발생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신청·결재·입사·생일 등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1956816"/>
            <a:ext cx="210312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발송 대기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업무 저장과 함께 적재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9864" y="1956816"/>
            <a:ext cx="216712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발송 중 선점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중복 발송 방지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0" y="1956816"/>
            <a:ext cx="30906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발송 계정 선택 → 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화면 저장 계정 우선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88336" y="2414016"/>
            <a:ext cx="4663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257800" y="2414016"/>
            <a:ext cx="51206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36992" y="2414016"/>
            <a:ext cx="47548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779008" y="3145536"/>
            <a:ext cx="2148840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저장 계정이 없으면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서버 환경 설정 사용</a:t>
            </a:r>
          </a:p>
        </p:txBody>
      </p:sp>
      <p:sp>
        <p:nvSpPr>
          <p:cNvPr id="13" name="Diamond 12"/>
          <p:cNvSpPr/>
          <p:nvPr/>
        </p:nvSpPr>
        <p:spPr>
          <a:xfrm>
            <a:off x="9070848" y="3438144"/>
            <a:ext cx="1792224" cy="118872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8C610D"/>
                </a:solidFill>
                <a:latin typeface="맑은 고딕"/>
                <a:ea typeface="맑은 고딕"/>
              </a:rPr>
              <a:t>발송 성공?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66960" y="2871216"/>
            <a:ext cx="0" cy="566928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119872" y="5138928"/>
            <a:ext cx="3383280" cy="5852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발송 완료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66960" y="4626864"/>
            <a:ext cx="0" cy="51206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076688" y="4718304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12080" y="3858768"/>
            <a:ext cx="2999232" cy="768096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실패 이력 · 자동 재시도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8641080" y="4032504"/>
            <a:ext cx="429768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41080" y="4032504"/>
            <a:ext cx="0" cy="210312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211312" y="4242816"/>
            <a:ext cx="429768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47888" y="3483864"/>
            <a:ext cx="8229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794760"/>
            <a:ext cx="3931920" cy="18745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관리자가 할 수 있는 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제목·본문·변수 편집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대상 선택·일괄 발송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이력 조회·실패 건 수동 재발송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919472"/>
            <a:ext cx="2633472" cy="8595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15분마다 재시도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최초 포함 총 3회 실패 시 중단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메일 발송 경로는 구현되어 있으며, 실제 환경 설정을 마친 뒤 최종 수신 확인이 필요합니다.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이후의 개인정보와 재입사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퇴직 처리 후 복구·재입사·개인정보 파기를 구분해 관리합니다.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93976"/>
            <a:ext cx="2039112" cy="932688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245BCE"/>
                </a:solidFill>
                <a:latin typeface="맑은 고딕"/>
                <a:ea typeface="맑은 고딕"/>
              </a:rPr>
              <a:t>퇴직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즉시 로그인 차단</a:t>
            </a:r>
          </a:p>
        </p:txBody>
      </p:sp>
      <p:sp>
        <p:nvSpPr>
          <p:cNvPr id="6" name="Rectangle 5"/>
          <p:cNvSpPr/>
          <p:nvPr/>
        </p:nvSpPr>
        <p:spPr>
          <a:xfrm>
            <a:off x="3447288" y="1783080"/>
            <a:ext cx="309981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처리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잘못된 퇴직 처리 되돌리기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3447288" y="3154680"/>
            <a:ext cx="3099816" cy="96012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파기 전 재입사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6B50"/>
                </a:solidFill>
                <a:latin typeface="맑은 고딕"/>
                <a:ea typeface="맑은 고딕"/>
              </a:rPr>
              <a:t>이전 근속 보존 · 새 입사일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3447288" y="4782312"/>
            <a:ext cx="3099816" cy="91440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보존 기간 후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수동 또는 자동 · 보류 가능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97480" y="2560320"/>
            <a:ext cx="393192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090672" y="2194560"/>
            <a:ext cx="0" cy="36576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90672" y="2194560"/>
            <a:ext cx="356616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90672" y="2560320"/>
            <a:ext cx="0" cy="1078992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90672" y="3639312"/>
            <a:ext cx="356616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90672" y="3639312"/>
            <a:ext cx="0" cy="1600200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90672" y="5239512"/>
            <a:ext cx="356616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59752" y="1810512"/>
            <a:ext cx="4334256" cy="8321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가능 상태로 복구합니다.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팀장직·이관된 결재는 자동 복구하지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3127248"/>
            <a:ext cx="4334256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연차는 0일에서 새로 시작합니다.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과거 근속 구간은 별도로 남깁니다.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파기된 계정은 신규 가입이 필요합니다.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4572000"/>
            <a:ext cx="4379976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기본 보존 3년 · 자동 파기는 30일 예고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계정을 익명화하고 신청·메일 본문을 지웁니다.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 처리 기록은 보존합니다.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본인 계정의 퇴직 처리는 막습니다. 파기된 개인정보는 퇴직 복구나 재입사로 되살릴 수 없습니다.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권한과 접근 제어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사원·팀장·총관리자의 권한을 서버가 요청마다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2002536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화면에서 요청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172B49"/>
                </a:solidFill>
                <a:latin typeface="맑은 고딕"/>
                <a:ea typeface="맑은 고딕"/>
              </a:rPr>
              <a:t>로그인 쿠키 전달</a:t>
            </a:r>
          </a:p>
        </p:txBody>
      </p:sp>
      <p:sp>
        <p:nvSpPr>
          <p:cNvPr id="6" name="Rectangle 5"/>
          <p:cNvSpPr/>
          <p:nvPr/>
        </p:nvSpPr>
        <p:spPr>
          <a:xfrm>
            <a:off x="3136392" y="2002536"/>
            <a:ext cx="288036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서버가 최신 정보 확인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재직 · 역할 · 온보딩 상태</a:t>
            </a:r>
          </a:p>
        </p:txBody>
      </p:sp>
      <p:sp>
        <p:nvSpPr>
          <p:cNvPr id="7" name="Diamond 6"/>
          <p:cNvSpPr/>
          <p:nvPr/>
        </p:nvSpPr>
        <p:spPr>
          <a:xfrm>
            <a:off x="6592824" y="1828800"/>
            <a:ext cx="1901952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8C610D"/>
                </a:solidFill>
                <a:latin typeface="맑은 고딕"/>
                <a:ea typeface="맑은 고딕"/>
              </a:rPr>
              <a:t>접근 가능?</a:t>
            </a:r>
          </a:p>
        </p:txBody>
      </p:sp>
      <p:sp>
        <p:nvSpPr>
          <p:cNvPr id="8" name="Rectangle 7"/>
          <p:cNvSpPr/>
          <p:nvPr/>
        </p:nvSpPr>
        <p:spPr>
          <a:xfrm>
            <a:off x="9198864" y="1773936"/>
            <a:ext cx="2295144" cy="8138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6B50"/>
                </a:solidFill>
                <a:latin typeface="맑은 고딕"/>
                <a:ea typeface="맑은 고딕"/>
              </a:rPr>
              <a:t>업무 처리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9198864" y="3593592"/>
            <a:ext cx="2295144" cy="813816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A13B4A"/>
                </a:solidFill>
                <a:latin typeface="맑은 고딕"/>
                <a:ea typeface="맑은 고딕"/>
              </a:rPr>
              <a:t>접근 차단·안내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87752" y="2468880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16752" y="2468880"/>
            <a:ext cx="576072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494776" y="2468880"/>
            <a:ext cx="329184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823960" y="2185416"/>
            <a:ext cx="0" cy="283464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23960" y="2185416"/>
            <a:ext cx="37490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558784" y="1801368"/>
            <a:ext cx="5943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543800" y="3108960"/>
            <a:ext cx="0" cy="886968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3995928"/>
            <a:ext cx="1655064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54112" y="3584448"/>
            <a:ext cx="98755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4837176"/>
            <a:ext cx="10753344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093208"/>
            <a:ext cx="4974336" cy="9052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결재 권한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본인 결재는 제한하되 총관리자는 예외입니다.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5093208"/>
            <a:ext cx="5102352" cy="9052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계정 보호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본인 퇴직 처리 금지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마지막 총관리자의 강등·퇴직 금지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역할 변경은 다음 요청부터 반영하며, 결재는 배정된 기본·서브 승인자만 처리합니다.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백엔드 기술과 라이브러리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Java 21 · Spring Boot 4.1.0 · Gradle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3622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328"/>
                <a:gridCol w="6025896"/>
              </a:tblGrid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쓰는 이유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spring-boot-starter-webmvc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브라우저가 호출하는 업무 REST API를 제공한다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spring-boot-starter-data-jpa + Hibernate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객체를 MySQL 데이터와 연결한다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spring-boot-starter-security + oauth2-client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로그인과 역할별 접근을 제어한다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jjwt 0.12.6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JWT 로그인 토큰을 발급하고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spring-boot-starter-mail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SMTP 계정으로 이메일을 발송한다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spring-boot-starter-validation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요청 값과 입력 형식을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Lombok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반복되는 자바 기본 코드를 줄인다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mysql-connector-j / H2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운영 MySQL 연결 / 테스트용 데이터베이스를 제공한다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JUnit 5 + Mockito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계산·예외·권한 동작을 자동 검증한다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백엔드 500건 · 2026-09-08 실행 기준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프론트엔드 기술과 라이브러리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React 19.2 · Vite 8 ·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3622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328"/>
                <a:gridCol w="6025896"/>
              </a:tblGrid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쓰는 이유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 19.2 / react-dom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화면과 입력 상태를 구성한다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react-router-dom 7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화면을 이동하고 권한에 맞춰 접근을 제한한다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@tanstack/react-query 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데이터 조회·캐시·갱신을 공통 관리한다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Axios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HTTP 요청과 로그인 만료·오류 응답을 처리한다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Tailwind CSS 4 / @tailwindcss/vite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CSS의 공통 디자인 값으로 스타일을 적용한다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Day.js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날짜와 회차를 계산하고 표시한다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lucide-react / react-hot-toast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아이콘과 처리 결과 알림을 표시한다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Vitest / Testing Library / jsdom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화면과 사용자 조작을 자동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Oxlint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코드의 기본 오류와 규칙 위반을 검사한다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프론트엔드 332건 · 2026-09-08 실행 기준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현재 구현 규모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코드와 설계 파일을 다시 확인한 2026-09-11 기준입니다.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업무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75304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5304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DB 테이블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7736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7736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설정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675887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04088" y="4114800"/>
            <a:ext cx="2880360" cy="7589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lang="ko-KR">
                <a:solidFill>
                  <a:srgbClr val="172B49"/>
                </a:solidFill>
                <a:latin typeface="맑은 고딕"/>
                <a:ea typeface="맑은 고딕"/>
              </a:rPr>
              <a:t>832건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1063" y="4169663"/>
            <a:ext cx="7543800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자동 테스트 기록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백엔드 500 + 프론트엔드 332 · 2026-09-08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인프라: Docker 단계별 빌드로 화면·서버를 통합하며, Docker Compose로 앱과 MySQL 8을 구성합니다.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구현된 범위와 남은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소개한 기능은 코드와 테스트가 있으며, 실제 운영 환경에서의 확인이 남아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2024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ko-KR">
                <a:solidFill>
                  <a:srgbClr val="245BCE"/>
                </a:solidFill>
                <a:latin typeface="맑은 고딕"/>
                <a:ea typeface="맑은 고딕"/>
              </a:rPr>
              <a:t>구현된 업무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688336"/>
            <a:ext cx="4928616" cy="2450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연차·복리후생 신청과 결재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일정·조직·정책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매일 새벽 5개 자동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양식·발송·이력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퇴직자 파기와 재입사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3952" y="1920240"/>
            <a:ext cx="5020056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ko-KR">
                <a:solidFill>
                  <a:srgbClr val="8C610D"/>
                </a:solidFill>
                <a:latin typeface="맑은 고딕"/>
                <a:ea typeface="맑은 고딕"/>
              </a:rPr>
              <a:t>운영 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3952" y="2688336"/>
            <a:ext cx="4965192" cy="2542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회사 Google 계정으로 로그인해 실제 사원 데이터로 확인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실제 메일 수신과 외부 연동(SMTP · 공휴일 API) 확인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운영 DB 스키마 반영과 배포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MLsoft 사내 연차·복리후생 관리 시스템</dc:title>
  <dc:subject>미완성본 · 2026-09-11 기준</dc:subject>
  <dc:creator>MLsoft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ko-KR</dc:language>
</cp:coreProperties>
</file>