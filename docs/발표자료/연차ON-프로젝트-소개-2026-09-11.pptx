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 확인 근거(2026-09-11):</a:t>
            </a:r>
          </a:p>
          <a:p>
            <a:r>
              <a:t>docs/발표자료/브리프-소개-ppt-2026-09-11.md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 확인 근거(2026-09-11):</a:t>
            </a:r>
          </a:p>
          <a:p>
            <a:r>
              <a:t>docs/11-프로젝트-흐름.md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 확인 근거(2026-09-11):</a:t>
            </a:r>
          </a:p>
          <a:p>
            <a:r>
              <a:t>브리프 §0·§3 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 확인 근거(2026-09-11):</a:t>
            </a:r>
          </a:p>
          <a:p>
            <a:r>
              <a:t>docs/11-프로젝트-흐름.md</a:t>
            </a:r>
          </a:p>
          <a:p>
            <a:r>
              <a:t>frontend/src/pages/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 확인 근거(2026-09-11):</a:t>
            </a:r>
          </a:p>
          <a:p>
            <a:r>
              <a:t>docs/12-남은-작업.md, 현재 상태 스냅샷</a:t>
            </a:r>
          </a:p>
          <a:p>
            <a:r>
              <a:t>backend/src/main/java/com/mlsoft/backend/domain/email/service/EmailNotificationPublisher.java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 확인 근거(2026-09-11):</a:t>
            </a:r>
          </a:p>
          <a:p>
            <a:r>
              <a:t>backend/src/main/java/com/mlsoft/backend/domain/leave/service/LeaveService.java</a:t>
            </a:r>
          </a:p>
          <a:p>
            <a:r>
              <a:t>backend/src/main/java/com/mlsoft/backend/domain/email/service/EmailNotificationPublisher.java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 확인 근거(2026-09-11):</a:t>
            </a:r>
          </a:p>
          <a:p>
            <a:r>
              <a:t>backend/src/main/java/com/mlsoft/backend/domain/leave/service/LeaveService.java:413~479</a:t>
            </a:r>
          </a:p>
          <a:p>
            <a:r>
              <a:t>backend/src/main/java/com/mlsoft/backend/domain/email/service/EmailNotificationPublisher.java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 확인 근거(2026-09-11):</a:t>
            </a:r>
          </a:p>
          <a:p>
            <a:r>
              <a:t>CLAUDE.md, 연차 잔액 모델</a:t>
            </a:r>
          </a:p>
          <a:p>
            <a:r>
              <a:t>backend/src/main/java/com/mlsoft/backend/domain/leave/service/LeaveService.java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 확인 근거(2026-09-11):</a:t>
            </a:r>
          </a:p>
          <a:p>
            <a:r>
              <a:t>backend/src/main/java/com/mlsoft/backend/domain/auth/service/AuthService.java</a:t>
            </a:r>
          </a:p>
          <a:p>
            <a:r>
              <a:t>backend/src/main/java/com/mlsoft/backend/domain/email/service/EmailNotificationPublisher.java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 확인 근거(2026-09-11):</a:t>
            </a:r>
          </a:p>
          <a:p>
            <a:r>
              <a:t>backend/src/main/java/com/mlsoft/backend/domain/welfare/service/WelfareService.java</a:t>
            </a:r>
          </a:p>
          <a:p>
            <a:r>
              <a:t>backend/src/main/java/com/mlsoft/backend/domain/email/service/EmailNotificationPublisher.java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 확인 근거(2026-09-11):</a:t>
            </a:r>
          </a:p>
          <a:p>
            <a:r>
              <a:t>docs/09-스케줄러-설계.md</a:t>
            </a:r>
          </a:p>
          <a:p>
            <a:r>
              <a:t>backend/src/main/java/com/mlsoft/backend/domain/leave/scheduler/LeaveScheduler.java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 확인 근거(2026-09-11):</a:t>
            </a:r>
          </a:p>
          <a:p>
            <a:r>
              <a:t>backend/src/main/java/com/mlsoft/backend/domain/email/service/EmailNotificationPublisher.java</a:t>
            </a:r>
          </a:p>
          <a:p>
            <a:r>
              <a:t>backend/src/main/java/com/mlsoft/backend/domain/email/service/EmailDeliveryService.java</a:t>
            </a:r>
          </a:p>
          <a:p>
            <a:r>
              <a:t>backend/src/main/java/com/mlsoft/backend/domain/email/service/MailSenderResolver.java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 확인 근거(2026-09-11):</a:t>
            </a:r>
          </a:p>
          <a:p>
            <a:r>
              <a:t>backend/src/main/java/com/mlsoft/backend/domain/user/service/UserService.java:434~648</a:t>
            </a:r>
          </a:p>
          <a:p>
            <a:r>
              <a:t>backend/src/main/java/com/mlsoft/backend/domain/user/service/RetireePurgeService.java</a:t>
            </a:r>
          </a:p>
          <a:p>
            <a:r>
              <a:t>backend/src/main/java/com/mlsoft/backend/domain/audit/service/AdminAuditService.java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 확인 근거(2026-09-11):</a:t>
            </a:r>
          </a:p>
          <a:p>
            <a:r>
              <a:t>backend/src/main/java/com/mlsoft/backend/security/OnboardingCheckInterceptor.java</a:t>
            </a:r>
          </a:p>
          <a:p>
            <a:r>
              <a:t>backend/src/main/java/com/mlsoft/backend/domain/leave/service/LeaveService.java:638~655</a:t>
            </a:r>
          </a:p>
          <a:p>
            <a:r>
              <a:t>backend/src/main/java/com/mlsoft/backend/domain/user/service/UserService.java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 확인 근거(2026-09-11):</a:t>
            </a:r>
          </a:p>
          <a:p>
            <a:r>
              <a:t>CLAUDE.md, 아키텍처·배포</a:t>
            </a:r>
          </a:p>
          <a:p>
            <a:r>
              <a:t>Dockerfile</a:t>
            </a:r>
          </a:p>
          <a:p>
            <a:r>
              <a:t>docker-compose.prod.yml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 확인 근거(2026-09-11):</a:t>
            </a:r>
          </a:p>
          <a:p>
            <a:r>
              <a:t>CLAUDE.md, 계층 구조</a:t>
            </a:r>
          </a:p>
          <a:p>
            <a:r>
              <a:t>backend/src/main/java/com/mlsoft/backend/domain/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 확인 근거(2026-09-11):</a:t>
            </a:r>
          </a:p>
          <a:p>
            <a:r>
              <a:t>CLAUDE.md, 프론트엔드 데이터 흐름</a:t>
            </a:r>
          </a:p>
          <a:p>
            <a:r>
              <a:t>frontend/src/pages/</a:t>
            </a:r>
          </a:p>
          <a:p>
            <a:r>
              <a:t>frontend/src/api/index.js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 확인 근거(2026-09-11):</a:t>
            </a:r>
          </a:p>
          <a:p>
            <a:r>
              <a:t>backend/build.gradle</a:t>
            </a:r>
          </a:p>
          <a:p>
            <a:r>
              <a:t>docs/12-남은-작업.md, 현재 상태 스냅샷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 확인 근거(2026-09-11):</a:t>
            </a:r>
          </a:p>
          <a:p>
            <a:r>
              <a:t>frontend/package.json</a:t>
            </a:r>
          </a:p>
          <a:p>
            <a:r>
              <a:t>docs/12-남은-작업.md, 현재 상태 스냅샷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 확인 근거(2026-09-11):</a:t>
            </a:r>
          </a:p>
          <a:p>
            <a:r>
              <a:t>코드 실측: HTTP 메서드 매핑 88개, 테스트 제외 페이지 17개, schema.sql CREATE TABLE 21개, 정책 설정 ACTIVE 12개</a:t>
            </a:r>
          </a:p>
          <a:p>
            <a:r>
              <a:t>docs/12-남은-작업.md, 현재 상태 스냅샷</a:t>
            </a:r>
          </a:p>
          <a:p>
            <a:r>
              <a:t>Dockerfile</a:t>
            </a:r>
          </a:p>
          <a:p>
            <a:r>
              <a:t>docker-compose.prod.yml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 확인 근거(2026-09-11):</a:t>
            </a:r>
          </a:p>
          <a:p>
            <a:r>
              <a:t>docs/12-남은-작업.md, 현재 상태 스냅샷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 확인 근거(2026-09-11):</a:t>
            </a:r>
          </a:p>
          <a:p>
            <a:r>
              <a:t>브리프 §0·§3 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0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54512" y="642823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8CBE5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A6BFE6"/>
                </a:solidFill>
                <a:latin typeface="맑은 고딕"/>
                <a:ea typeface="맑은 고딕"/>
              </a:rPr>
              <a:t>프로젝트 소개 · 사전 공유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828800"/>
            <a:ext cx="1069848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6800" b="1" lang="ko-KR">
                <a:solidFill>
                  <a:srgbClr val="FFFFFF"/>
                </a:solidFill>
                <a:latin typeface="맑은 고딕"/>
                <a:ea typeface="맑은 고딕"/>
              </a:rPr>
              <a:t>연차ON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108960"/>
            <a:ext cx="10515600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lang="ko-KR">
                <a:solidFill>
                  <a:srgbClr val="FFFFFF"/>
                </a:solidFill>
                <a:latin typeface="맑은 고딕"/>
                <a:ea typeface="맑은 고딕"/>
              </a:rPr>
              <a:t>MLsoft 사내 연차·복리후생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lang="ko-KR">
                <a:solidFill>
                  <a:srgbClr val="FFFFFF"/>
                </a:solidFill>
                <a:latin typeface="맑은 고딕"/>
                <a:ea typeface="맑은 고딕"/>
              </a:rPr>
              <a:t>관리 시스템 V2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4645152"/>
            <a:ext cx="10424160" cy="0"/>
          </a:xfrm>
          <a:prstGeom prst="line">
            <a:avLst/>
          </a:prstGeom>
          <a:ln w="8890">
            <a:solidFill>
              <a:srgbClr val="3652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5001768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84DCEA"/>
                </a:solidFill>
                <a:latin typeface="맑은 고딕"/>
                <a:ea typeface="맑은 고딕"/>
              </a:rPr>
              <a:t>미완성본 · 2026-09-11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57784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B8CBE5"/>
                </a:solidFill>
                <a:latin typeface="맑은 고딕"/>
                <a:ea typeface="맑은 고딕"/>
              </a:rPr>
              <a:t>다음 주 방문 시 실제 화면으로 시연하겠습니다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172B49"/>
                </a:solidFill>
                <a:latin typeface="맑은 고딕"/>
                <a:ea typeface="맑은 고딕"/>
              </a:rPr>
              <a:t>연차와 복리후생 업무를 한곳에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2471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신청부터 결재, 잔액 계산과 안내까지 연결한 사내 관리 시스템입니다.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642823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3657D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245BCE"/>
                </a:solidFill>
                <a:latin typeface="맑은 고딕"/>
                <a:ea typeface="맑은 고딕"/>
              </a:rPr>
              <a:t>사원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79776"/>
            <a:ext cx="34290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ko-KR">
                <a:solidFill>
                  <a:srgbClr val="172B49"/>
                </a:solidFill>
                <a:latin typeface="맑은 고딕"/>
                <a:ea typeface="맑은 고딕"/>
              </a:rPr>
              <a:t>캘린더에서 신청하고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ko-KR">
                <a:solidFill>
                  <a:srgbClr val="172B49"/>
                </a:solidFill>
                <a:latin typeface="맑은 고딕"/>
                <a:ea typeface="맑은 고딕"/>
              </a:rPr>
              <a:t>내 잔액과 처리 결과를 확인한다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05740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245BCE"/>
                </a:solidFill>
                <a:latin typeface="맑은 고딕"/>
                <a:ea typeface="맑은 고딕"/>
              </a:rPr>
              <a:t>팀장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779776"/>
            <a:ext cx="34290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ko-KR">
                <a:solidFill>
                  <a:srgbClr val="172B49"/>
                </a:solidFill>
                <a:latin typeface="맑은 고딕"/>
                <a:ea typeface="맑은 고딕"/>
              </a:rPr>
              <a:t>결재함에서 승인·반려하고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ko-KR">
                <a:solidFill>
                  <a:srgbClr val="172B49"/>
                </a:solidFill>
                <a:latin typeface="맑은 고딕"/>
                <a:ea typeface="맑은 고딕"/>
              </a:rPr>
              <a:t>팀의 휴가와 일정을 확인한다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05740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245BCE"/>
                </a:solidFill>
                <a:latin typeface="맑은 고딕"/>
                <a:ea typeface="맑은 고딕"/>
              </a:rPr>
              <a:t>총관리자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779776"/>
            <a:ext cx="34290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ko-KR">
                <a:solidFill>
                  <a:srgbClr val="172B49"/>
                </a:solidFill>
                <a:latin typeface="맑은 고딕"/>
                <a:ea typeface="맑은 고딕"/>
              </a:rPr>
              <a:t>조직·정책·이메일을 관리하고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ko-KR">
                <a:solidFill>
                  <a:srgbClr val="172B49"/>
                </a:solidFill>
                <a:latin typeface="맑은 고딕"/>
                <a:ea typeface="맑은 고딕"/>
              </a:rPr>
              <a:t>입사부터 퇴직까지 처리한다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4114800"/>
            <a:ext cx="10789920" cy="0"/>
          </a:xfrm>
          <a:prstGeom prst="line">
            <a:avLst/>
          </a:prstGeom>
          <a:ln w="8890">
            <a:solidFill>
              <a:srgbClr val="CCD6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4471416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ko-KR">
                <a:solidFill>
                  <a:srgbClr val="172B49"/>
                </a:solidFill>
                <a:latin typeface="맑은 고딕"/>
                <a:ea typeface="맑은 고딕"/>
              </a:rPr>
              <a:t>V2를 만든 이유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4462272"/>
            <a:ext cx="7315200" cy="11704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172B49"/>
                </a:solidFill>
                <a:latin typeface="맑은 고딕"/>
                <a:ea typeface="맑은 고딕"/>
              </a:rPr>
              <a:t>이전 버전에서 어긋나던 연차 계산을 통일하고,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172B49"/>
                </a:solidFill>
                <a:latin typeface="맑은 고딕"/>
                <a:ea typeface="맑은 고딕"/>
              </a:rPr>
              <a:t>담당자가 반복하던 부여·적립·안내 작업을 자동화했습니다.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172B49"/>
                </a:solidFill>
                <a:latin typeface="맑은 고딕"/>
                <a:ea typeface="맑은 고딕"/>
              </a:rPr>
              <a:t>다음 주에 보여 드릴 업무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2471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이 자료로 기능과 처리 기준을 먼저 확인하실 수 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642823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3657D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774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245BCE"/>
                </a:solidFill>
                <a:latin typeface="맑은 고딕"/>
                <a:ea typeface="맑은 고딕"/>
              </a:rPr>
              <a:t>신청과 잔액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36392"/>
            <a:ext cx="338328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172B49"/>
                </a:solidFill>
                <a:latin typeface="맑은 고딕"/>
                <a:ea typeface="맑은 고딕"/>
              </a:rPr>
              <a:t>날짜 선택 → 연차 신청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172B49"/>
                </a:solidFill>
                <a:latin typeface="맑은 고딕"/>
                <a:ea typeface="맑은 고딕"/>
              </a:rPr>
              <a:t>신청 전후 잔액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3774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245BCE"/>
                </a:solidFill>
                <a:latin typeface="맑은 고딕"/>
                <a:ea typeface="맑은 고딕"/>
              </a:rPr>
              <a:t>결재와 알림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136392"/>
            <a:ext cx="338328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172B49"/>
                </a:solidFill>
                <a:latin typeface="맑은 고딕"/>
                <a:ea typeface="맑은 고딕"/>
              </a:rPr>
              <a:t>팀장 승인·반려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172B49"/>
                </a:solidFill>
                <a:latin typeface="맑은 고딕"/>
                <a:ea typeface="맑은 고딕"/>
              </a:rPr>
              <a:t>취소 처리와 메일 이력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2377440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lang="ko-KR">
                <a:solidFill>
                  <a:srgbClr val="245BCE"/>
                </a:solidFill>
                <a:latin typeface="맑은 고딕"/>
                <a:ea typeface="맑은 고딕"/>
              </a:rPr>
              <a:t>관리자 업무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3136392"/>
            <a:ext cx="338328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172B49"/>
                </a:solidFill>
                <a:latin typeface="맑은 고딕"/>
                <a:ea typeface="맑은 고딕"/>
              </a:rPr>
              <a:t>정책·조직 설정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172B49"/>
                </a:solidFill>
                <a:latin typeface="맑은 고딕"/>
                <a:ea typeface="맑은 고딕"/>
              </a:rPr>
              <a:t>입사·퇴직·재입사 관리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0" y="2660904"/>
            <a:ext cx="457200" cy="0"/>
          </a:xfrm>
          <a:prstGeom prst="line">
            <a:avLst/>
          </a:prstGeom>
          <a:ln w="19050">
            <a:solidFill>
              <a:srgbClr val="245BC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60920" y="2660904"/>
            <a:ext cx="457200" cy="0"/>
          </a:xfrm>
          <a:prstGeom prst="line">
            <a:avLst/>
          </a:prstGeom>
          <a:ln w="19050">
            <a:solidFill>
              <a:srgbClr val="245BC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" y="4800600"/>
            <a:ext cx="10744200" cy="0"/>
          </a:xfrm>
          <a:prstGeom prst="line">
            <a:avLst/>
          </a:prstGeom>
          <a:ln w="8890">
            <a:solidFill>
              <a:srgbClr val="CCD6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516636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172B49"/>
                </a:solidFill>
                <a:latin typeface="맑은 고딕"/>
                <a:ea typeface="맑은 고딕"/>
              </a:rPr>
              <a:t>주말에도 개발을 이어가며, 방문 시에는 갱신된 화면으로 설명하겠습니다.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172B49"/>
                </a:solidFill>
                <a:latin typeface="맑은 고딕"/>
                <a:ea typeface="맑은 고딕"/>
              </a:rPr>
              <a:t>직원이 쓰는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2471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날짜를 고르고, 신청하고, 처리 결과를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642823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3657D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245BC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100126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172B49"/>
                </a:solidFill>
                <a:latin typeface="맑은 고딕"/>
                <a:ea typeface="맑은 고딕"/>
              </a:rPr>
              <a:t>캘린더에서 연차와 반차를 신청한다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67712"/>
            <a:ext cx="1001268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종일·오전반차·오후반차를 선택하고 승인자를 확인합니다.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71600" y="2660904"/>
            <a:ext cx="9875520" cy="0"/>
          </a:xfrm>
          <a:prstGeom prst="line">
            <a:avLst/>
          </a:prstGeom>
          <a:ln w="8890">
            <a:solidFill>
              <a:srgbClr val="D5DD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2779776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245BC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79776"/>
            <a:ext cx="100126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172B49"/>
                </a:solidFill>
                <a:latin typeface="맑은 고딕"/>
                <a:ea typeface="맑은 고딕"/>
              </a:rPr>
              <a:t>팀장이 결재함에서 승인·반려한다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18688"/>
            <a:ext cx="1001268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대기 중인 신청과 처리 결과를 한곳에서 확인합니다.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71600" y="3611880"/>
            <a:ext cx="9875520" cy="0"/>
          </a:xfrm>
          <a:prstGeom prst="line">
            <a:avLst/>
          </a:prstGeom>
          <a:ln w="8890">
            <a:solidFill>
              <a:srgbClr val="D5DD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730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245BC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730752"/>
            <a:ext cx="100126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172B49"/>
                </a:solidFill>
                <a:latin typeface="맑은 고딕"/>
                <a:ea typeface="맑은 고딕"/>
              </a:rPr>
              <a:t>복리후생을 신청해 보너스 연차를 받는다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69664"/>
            <a:ext cx="1001268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경조·포상 등 정책별 신청은 승인될 때 연차에 더해집니다.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71600" y="4562856"/>
            <a:ext cx="9875520" cy="0"/>
          </a:xfrm>
          <a:prstGeom prst="line">
            <a:avLst/>
          </a:prstGeom>
          <a:ln w="8890">
            <a:solidFill>
              <a:srgbClr val="D5DD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68172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245BCE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681728"/>
            <a:ext cx="100126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172B49"/>
                </a:solidFill>
                <a:latin typeface="맑은 고딕"/>
                <a:ea typeface="맑은 고딕"/>
              </a:rPr>
              <a:t>외근·출장·재택·교육을 일정으로 기록한다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120640"/>
            <a:ext cx="1001268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결재 없이 등록하며 연차 잔액은 차감하지 않습니다.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172B49"/>
                </a:solidFill>
                <a:latin typeface="맑은 고딕"/>
                <a:ea typeface="맑은 고딕"/>
              </a:rPr>
              <a:t>관리자가 운영하는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2471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조직·정책과 반복 업무를 화면에서 관리합니다.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642823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3657D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245BC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100126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172B49"/>
                </a:solidFill>
                <a:latin typeface="맑은 고딕"/>
                <a:ea typeface="맑은 고딕"/>
              </a:rPr>
              <a:t>조직·구성원·연차 정책을 관리한다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76272"/>
            <a:ext cx="1001268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부서와 역할, 근속별 부여 기준, 관리자 설정 12개를 관리합니다.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371600" y="2459736"/>
            <a:ext cx="9875520" cy="0"/>
          </a:xfrm>
          <a:prstGeom prst="line">
            <a:avLst/>
          </a:prstGeom>
          <a:ln w="8890">
            <a:solidFill>
              <a:srgbClr val="D5DD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257860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245BC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78608"/>
            <a:ext cx="100126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172B49"/>
                </a:solidFill>
                <a:latin typeface="맑은 고딕"/>
                <a:ea typeface="맑은 고딕"/>
              </a:rPr>
              <a:t>연차 부여·적립·안내·파기를 자동으로 처리한다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17520"/>
            <a:ext cx="1001268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매일 새벽 5개 작업을 정해진 순서로 실행합니다.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71600" y="3300984"/>
            <a:ext cx="9875520" cy="0"/>
          </a:xfrm>
          <a:prstGeom prst="line">
            <a:avLst/>
          </a:prstGeom>
          <a:ln w="8890">
            <a:solidFill>
              <a:srgbClr val="D5DD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3419856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245BC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19856"/>
            <a:ext cx="100126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172B49"/>
                </a:solidFill>
                <a:latin typeface="맑은 고딕"/>
                <a:ea typeface="맑은 고딕"/>
              </a:rPr>
              <a:t>관련자에게 이메일로 신청·결재 결과를 알린다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58768"/>
            <a:ext cx="1001268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첫 로그인 승인, 생일 반차, 소진 안내, 파기 예고도 연결됩니다.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71600" y="4142232"/>
            <a:ext cx="9875520" cy="0"/>
          </a:xfrm>
          <a:prstGeom prst="line">
            <a:avLst/>
          </a:prstGeom>
          <a:ln w="8890">
            <a:solidFill>
              <a:srgbClr val="D5DD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261104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245BCE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61104"/>
            <a:ext cx="100126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172B49"/>
                </a:solidFill>
                <a:latin typeface="맑은 고딕"/>
                <a:ea typeface="맑은 고딕"/>
              </a:rPr>
              <a:t>메일 양식을 고치고 대상을 골라 일괄 발송한다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700016"/>
            <a:ext cx="1001268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제목·본문·변수를 편집하고 발송 이력과 실패 건을 확인합니다.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71600" y="4983480"/>
            <a:ext cx="9875520" cy="0"/>
          </a:xfrm>
          <a:prstGeom prst="line">
            <a:avLst/>
          </a:prstGeom>
          <a:ln w="8890">
            <a:solidFill>
              <a:srgbClr val="D5DD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51023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245BCE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102352"/>
            <a:ext cx="100126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172B49"/>
                </a:solidFill>
                <a:latin typeface="맑은 고딕"/>
                <a:ea typeface="맑은 고딕"/>
              </a:rPr>
              <a:t>퇴직·개인정보 파기·재입사를 처리한다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541264"/>
            <a:ext cx="1001268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보존 기간과 파기 보류를 관리하고, 이전 근속 구간을 보존합니다.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172B49"/>
                </a:solidFill>
                <a:latin typeface="맑은 고딕"/>
                <a:ea typeface="맑은 고딕"/>
              </a:rPr>
              <a:t>연차 신청과 결재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2471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현재 회차의 연차는 신청 즉시 차감됩니다. 승인 시 추가 차감은 없습니다.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642823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3657D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47088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172B49"/>
                </a:solidFill>
                <a:latin typeface="맑은 고딕"/>
                <a:ea typeface="맑은 고딕"/>
              </a:rPr>
              <a:t>사원: 날짜 선택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ko-KR">
                <a:solidFill>
                  <a:srgbClr val="172B49"/>
                </a:solidFill>
                <a:latin typeface="맑은 고딕"/>
                <a:ea typeface="맑은 고딕"/>
              </a:rPr>
              <a:t>종일·오전·오후반차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3154680" y="1847088"/>
            <a:ext cx="2057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172B49"/>
                </a:solidFill>
                <a:latin typeface="맑은 고딕"/>
                <a:ea typeface="맑은 고딕"/>
              </a:rPr>
              <a:t>승인자 확인·신청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ko-KR">
                <a:solidFill>
                  <a:srgbClr val="172B49"/>
                </a:solidFill>
                <a:latin typeface="맑은 고딕"/>
                <a:ea typeface="맑은 고딕"/>
              </a:rPr>
              <a:t>기본·서브 승인자</a:t>
            </a:r>
          </a:p>
        </p:txBody>
      </p:sp>
      <p:sp>
        <p:nvSpPr>
          <p:cNvPr id="7" name="Diamond 6"/>
          <p:cNvSpPr/>
          <p:nvPr/>
        </p:nvSpPr>
        <p:spPr>
          <a:xfrm>
            <a:off x="5577840" y="1682496"/>
            <a:ext cx="1645920" cy="1115568"/>
          </a:xfrm>
          <a:prstGeom prst="diamond">
            <a:avLst/>
          </a:prstGeom>
          <a:solidFill>
            <a:srgbClr val="FFF2D3"/>
          </a:solidFill>
          <a:ln w="13970">
            <a:solidFill>
              <a:srgbClr val="8C6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8C610D"/>
                </a:solidFill>
                <a:latin typeface="맑은 고딕"/>
                <a:ea typeface="맑은 고딕"/>
              </a:rPr>
              <a:t>신청 가능?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1810512"/>
            <a:ext cx="3840480" cy="868680"/>
          </a:xfrm>
          <a:prstGeom prst="rect">
            <a:avLst/>
          </a:prstGeom>
          <a:solidFill>
            <a:srgbClr val="EAF0FA"/>
          </a:solidFill>
          <a:ln w="12700">
            <a:solidFill>
              <a:srgbClr val="245B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245BCE"/>
                </a:solidFill>
                <a:latin typeface="맑은 고딕"/>
                <a:ea typeface="맑은 고딕"/>
              </a:rPr>
              <a:t>대기 상태 · 현재 회차 선차감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ko-KR">
                <a:solidFill>
                  <a:srgbClr val="245BCE"/>
                </a:solidFill>
                <a:latin typeface="맑은 고딕"/>
                <a:ea typeface="맑은 고딕"/>
              </a:rPr>
              <a:t>메일: 신청자 + 기본·서브 승인자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2240280"/>
            <a:ext cx="411480" cy="0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12080" y="2240280"/>
            <a:ext cx="365760" cy="0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223760" y="2240280"/>
            <a:ext cx="411480" cy="0"/>
          </a:xfrm>
          <a:prstGeom prst="line">
            <a:avLst/>
          </a:prstGeom>
          <a:ln w="19050">
            <a:solidFill>
              <a:srgbClr val="245BC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205472" y="1856231"/>
            <a:ext cx="42976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245BCE"/>
                </a:solidFill>
                <a:latin typeface="맑은 고딕"/>
                <a:ea typeface="맑은 고딕"/>
              </a:rPr>
              <a:t>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0" y="2798064"/>
            <a:ext cx="0" cy="521208"/>
          </a:xfrm>
          <a:prstGeom prst="line">
            <a:avLst/>
          </a:prstGeom>
          <a:ln w="19050">
            <a:solidFill>
              <a:srgbClr val="A13B4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276088" y="3319272"/>
            <a:ext cx="2240280" cy="658368"/>
          </a:xfrm>
          <a:prstGeom prst="rect">
            <a:avLst/>
          </a:prstGeom>
          <a:solidFill>
            <a:srgbClr val="FAE9EC"/>
          </a:solidFill>
          <a:ln w="12700">
            <a:solidFill>
              <a:srgbClr val="A13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A13B4A"/>
                </a:solidFill>
                <a:latin typeface="맑은 고딕"/>
                <a:ea typeface="맑은 고딕"/>
              </a:rPr>
              <a:t>사유 안내 후 수정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889504"/>
            <a:ext cx="65836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A13B4A"/>
                </a:solidFill>
                <a:latin typeface="맑은 고딕"/>
                <a:ea typeface="맑은 고딕"/>
              </a:rPr>
              <a:t>아니오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944368"/>
            <a:ext cx="4224528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53657D"/>
                </a:solidFill>
                <a:latin typeface="맑은 고딕"/>
                <a:ea typeface="맑은 고딕"/>
              </a:rPr>
              <a:t>확인 항목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53657D"/>
                </a:solidFill>
                <a:latin typeface="맑은 고딕"/>
                <a:ea typeface="맑은 고딕"/>
              </a:rPr>
              <a:t>주말·공휴일·지난 날짜·중복·잔여일수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555480" y="2679192"/>
            <a:ext cx="0" cy="1636776"/>
          </a:xfrm>
          <a:prstGeom prst="line">
            <a:avLst/>
          </a:prstGeom>
          <a:ln w="19050">
            <a:solidFill>
              <a:srgbClr val="245BC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601200" y="3255264"/>
            <a:ext cx="19385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245BCE"/>
                </a:solidFill>
                <a:latin typeface="맑은 고딕"/>
                <a:ea typeface="맑은 고딕"/>
              </a:rPr>
              <a:t>승인자 중 한 명이 결재</a:t>
            </a:r>
          </a:p>
        </p:txBody>
      </p:sp>
      <p:sp>
        <p:nvSpPr>
          <p:cNvPr id="19" name="Diamond 18"/>
          <p:cNvSpPr/>
          <p:nvPr/>
        </p:nvSpPr>
        <p:spPr>
          <a:xfrm>
            <a:off x="8686800" y="4315968"/>
            <a:ext cx="1737360" cy="1115568"/>
          </a:xfrm>
          <a:prstGeom prst="diamond">
            <a:avLst/>
          </a:prstGeom>
          <a:solidFill>
            <a:srgbClr val="FFF2D3"/>
          </a:solidFill>
          <a:ln w="13970">
            <a:solidFill>
              <a:srgbClr val="8C6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ko-KR">
                <a:solidFill>
                  <a:srgbClr val="8C610D"/>
                </a:solidFill>
                <a:latin typeface="맑은 고딕"/>
                <a:ea typeface="맑은 고딕"/>
              </a:rPr>
              <a:t>결재 결과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4453128"/>
            <a:ext cx="3054096" cy="832104"/>
          </a:xfrm>
          <a:prstGeom prst="rect">
            <a:avLst/>
          </a:prstGeom>
          <a:solidFill>
            <a:srgbClr val="E5F3ED"/>
          </a:solidFill>
          <a:ln w="12700">
            <a:solidFill>
              <a:srgbClr val="176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176B50"/>
                </a:solidFill>
                <a:latin typeface="맑은 고딕"/>
                <a:ea typeface="맑은 고딕"/>
              </a:rPr>
              <a:t>승인 · 잔액 유지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453128"/>
            <a:ext cx="3017520" cy="832104"/>
          </a:xfrm>
          <a:prstGeom prst="rect">
            <a:avLst/>
          </a:prstGeom>
          <a:solidFill>
            <a:srgbClr val="FAE9EC"/>
          </a:solidFill>
          <a:ln w="12700">
            <a:solidFill>
              <a:srgbClr val="A13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A13B4A"/>
                </a:solidFill>
                <a:latin typeface="맑은 고딕"/>
                <a:ea typeface="맑은 고딕"/>
              </a:rPr>
              <a:t>반려 · 잔액 복구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ko-KR">
                <a:solidFill>
                  <a:srgbClr val="A13B4A"/>
                </a:solidFill>
                <a:latin typeface="맑은 고딕"/>
                <a:ea typeface="맑은 고딕"/>
              </a:rPr>
              <a:t>반려 사유 입력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7671816" y="4873752"/>
            <a:ext cx="1014984" cy="0"/>
          </a:xfrm>
          <a:prstGeom prst="line">
            <a:avLst/>
          </a:prstGeom>
          <a:ln w="19050">
            <a:solidFill>
              <a:srgbClr val="176B5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44968" y="4517136"/>
            <a:ext cx="80467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76B50"/>
                </a:solidFill>
                <a:latin typeface="맑은 고딕"/>
                <a:ea typeface="맑은 고딕"/>
              </a:rPr>
              <a:t>승인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55480" y="5431536"/>
            <a:ext cx="0" cy="192024"/>
          </a:xfrm>
          <a:prstGeom prst="line">
            <a:avLst/>
          </a:prstGeom>
          <a:ln w="19050">
            <a:solidFill>
              <a:srgbClr val="A13B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2194560" y="5623560"/>
            <a:ext cx="7360920" cy="0"/>
          </a:xfrm>
          <a:prstGeom prst="line">
            <a:avLst/>
          </a:prstGeom>
          <a:ln w="19050">
            <a:solidFill>
              <a:srgbClr val="A13B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194560" y="5285232"/>
            <a:ext cx="0" cy="338328"/>
          </a:xfrm>
          <a:prstGeom prst="line">
            <a:avLst/>
          </a:prstGeom>
          <a:ln w="19050">
            <a:solidFill>
              <a:srgbClr val="A13B4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669280" y="5632704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A13B4A"/>
                </a:solidFill>
                <a:latin typeface="맑은 고딕"/>
                <a:ea typeface="맑은 고딕"/>
              </a:rPr>
              <a:t>반려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062472"/>
            <a:ext cx="10927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53657D"/>
                </a:solidFill>
                <a:latin typeface="맑은 고딕"/>
                <a:ea typeface="맑은 고딕"/>
              </a:rPr>
              <a:t>결재 결과 메일: 신청자 + 기본·서브 승인자 + 재직 총관리자 전원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172B49"/>
                </a:solidFill>
                <a:latin typeface="맑은 고딕"/>
                <a:ea typeface="맑은 고딕"/>
              </a:rPr>
              <a:t>연차 취소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2471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승인 여부와 사용 날짜에 따라 즉시 취소 또는 취소 결재로 나뉩니다.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642823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3657D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057400"/>
            <a:ext cx="1874519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172B49"/>
                </a:solidFill>
                <a:latin typeface="맑은 고딕"/>
                <a:ea typeface="맑은 고딕"/>
              </a:rPr>
              <a:t>사원: 취소 요청</a:t>
            </a:r>
          </a:p>
        </p:txBody>
      </p:sp>
      <p:sp>
        <p:nvSpPr>
          <p:cNvPr id="6" name="Diamond 5"/>
          <p:cNvSpPr/>
          <p:nvPr/>
        </p:nvSpPr>
        <p:spPr>
          <a:xfrm>
            <a:off x="2999232" y="1783080"/>
            <a:ext cx="1938528" cy="1335024"/>
          </a:xfrm>
          <a:prstGeom prst="diamond">
            <a:avLst/>
          </a:prstGeom>
          <a:solidFill>
            <a:srgbClr val="FFF2D3"/>
          </a:solidFill>
          <a:ln w="13970">
            <a:solidFill>
              <a:srgbClr val="8C6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lang="ko-KR">
                <a:solidFill>
                  <a:srgbClr val="8C610D"/>
                </a:solidFill>
                <a:latin typeface="맑은 고딕"/>
                <a:ea typeface="맑은 고딕"/>
              </a:rPr>
              <a:t>승인된 건에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lang="ko-KR">
                <a:solidFill>
                  <a:srgbClr val="8C610D"/>
                </a:solidFill>
                <a:latin typeface="맑은 고딕"/>
                <a:ea typeface="맑은 고딕"/>
              </a:rPr>
              <a:t>지난 날짜 포함?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1975104"/>
            <a:ext cx="2743200" cy="932688"/>
          </a:xfrm>
          <a:prstGeom prst="rect">
            <a:avLst/>
          </a:prstGeom>
          <a:solidFill>
            <a:srgbClr val="E5F3ED"/>
          </a:solidFill>
          <a:ln w="12700">
            <a:solidFill>
              <a:srgbClr val="176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176B50"/>
                </a:solidFill>
                <a:latin typeface="맑은 고딕"/>
                <a:ea typeface="맑은 고딕"/>
              </a:rPr>
              <a:t>즉시 취소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176B50"/>
                </a:solidFill>
                <a:latin typeface="맑은 고딕"/>
                <a:ea typeface="맑은 고딕"/>
              </a:rPr>
              <a:t>현재 회차 차감분 복구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14232" y="1947672"/>
            <a:ext cx="2807208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53657D"/>
                </a:solidFill>
                <a:latin typeface="맑은 고딕"/>
                <a:ea typeface="맑은 고딕"/>
              </a:rPr>
              <a:t>메일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53657D"/>
                </a:solidFill>
                <a:latin typeface="맑은 고딕"/>
                <a:ea typeface="맑은 고딕"/>
              </a:rPr>
              <a:t>신청자 + 승인자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32888" y="2450592"/>
            <a:ext cx="466344" cy="0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937760" y="2450592"/>
            <a:ext cx="640080" cy="0"/>
          </a:xfrm>
          <a:prstGeom prst="line">
            <a:avLst/>
          </a:prstGeom>
          <a:ln w="19050">
            <a:solidFill>
              <a:srgbClr val="176B5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937760" y="203911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76B50"/>
                </a:solidFill>
                <a:latin typeface="맑은 고딕"/>
                <a:ea typeface="맑은 고딕"/>
              </a:rPr>
              <a:t>아니오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35224" y="3749039"/>
            <a:ext cx="2103120" cy="804672"/>
          </a:xfrm>
          <a:prstGeom prst="rect">
            <a:avLst/>
          </a:prstGeom>
          <a:solidFill>
            <a:srgbClr val="FFF2D3"/>
          </a:solidFill>
          <a:ln w="12700">
            <a:solidFill>
              <a:srgbClr val="8C6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8C610D"/>
                </a:solidFill>
                <a:latin typeface="맑은 고딕"/>
                <a:ea typeface="맑은 고딕"/>
              </a:rPr>
              <a:t>취소 결재 대기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ko-KR">
                <a:solidFill>
                  <a:srgbClr val="8C610D"/>
                </a:solidFill>
                <a:latin typeface="맑은 고딕"/>
                <a:ea typeface="맑은 고딕"/>
              </a:rPr>
              <a:t>이때는 잔액 유지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68496" y="3118104"/>
            <a:ext cx="0" cy="630935"/>
          </a:xfrm>
          <a:prstGeom prst="line">
            <a:avLst/>
          </a:prstGeom>
          <a:ln w="19050">
            <a:solidFill>
              <a:srgbClr val="8C610D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96512" y="3246120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8C610D"/>
                </a:solidFill>
                <a:latin typeface="맑은 고딕"/>
                <a:ea typeface="맑은 고딕"/>
              </a:rPr>
              <a:t>예</a:t>
            </a:r>
          </a:p>
        </p:txBody>
      </p:sp>
      <p:sp>
        <p:nvSpPr>
          <p:cNvPr id="15" name="Diamond 14"/>
          <p:cNvSpPr/>
          <p:nvPr/>
        </p:nvSpPr>
        <p:spPr>
          <a:xfrm>
            <a:off x="5605272" y="3474720"/>
            <a:ext cx="1737360" cy="1325880"/>
          </a:xfrm>
          <a:prstGeom prst="diamond">
            <a:avLst/>
          </a:prstGeom>
          <a:solidFill>
            <a:srgbClr val="FFF2D3"/>
          </a:solidFill>
          <a:ln w="13970">
            <a:solidFill>
              <a:srgbClr val="8C6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8C610D"/>
                </a:solidFill>
                <a:latin typeface="맑은 고딕"/>
                <a:ea typeface="맑은 고딕"/>
              </a:rPr>
              <a:t>취소 승인?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38344" y="4151376"/>
            <a:ext cx="566928" cy="0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257031" y="3456432"/>
            <a:ext cx="3236976" cy="786384"/>
          </a:xfrm>
          <a:prstGeom prst="rect">
            <a:avLst/>
          </a:prstGeom>
          <a:solidFill>
            <a:srgbClr val="E5F3ED"/>
          </a:solidFill>
          <a:ln w="12700">
            <a:solidFill>
              <a:srgbClr val="176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176B50"/>
                </a:solidFill>
                <a:latin typeface="맑은 고딕"/>
                <a:ea typeface="맑은 고딕"/>
              </a:rPr>
              <a:t>취소 완료 · 잔액 복구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57031" y="4727448"/>
            <a:ext cx="3236976" cy="786384"/>
          </a:xfrm>
          <a:prstGeom prst="rect">
            <a:avLst/>
          </a:prstGeom>
          <a:solidFill>
            <a:srgbClr val="FAE9EC"/>
          </a:solidFill>
          <a:ln w="12700">
            <a:solidFill>
              <a:srgbClr val="A13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A13B4A"/>
                </a:solidFill>
                <a:latin typeface="맑은 고딕"/>
                <a:ea typeface="맑은 고딕"/>
              </a:rPr>
              <a:t>승인 상태 유지 · 복구 없음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42631" y="4142232"/>
            <a:ext cx="475489" cy="0"/>
          </a:xfrm>
          <a:prstGeom prst="line">
            <a:avLst/>
          </a:prstGeom>
          <a:ln w="19050">
            <a:solidFill>
              <a:srgbClr val="176B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818120" y="3849624"/>
            <a:ext cx="0" cy="292608"/>
          </a:xfrm>
          <a:prstGeom prst="line">
            <a:avLst/>
          </a:prstGeom>
          <a:ln w="19050">
            <a:solidFill>
              <a:srgbClr val="176B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818120" y="3849624"/>
            <a:ext cx="438911" cy="0"/>
          </a:xfrm>
          <a:prstGeom prst="line">
            <a:avLst/>
          </a:prstGeom>
          <a:ln w="19050">
            <a:solidFill>
              <a:srgbClr val="176B5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06640" y="3483864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76B50"/>
                </a:solidFill>
                <a:latin typeface="맑은 고딕"/>
                <a:ea typeface="맑은 고딕"/>
              </a:rPr>
              <a:t>승인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73952" y="4800600"/>
            <a:ext cx="0" cy="320040"/>
          </a:xfrm>
          <a:prstGeom prst="line">
            <a:avLst/>
          </a:prstGeom>
          <a:ln w="19050">
            <a:solidFill>
              <a:srgbClr val="A13B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473952" y="5120640"/>
            <a:ext cx="1783079" cy="0"/>
          </a:xfrm>
          <a:prstGeom prst="line">
            <a:avLst/>
          </a:prstGeom>
          <a:ln w="19050">
            <a:solidFill>
              <a:srgbClr val="A13B4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23176" y="4736592"/>
            <a:ext cx="9601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A13B4A"/>
                </a:solidFill>
                <a:latin typeface="맑은 고딕"/>
                <a:ea typeface="맑은 고딕"/>
              </a:rPr>
              <a:t>거부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4892040"/>
            <a:ext cx="4599432" cy="8869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ko-KR">
                <a:solidFill>
                  <a:srgbClr val="53657D"/>
                </a:solidFill>
                <a:latin typeface="맑은 고딕"/>
                <a:ea typeface="맑은 고딕"/>
              </a:rPr>
              <a:t>취소 요청 메일: 신청자 + 승인자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ko-KR">
                <a:solidFill>
                  <a:srgbClr val="53657D"/>
                </a:solidFill>
                <a:latin typeface="맑은 고딕"/>
                <a:ea typeface="맑은 고딕"/>
              </a:rPr>
              <a:t>취소 결재 결과: 위 수신자 + 총관리자 전원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062472"/>
            <a:ext cx="10927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53657D"/>
                </a:solidFill>
                <a:latin typeface="맑은 고딕"/>
                <a:ea typeface="맑은 고딕"/>
              </a:rPr>
              <a:t>승인 전 신청, 승인 후 오늘·미래 날짜만 있는 신청은 즉시 취소할 수 있습니다.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172B49"/>
                </a:solidFill>
                <a:latin typeface="맑은 고딕"/>
                <a:ea typeface="맑은 고딕"/>
              </a:rPr>
              <a:t>연차 잔액이 계산되는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2471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기산일은 연차가 새로 부여되는 기준일입니다. 신청 날짜별로 어느 회차인지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642823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3657D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0136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lang="ko-KR">
                <a:solidFill>
                  <a:srgbClr val="245BCE"/>
                </a:solidFill>
                <a:latin typeface="맑은 고딕"/>
                <a:ea typeface="맑은 고딕"/>
              </a:rPr>
              <a:t>잔여 연차 = 부여된 연차 + 보너스 연차 − 사용·대기 연차</a:t>
            </a:r>
          </a:p>
        </p:txBody>
      </p:sp>
      <p:sp>
        <p:nvSpPr>
          <p:cNvPr id="6" name="Diamond 5"/>
          <p:cNvSpPr/>
          <p:nvPr/>
        </p:nvSpPr>
        <p:spPr>
          <a:xfrm>
            <a:off x="685800" y="3026664"/>
            <a:ext cx="1938528" cy="1399032"/>
          </a:xfrm>
          <a:prstGeom prst="diamond">
            <a:avLst/>
          </a:prstGeom>
          <a:solidFill>
            <a:srgbClr val="FFF2D3"/>
          </a:solidFill>
          <a:ln w="13970">
            <a:solidFill>
              <a:srgbClr val="8C6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8C610D"/>
                </a:solidFill>
                <a:latin typeface="맑은 고딕"/>
                <a:ea typeface="맑은 고딕"/>
              </a:rPr>
              <a:t>신청 날짜가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8C610D"/>
                </a:solidFill>
                <a:latin typeface="맑은 고딕"/>
                <a:ea typeface="맑은 고딕"/>
              </a:rPr>
              <a:t>현재 회차인가?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3127248" y="2706624"/>
            <a:ext cx="2267712" cy="868680"/>
          </a:xfrm>
          <a:prstGeom prst="rect">
            <a:avLst/>
          </a:prstGeom>
          <a:solidFill>
            <a:srgbClr val="EAF0FA"/>
          </a:solidFill>
          <a:ln w="12700">
            <a:solidFill>
              <a:srgbClr val="245B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245BCE"/>
                </a:solidFill>
                <a:latin typeface="맑은 고딕"/>
                <a:ea typeface="맑은 고딕"/>
              </a:rPr>
              <a:t>현재 회차 잔액 확인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lang="ko-KR">
                <a:solidFill>
                  <a:srgbClr val="245BCE"/>
                </a:solidFill>
                <a:latin typeface="맑은 고딕"/>
                <a:ea typeface="맑은 고딕"/>
              </a:rPr>
              <a:t>기산일 ~ 다음 기산일 전날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4608576"/>
            <a:ext cx="226771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172B49"/>
                </a:solidFill>
                <a:latin typeface="맑은 고딕"/>
                <a:ea typeface="맑은 고딕"/>
              </a:rPr>
              <a:t>다음 회차 예약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ko-KR">
                <a:solidFill>
                  <a:srgbClr val="172B49"/>
                </a:solidFill>
                <a:latin typeface="맑은 고딕"/>
                <a:ea typeface="맑은 고딕"/>
              </a:rPr>
              <a:t>허용·한도 내일 때 접수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ko-KR">
                <a:solidFill>
                  <a:srgbClr val="172B49"/>
                </a:solidFill>
                <a:latin typeface="맑은 고딕"/>
                <a:ea typeface="맑은 고딕"/>
              </a:rPr>
              <a:t>현재 잔액은 유지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24328" y="3726180"/>
            <a:ext cx="246888" cy="0"/>
          </a:xfrm>
          <a:prstGeom prst="line">
            <a:avLst/>
          </a:prstGeom>
          <a:ln w="19050">
            <a:solidFill>
              <a:srgbClr val="245B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871216" y="3140964"/>
            <a:ext cx="0" cy="585216"/>
          </a:xfrm>
          <a:prstGeom prst="line">
            <a:avLst/>
          </a:prstGeom>
          <a:ln w="19050">
            <a:solidFill>
              <a:srgbClr val="245BC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71216" y="3140964"/>
            <a:ext cx="256032" cy="0"/>
          </a:xfrm>
          <a:prstGeom prst="line">
            <a:avLst/>
          </a:prstGeom>
          <a:ln w="19050">
            <a:solidFill>
              <a:srgbClr val="245BC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42032" y="2779776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245BCE"/>
                </a:solidFill>
                <a:latin typeface="맑은 고딕"/>
                <a:ea typeface="맑은 고딕"/>
              </a:rPr>
              <a:t>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55064" y="4425696"/>
            <a:ext cx="0" cy="694944"/>
          </a:xfrm>
          <a:prstGeom prst="line">
            <a:avLst/>
          </a:prstGeom>
          <a:ln w="19050">
            <a:solidFill>
              <a:srgbClr val="8C9C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655064" y="5120640"/>
            <a:ext cx="1472184" cy="0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37360" y="4654296"/>
            <a:ext cx="135331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53657D"/>
                </a:solidFill>
                <a:latin typeface="맑은 고딕"/>
                <a:ea typeface="맑은 고딕"/>
              </a:rPr>
              <a:t>다음 회차</a:t>
            </a:r>
          </a:p>
        </p:txBody>
      </p:sp>
      <p:sp>
        <p:nvSpPr>
          <p:cNvPr id="16" name="Diamond 15"/>
          <p:cNvSpPr/>
          <p:nvPr/>
        </p:nvSpPr>
        <p:spPr>
          <a:xfrm>
            <a:off x="5852160" y="2615184"/>
            <a:ext cx="1691640" cy="1051560"/>
          </a:xfrm>
          <a:prstGeom prst="diamond">
            <a:avLst/>
          </a:prstGeom>
          <a:solidFill>
            <a:srgbClr val="FFF2D3"/>
          </a:solidFill>
          <a:ln w="13970">
            <a:solidFill>
              <a:srgbClr val="8C6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8C610D"/>
                </a:solidFill>
                <a:latin typeface="맑은 고딕"/>
                <a:ea typeface="맑은 고딕"/>
              </a:rPr>
              <a:t>잔여 충분?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94960" y="3140964"/>
            <a:ext cx="457200" cy="0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092440" y="2724912"/>
            <a:ext cx="3383280" cy="822960"/>
          </a:xfrm>
          <a:prstGeom prst="rect">
            <a:avLst/>
          </a:prstGeom>
          <a:solidFill>
            <a:srgbClr val="E5F3ED"/>
          </a:solidFill>
          <a:ln w="12700">
            <a:solidFill>
              <a:srgbClr val="176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176B50"/>
                </a:solidFill>
                <a:latin typeface="맑은 고딕"/>
                <a:ea typeface="맑은 고딕"/>
              </a:rPr>
              <a:t>접수 · 현재 회차 선차감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43800" y="3140964"/>
            <a:ext cx="548640" cy="0"/>
          </a:xfrm>
          <a:prstGeom prst="line">
            <a:avLst/>
          </a:prstGeom>
          <a:ln w="19050">
            <a:solidFill>
              <a:srgbClr val="176B5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552944" y="2752344"/>
            <a:ext cx="53035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76B50"/>
                </a:solidFill>
                <a:latin typeface="맑은 고딕"/>
                <a:ea typeface="맑은 고딕"/>
              </a:rPr>
              <a:t>예</a:t>
            </a:r>
          </a:p>
        </p:txBody>
      </p:sp>
      <p:sp>
        <p:nvSpPr>
          <p:cNvPr id="21" name="Diamond 20"/>
          <p:cNvSpPr/>
          <p:nvPr/>
        </p:nvSpPr>
        <p:spPr>
          <a:xfrm>
            <a:off x="5788152" y="4069080"/>
            <a:ext cx="1828800" cy="1170432"/>
          </a:xfrm>
          <a:prstGeom prst="diamond">
            <a:avLst/>
          </a:prstGeom>
          <a:solidFill>
            <a:srgbClr val="FFF2D3"/>
          </a:solidFill>
          <a:ln w="13970">
            <a:solidFill>
              <a:srgbClr val="8C6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8C610D"/>
                </a:solidFill>
                <a:latin typeface="맑은 고딕"/>
                <a:ea typeface="맑은 고딕"/>
              </a:rPr>
              <a:t>당겨쓰기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8C610D"/>
                </a:solidFill>
                <a:latin typeface="맑은 고딕"/>
                <a:ea typeface="맑은 고딕"/>
              </a:rPr>
              <a:t>허용·상한 내?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97980" y="3666744"/>
            <a:ext cx="0" cy="402336"/>
          </a:xfrm>
          <a:prstGeom prst="line">
            <a:avLst/>
          </a:prstGeom>
          <a:ln w="19050">
            <a:solidFill>
              <a:srgbClr val="8C610D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784848" y="3712463"/>
            <a:ext cx="8686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8C610D"/>
                </a:solidFill>
                <a:latin typeface="맑은 고딕"/>
                <a:ea typeface="맑은 고딕"/>
              </a:rPr>
              <a:t>아니오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4178808"/>
            <a:ext cx="3383280" cy="941832"/>
          </a:xfrm>
          <a:prstGeom prst="rect">
            <a:avLst/>
          </a:prstGeom>
          <a:solidFill>
            <a:srgbClr val="FFF2D3"/>
          </a:solidFill>
          <a:ln w="12700">
            <a:solidFill>
              <a:srgbClr val="8C6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8C610D"/>
                </a:solidFill>
                <a:latin typeface="맑은 고딕"/>
                <a:ea typeface="맑은 고딕"/>
              </a:rPr>
              <a:t>부족분 기록 후 접수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8C610D"/>
                </a:solidFill>
                <a:latin typeface="맑은 고딕"/>
                <a:ea typeface="맑은 고딕"/>
              </a:rPr>
              <a:t>다음 기산일의 새 연차에서 상환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16952" y="4654296"/>
            <a:ext cx="475488" cy="0"/>
          </a:xfrm>
          <a:prstGeom prst="line">
            <a:avLst/>
          </a:prstGeom>
          <a:ln w="19050">
            <a:solidFill>
              <a:srgbClr val="8C610D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89520" y="4279392"/>
            <a:ext cx="493776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8C610D"/>
                </a:solidFill>
                <a:latin typeface="맑은 고딕"/>
                <a:ea typeface="맑은 고딕"/>
              </a:rPr>
              <a:t>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79008" y="5532120"/>
            <a:ext cx="1847088" cy="484632"/>
          </a:xfrm>
          <a:prstGeom prst="rect">
            <a:avLst/>
          </a:prstGeom>
          <a:solidFill>
            <a:srgbClr val="FAE9EC"/>
          </a:solidFill>
          <a:ln w="12700">
            <a:solidFill>
              <a:srgbClr val="A13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A13B4A"/>
                </a:solidFill>
                <a:latin typeface="맑은 고딕"/>
                <a:ea typeface="맑은 고딕"/>
              </a:rPr>
              <a:t>신청 제한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702552" y="5239512"/>
            <a:ext cx="0" cy="292608"/>
          </a:xfrm>
          <a:prstGeom prst="line">
            <a:avLst/>
          </a:prstGeom>
          <a:ln w="19050">
            <a:solidFill>
              <a:srgbClr val="A13B4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766560" y="5266944"/>
            <a:ext cx="914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A13B4A"/>
                </a:solidFill>
                <a:latin typeface="맑은 고딕"/>
                <a:ea typeface="맑은 고딕"/>
              </a:rPr>
              <a:t>아니오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" y="6108192"/>
            <a:ext cx="1083564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53657D"/>
                </a:solidFill>
                <a:latin typeface="맑은 고딕"/>
                <a:ea typeface="맑은 고딕"/>
              </a:rPr>
              <a:t>다음 1회차까지만 예약하며, 예약 한도에는 당겨쓰기를 적용하지 않습니다.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172B49"/>
                </a:solidFill>
                <a:latin typeface="맑은 고딕"/>
                <a:ea typeface="맑은 고딕"/>
              </a:rPr>
              <a:t>첫 로그인과 입사 정보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2471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온보딩이 완료되어야 다른 업무 화면을 사용할 수 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642823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3657D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56231"/>
            <a:ext cx="19202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172B49"/>
                </a:solidFill>
                <a:latin typeface="맑은 고딕"/>
                <a:ea typeface="맑은 고딕"/>
              </a:rPr>
              <a:t>Google 로그인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ko-KR">
                <a:solidFill>
                  <a:srgbClr val="172B49"/>
                </a:solidFill>
                <a:latin typeface="맑은 고딕"/>
                <a:ea typeface="맑은 고딕"/>
              </a:rPr>
              <a:t>회사 도메인 확인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1800" y="1856231"/>
            <a:ext cx="19202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ko-KR">
                <a:solidFill>
                  <a:srgbClr val="172B49"/>
                </a:solidFill>
                <a:latin typeface="맑은 고딕"/>
                <a:ea typeface="맑은 고딕"/>
              </a:rPr>
              <a:t>자동 가입·입력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72B49"/>
                </a:solidFill>
                <a:latin typeface="맑은 고딕"/>
                <a:ea typeface="맑은 고딕"/>
              </a:rPr>
              <a:t>생일·입사일·직급</a:t>
            </a:r>
          </a:p>
        </p:txBody>
      </p:sp>
      <p:sp>
        <p:nvSpPr>
          <p:cNvPr id="7" name="Diamond 6"/>
          <p:cNvSpPr/>
          <p:nvPr/>
        </p:nvSpPr>
        <p:spPr>
          <a:xfrm>
            <a:off x="5303520" y="1700784"/>
            <a:ext cx="1865376" cy="1115568"/>
          </a:xfrm>
          <a:prstGeom prst="diamond">
            <a:avLst/>
          </a:prstGeom>
          <a:solidFill>
            <a:srgbClr val="FFF2D3"/>
          </a:solidFill>
          <a:ln w="13970">
            <a:solidFill>
              <a:srgbClr val="8C6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lang="ko-KR">
                <a:solidFill>
                  <a:srgbClr val="8C610D"/>
                </a:solidFill>
                <a:latin typeface="맑은 고딕"/>
                <a:ea typeface="맑은 고딕"/>
              </a:rPr>
              <a:t>최근 90일 내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lang="ko-KR">
                <a:solidFill>
                  <a:srgbClr val="8C610D"/>
                </a:solidFill>
                <a:latin typeface="맑은 고딕"/>
                <a:ea typeface="맑은 고딕"/>
              </a:rPr>
              <a:t>입사일인가?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1847088"/>
            <a:ext cx="3776472" cy="813816"/>
          </a:xfrm>
          <a:prstGeom prst="rect">
            <a:avLst/>
          </a:prstGeom>
          <a:solidFill>
            <a:srgbClr val="E5F3ED"/>
          </a:solidFill>
          <a:ln w="12700">
            <a:solidFill>
              <a:srgbClr val="176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176B50"/>
                </a:solidFill>
                <a:latin typeface="맑은 고딕"/>
                <a:ea typeface="맑은 고딕"/>
              </a:rPr>
              <a:t>즉시 완료 · 연차 산정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2249424"/>
            <a:ext cx="411480" cy="0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92040" y="2249424"/>
            <a:ext cx="411480" cy="0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68896" y="2258568"/>
            <a:ext cx="512064" cy="0"/>
          </a:xfrm>
          <a:prstGeom prst="line">
            <a:avLst/>
          </a:prstGeom>
          <a:ln w="19050">
            <a:solidFill>
              <a:srgbClr val="176B5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87184" y="1865376"/>
            <a:ext cx="48463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76B50"/>
                </a:solidFill>
                <a:latin typeface="맑은 고딕"/>
                <a:ea typeface="맑은 고딕"/>
              </a:rPr>
              <a:t>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3752" y="3383280"/>
            <a:ext cx="2706624" cy="841248"/>
          </a:xfrm>
          <a:prstGeom prst="rect">
            <a:avLst/>
          </a:prstGeom>
          <a:solidFill>
            <a:srgbClr val="FFF2D3"/>
          </a:solidFill>
          <a:ln w="12700">
            <a:solidFill>
              <a:srgbClr val="8C6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8C610D"/>
                </a:solidFill>
                <a:latin typeface="맑은 고딕"/>
                <a:ea typeface="맑은 고딕"/>
              </a:rPr>
              <a:t>관리자 승인 대기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ko-KR">
                <a:solidFill>
                  <a:srgbClr val="8C610D"/>
                </a:solidFill>
                <a:latin typeface="맑은 고딕"/>
                <a:ea typeface="맑은 고딕"/>
              </a:rPr>
              <a:t>연차 0일 · 총관리자에게 메일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36208" y="2816352"/>
            <a:ext cx="0" cy="566928"/>
          </a:xfrm>
          <a:prstGeom prst="line">
            <a:avLst/>
          </a:prstGeom>
          <a:ln w="19050">
            <a:solidFill>
              <a:srgbClr val="8C610D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55080" y="2926080"/>
            <a:ext cx="950976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8C610D"/>
                </a:solidFill>
                <a:latin typeface="맑은 고딕"/>
                <a:ea typeface="맑은 고딕"/>
              </a:rPr>
              <a:t>아니오</a:t>
            </a:r>
          </a:p>
        </p:txBody>
      </p:sp>
      <p:sp>
        <p:nvSpPr>
          <p:cNvPr id="16" name="Diamond 15"/>
          <p:cNvSpPr/>
          <p:nvPr/>
        </p:nvSpPr>
        <p:spPr>
          <a:xfrm>
            <a:off x="8330183" y="3172968"/>
            <a:ext cx="1737360" cy="1261872"/>
          </a:xfrm>
          <a:prstGeom prst="diamond">
            <a:avLst/>
          </a:prstGeom>
          <a:solidFill>
            <a:srgbClr val="FFF2D3"/>
          </a:solidFill>
          <a:ln w="13970">
            <a:solidFill>
              <a:srgbClr val="8C6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ko-KR">
                <a:solidFill>
                  <a:srgbClr val="8C610D"/>
                </a:solidFill>
                <a:latin typeface="맑은 고딕"/>
                <a:ea typeface="맑은 고딕"/>
              </a:rPr>
              <a:t>관리자 결재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80375" y="3803904"/>
            <a:ext cx="749808" cy="0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729984" y="4974336"/>
            <a:ext cx="2633472" cy="832104"/>
          </a:xfrm>
          <a:prstGeom prst="rect">
            <a:avLst/>
          </a:prstGeom>
          <a:solidFill>
            <a:srgbClr val="E5F3ED"/>
          </a:solidFill>
          <a:ln w="12700">
            <a:solidFill>
              <a:srgbClr val="176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lang="ko-KR">
                <a:solidFill>
                  <a:srgbClr val="176B50"/>
                </a:solidFill>
                <a:latin typeface="맑은 고딕"/>
                <a:ea typeface="맑은 고딕"/>
              </a:rPr>
              <a:t>승인 · 연차 산정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76B50"/>
                </a:solidFill>
                <a:latin typeface="맑은 고딕"/>
                <a:ea typeface="맑은 고딕"/>
              </a:rPr>
              <a:t>본인에게 결과 메일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29216" y="4974336"/>
            <a:ext cx="1828800" cy="832104"/>
          </a:xfrm>
          <a:prstGeom prst="rect">
            <a:avLst/>
          </a:prstGeom>
          <a:solidFill>
            <a:srgbClr val="FAE9EC"/>
          </a:solidFill>
          <a:ln w="12700">
            <a:solidFill>
              <a:srgbClr val="A13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A13B4A"/>
                </a:solidFill>
                <a:latin typeface="맑은 고딕"/>
                <a:ea typeface="맑은 고딕"/>
              </a:rPr>
              <a:t>반려 · 재입력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ko-KR">
                <a:solidFill>
                  <a:srgbClr val="A13B4A"/>
                </a:solidFill>
                <a:latin typeface="맑은 고딕"/>
                <a:ea typeface="맑은 고딕"/>
              </a:rPr>
              <a:t>본인에게 메일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78240" y="4123944"/>
            <a:ext cx="0" cy="475488"/>
          </a:xfrm>
          <a:prstGeom prst="line">
            <a:avLst/>
          </a:prstGeom>
          <a:ln w="19050">
            <a:solidFill>
              <a:srgbClr val="176B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046720" y="4599432"/>
            <a:ext cx="731520" cy="0"/>
          </a:xfrm>
          <a:prstGeom prst="line">
            <a:avLst/>
          </a:prstGeom>
          <a:ln w="19050">
            <a:solidFill>
              <a:srgbClr val="176B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46720" y="4599432"/>
            <a:ext cx="0" cy="374904"/>
          </a:xfrm>
          <a:prstGeom prst="line">
            <a:avLst/>
          </a:prstGeom>
          <a:ln w="19050">
            <a:solidFill>
              <a:srgbClr val="176B5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406640" y="4297680"/>
            <a:ext cx="10972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76B50"/>
                </a:solidFill>
                <a:latin typeface="맑은 고딕"/>
                <a:ea typeface="맑은 고딕"/>
              </a:rPr>
              <a:t>승인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067544" y="3803904"/>
            <a:ext cx="576072" cy="0"/>
          </a:xfrm>
          <a:prstGeom prst="line">
            <a:avLst/>
          </a:prstGeom>
          <a:ln w="19050">
            <a:solidFill>
              <a:srgbClr val="A13B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643616" y="3803904"/>
            <a:ext cx="0" cy="1170432"/>
          </a:xfrm>
          <a:prstGeom prst="line">
            <a:avLst/>
          </a:prstGeom>
          <a:ln w="19050">
            <a:solidFill>
              <a:srgbClr val="A13B4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671048" y="427939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A13B4A"/>
                </a:solidFill>
                <a:latin typeface="맑은 고딕"/>
                <a:ea typeface="맑은 고딕"/>
              </a:rPr>
              <a:t>반려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3337560"/>
            <a:ext cx="3721608" cy="2331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53657D"/>
                </a:solidFill>
                <a:latin typeface="맑은 고딕"/>
                <a:ea typeface="맑은 고딕"/>
              </a:rPr>
              <a:t>자동 승인 기간은 관리자 설정으로 조정합니다.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53657D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53657D"/>
                </a:solidFill>
                <a:latin typeface="맑은 고딕"/>
                <a:ea typeface="맑은 고딕"/>
              </a:rPr>
              <a:t>수정 허용 시, 대기 중 입사일·생일을 1회 수정할 수 있습니다. 수정 후 다시 판정하며 총관리자에게 알립니다.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062472"/>
            <a:ext cx="10927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53657D"/>
                </a:solidFill>
                <a:latin typeface="맑은 고딕"/>
                <a:ea typeface="맑은 고딕"/>
              </a:rPr>
              <a:t>미래 입사일은 입력할 수 없습니다. 반려 메일에는 반려된 입사일을 함께 안내합니다.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172B49"/>
                </a:solidFill>
                <a:latin typeface="맑은 고딕"/>
                <a:ea typeface="맑은 고딕"/>
              </a:rPr>
              <a:t>복리후생 신청과 보너스 연차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2471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정책에 따른 신청이 승인되면 보너스 연차가 쌓입니다.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642823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3657D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944" y="2267712"/>
            <a:ext cx="2084831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172B49"/>
                </a:solidFill>
                <a:latin typeface="맑은 고딕"/>
                <a:ea typeface="맑은 고딕"/>
              </a:rPr>
              <a:t>정책 선택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172B49"/>
                </a:solidFill>
                <a:latin typeface="맑은 고딕"/>
                <a:ea typeface="맑은 고딕"/>
              </a:rPr>
              <a:t>경조·포상 등</a:t>
            </a:r>
          </a:p>
        </p:txBody>
      </p:sp>
      <p:sp>
        <p:nvSpPr>
          <p:cNvPr id="6" name="Rectangle 5"/>
          <p:cNvSpPr/>
          <p:nvPr/>
        </p:nvSpPr>
        <p:spPr>
          <a:xfrm>
            <a:off x="3328416" y="2267712"/>
            <a:ext cx="231343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172B49"/>
                </a:solidFill>
                <a:latin typeface="맑은 고딕"/>
                <a:ea typeface="맑은 고딕"/>
              </a:rPr>
              <a:t>사유 입력·신청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172B49"/>
                </a:solidFill>
                <a:latin typeface="맑은 고딕"/>
                <a:ea typeface="맑은 고딕"/>
              </a:rPr>
              <a:t>승인자 확인</a:t>
            </a:r>
          </a:p>
        </p:txBody>
      </p:sp>
      <p:sp>
        <p:nvSpPr>
          <p:cNvPr id="7" name="Diamond 6"/>
          <p:cNvSpPr/>
          <p:nvPr/>
        </p:nvSpPr>
        <p:spPr>
          <a:xfrm>
            <a:off x="6254496" y="2039112"/>
            <a:ext cx="1892807" cy="1417320"/>
          </a:xfrm>
          <a:prstGeom prst="diamond">
            <a:avLst/>
          </a:prstGeom>
          <a:solidFill>
            <a:srgbClr val="FFF2D3"/>
          </a:solidFill>
          <a:ln w="13970">
            <a:solidFill>
              <a:srgbClr val="8C6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8C610D"/>
                </a:solidFill>
                <a:latin typeface="맑은 고딕"/>
                <a:ea typeface="맑은 고딕"/>
              </a:rPr>
              <a:t>결재 결과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0" y="1837943"/>
            <a:ext cx="2633472" cy="1005840"/>
          </a:xfrm>
          <a:prstGeom prst="rect">
            <a:avLst/>
          </a:prstGeom>
          <a:solidFill>
            <a:srgbClr val="E5F3ED"/>
          </a:solidFill>
          <a:ln w="12700">
            <a:solidFill>
              <a:srgbClr val="176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176B50"/>
                </a:solidFill>
                <a:latin typeface="맑은 고딕"/>
                <a:ea typeface="맑은 고딕"/>
              </a:rPr>
              <a:t>승인 · 보너스 가산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3767328"/>
            <a:ext cx="2633472" cy="1005840"/>
          </a:xfrm>
          <a:prstGeom prst="rect">
            <a:avLst/>
          </a:prstGeom>
          <a:solidFill>
            <a:srgbClr val="FAE9EC"/>
          </a:solidFill>
          <a:ln w="12700">
            <a:solidFill>
              <a:srgbClr val="A13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A13B4A"/>
                </a:solidFill>
                <a:latin typeface="맑은 고딕"/>
                <a:ea typeface="맑은 고딕"/>
              </a:rPr>
              <a:t>반려 · 가산 없음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79776" y="2743200"/>
            <a:ext cx="548640" cy="0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641848" y="2743200"/>
            <a:ext cx="612648" cy="0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47304" y="2743200"/>
            <a:ext cx="356616" cy="0"/>
          </a:xfrm>
          <a:prstGeom prst="line">
            <a:avLst/>
          </a:prstGeom>
          <a:ln w="19050">
            <a:solidFill>
              <a:srgbClr val="176B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503920" y="2340864"/>
            <a:ext cx="0" cy="402336"/>
          </a:xfrm>
          <a:prstGeom prst="line">
            <a:avLst/>
          </a:prstGeom>
          <a:ln w="19050">
            <a:solidFill>
              <a:srgbClr val="176B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03920" y="2340864"/>
            <a:ext cx="365760" cy="0"/>
          </a:xfrm>
          <a:prstGeom prst="line">
            <a:avLst/>
          </a:prstGeom>
          <a:ln w="19050">
            <a:solidFill>
              <a:srgbClr val="176B5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65592" y="194767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76B50"/>
                </a:solidFill>
                <a:latin typeface="맑은 고딕"/>
                <a:ea typeface="맑은 고딕"/>
              </a:rPr>
              <a:t>승인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00900" y="3456432"/>
            <a:ext cx="0" cy="813816"/>
          </a:xfrm>
          <a:prstGeom prst="line">
            <a:avLst/>
          </a:prstGeom>
          <a:ln w="19050">
            <a:solidFill>
              <a:srgbClr val="A13B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200900" y="4270248"/>
            <a:ext cx="1668780" cy="0"/>
          </a:xfrm>
          <a:prstGeom prst="line">
            <a:avLst/>
          </a:prstGeom>
          <a:ln w="19050">
            <a:solidFill>
              <a:srgbClr val="A13B4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909560" y="3867912"/>
            <a:ext cx="7772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A13B4A"/>
                </a:solidFill>
                <a:latin typeface="맑은 고딕"/>
                <a:ea typeface="맑은 고딕"/>
              </a:rPr>
              <a:t>반려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023360"/>
            <a:ext cx="557784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53657D"/>
                </a:solidFill>
                <a:latin typeface="맑은 고딕"/>
                <a:ea typeface="맑은 고딕"/>
              </a:rPr>
              <a:t>신청 메일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53657D"/>
                </a:solidFill>
                <a:latin typeface="맑은 고딕"/>
                <a:ea typeface="맑은 고딕"/>
              </a:rPr>
              <a:t>신청자 + 기본·서브 승인자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53657D"/>
                </a:solidFill>
                <a:latin typeface="맑은 고딕"/>
                <a:ea typeface="맑은 고딕"/>
              </a:rPr>
              <a:t/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53657D"/>
                </a:solidFill>
                <a:latin typeface="맑은 고딕"/>
                <a:ea typeface="맑은 고딕"/>
              </a:rPr>
              <a:t>결재 결과 메일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53657D"/>
                </a:solidFill>
                <a:latin typeface="맑은 고딕"/>
                <a:ea typeface="맑은 고딕"/>
              </a:rPr>
              <a:t>위 수신자 + 재직 총관리자 전원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062472"/>
            <a:ext cx="10927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53657D"/>
                </a:solidFill>
                <a:latin typeface="맑은 고딕"/>
                <a:ea typeface="맑은 고딕"/>
              </a:rPr>
              <a:t>관리자는 복리후생 정책과 정책별 가산 일수를 화면에서 관리합니다.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172B49"/>
                </a:solidFill>
                <a:latin typeface="맑은 고딕"/>
                <a:ea typeface="맑은 고딕"/>
              </a:rPr>
              <a:t>매일 00:10 자동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2471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한국 시간 기준으로 다섯 작업을 정해진 순서대로 실행합니다.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642823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3657D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67712"/>
            <a:ext cx="1874519" cy="1737360"/>
          </a:xfrm>
          <a:prstGeom prst="rect">
            <a:avLst/>
          </a:prstGeom>
          <a:solidFill>
            <a:srgbClr val="EAF0FA"/>
          </a:solidFill>
          <a:ln w="12700">
            <a:solidFill>
              <a:srgbClr val="245B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245BCE"/>
                </a:solidFill>
                <a:latin typeface="맑은 고딕"/>
                <a:ea typeface="맑은 고딕"/>
              </a:rPr>
              <a:t>① 기산일 리셋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245BCE"/>
                </a:solidFill>
                <a:latin typeface="맑은 고딕"/>
                <a:ea typeface="맑은 고딕"/>
              </a:rPr>
              <a:t>근속별 새 연차 부여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245BCE"/>
                </a:solidFill>
                <a:latin typeface="맑은 고딕"/>
                <a:ea typeface="맑은 고딕"/>
              </a:rPr>
              <a:t>당겨쓴 일수 상환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14600" y="3136392"/>
            <a:ext cx="384048" cy="0"/>
          </a:xfrm>
          <a:prstGeom prst="line">
            <a:avLst/>
          </a:prstGeom>
          <a:ln w="19050">
            <a:solidFill>
              <a:srgbClr val="245BC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898648" y="2267712"/>
            <a:ext cx="1874519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172B49"/>
                </a:solidFill>
                <a:latin typeface="맑은 고딕"/>
                <a:ea typeface="맑은 고딕"/>
              </a:rPr>
              <a:t>② 월차 적립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72B49"/>
                </a:solidFill>
                <a:latin typeface="맑은 고딕"/>
                <a:ea typeface="맑은 고딕"/>
              </a:rPr>
              <a:t>1년 미만 매월 1일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72B49"/>
                </a:solidFill>
                <a:latin typeface="맑은 고딕"/>
                <a:ea typeface="맑은 고딕"/>
              </a:rPr>
              <a:t>입사일 + N개월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73168" y="3136392"/>
            <a:ext cx="384048" cy="0"/>
          </a:xfrm>
          <a:prstGeom prst="line">
            <a:avLst/>
          </a:prstGeom>
          <a:ln w="19050">
            <a:solidFill>
              <a:srgbClr val="245BC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157216" y="2267712"/>
            <a:ext cx="1874519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172B49"/>
                </a:solidFill>
                <a:latin typeface="맑은 고딕"/>
                <a:ea typeface="맑은 고딕"/>
              </a:rPr>
              <a:t>③ 생일 반차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72B49"/>
                </a:solidFill>
                <a:latin typeface="맑은 고딕"/>
                <a:ea typeface="맑은 고딕"/>
              </a:rPr>
              <a:t>보너스 0.5일 가산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72B49"/>
                </a:solidFill>
                <a:latin typeface="맑은 고딕"/>
                <a:ea typeface="맑은 고딕"/>
              </a:rPr>
              <a:t>본인·총관리자 메일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31736" y="3136392"/>
            <a:ext cx="384047" cy="0"/>
          </a:xfrm>
          <a:prstGeom prst="line">
            <a:avLst/>
          </a:prstGeom>
          <a:ln w="19050">
            <a:solidFill>
              <a:srgbClr val="245BC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415783" y="2267712"/>
            <a:ext cx="1874519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172B49"/>
                </a:solidFill>
                <a:latin typeface="맑은 고딕"/>
                <a:ea typeface="맑은 고딕"/>
              </a:rPr>
              <a:t>④ 소진 안내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72B49"/>
                </a:solidFill>
                <a:latin typeface="맑은 고딕"/>
                <a:ea typeface="맑은 고딕"/>
              </a:rPr>
              <a:t>잔여 있는 사원에게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72B49"/>
                </a:solidFill>
                <a:latin typeface="맑은 고딕"/>
                <a:ea typeface="맑은 고딕"/>
              </a:rPr>
              <a:t>설정 주기별 메일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290304" y="3136392"/>
            <a:ext cx="384048" cy="0"/>
          </a:xfrm>
          <a:prstGeom prst="line">
            <a:avLst/>
          </a:prstGeom>
          <a:ln w="19050">
            <a:solidFill>
              <a:srgbClr val="245BC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674352" y="2267712"/>
            <a:ext cx="1874519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172B49"/>
                </a:solidFill>
                <a:latin typeface="맑은 고딕"/>
                <a:ea typeface="맑은 고딕"/>
              </a:rPr>
              <a:t>⑤ 퇴직자 파기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72B49"/>
                </a:solidFill>
                <a:latin typeface="맑은 고딕"/>
                <a:ea typeface="맑은 고딕"/>
              </a:rPr>
              <a:t>자동 모드만 실행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72B49"/>
                </a:solidFill>
                <a:latin typeface="맑은 고딕"/>
                <a:ea typeface="맑은 고딕"/>
              </a:rPr>
              <a:t>보존·예고 확인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" y="4608576"/>
            <a:ext cx="10789920" cy="0"/>
          </a:xfrm>
          <a:prstGeom prst="line">
            <a:avLst/>
          </a:prstGeom>
          <a:ln w="8890">
            <a:solidFill>
              <a:srgbClr val="CCD6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4944" y="4901184"/>
            <a:ext cx="5047488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172B49"/>
                </a:solidFill>
                <a:latin typeface="맑은 고딕"/>
                <a:ea typeface="맑은 고딕"/>
              </a:rPr>
              <a:t>순서를 고정하는 이유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172B49"/>
                </a:solidFill>
                <a:latin typeface="맑은 고딕"/>
                <a:ea typeface="맑은 고딕"/>
              </a:rPr>
              <a:t>잔액을 갱신한 뒤 생일 반차와 안내를 처리합니다.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4901184"/>
            <a:ext cx="5184648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172B49"/>
                </a:solidFill>
                <a:latin typeface="맑은 고딕"/>
                <a:ea typeface="맑은 고딕"/>
              </a:rPr>
              <a:t>사원 1명씩 독립 처리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ko-KR">
                <a:solidFill>
                  <a:srgbClr val="172B49"/>
                </a:solidFill>
                <a:latin typeface="맑은 고딕"/>
                <a:ea typeface="맑은 고딕"/>
              </a:rPr>
              <a:t>한 사원의 오류가 다른 사원에게 번지지 않습니다.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062472"/>
            <a:ext cx="10927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53657D"/>
                </a:solidFill>
                <a:latin typeface="맑은 고딕"/>
                <a:ea typeface="맑은 고딕"/>
              </a:rPr>
              <a:t>소진 안내는 같은 주기 중복 발송을 막습니다. 자동 파기 30일 예고·결과 메일은 총관리자에게 보냅니다.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172B49"/>
                </a:solidFill>
                <a:latin typeface="맑은 고딕"/>
                <a:ea typeface="맑은 고딕"/>
              </a:rPr>
              <a:t>이메일이 나가는 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2471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업무 결과를 먼저 기록한 뒤 발송하며, 실패 이력은 자동 재시도와 수동 재발송에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642823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3657D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56816"/>
            <a:ext cx="200253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172B49"/>
                </a:solidFill>
                <a:latin typeface="맑은 고딕"/>
                <a:ea typeface="맑은 고딕"/>
              </a:rPr>
              <a:t>업무 사건 발생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ko-KR">
                <a:solidFill>
                  <a:srgbClr val="172B49"/>
                </a:solidFill>
                <a:latin typeface="맑은 고딕"/>
                <a:ea typeface="맑은 고딕"/>
              </a:rPr>
              <a:t>신청·결재·입사·생일 등</a:t>
            </a:r>
          </a:p>
        </p:txBody>
      </p:sp>
      <p:sp>
        <p:nvSpPr>
          <p:cNvPr id="6" name="Rectangle 5"/>
          <p:cNvSpPr/>
          <p:nvPr/>
        </p:nvSpPr>
        <p:spPr>
          <a:xfrm>
            <a:off x="3154680" y="1956816"/>
            <a:ext cx="2103120" cy="914400"/>
          </a:xfrm>
          <a:prstGeom prst="rect">
            <a:avLst/>
          </a:prstGeom>
          <a:solidFill>
            <a:srgbClr val="EAF0FA"/>
          </a:solidFill>
          <a:ln w="12700">
            <a:solidFill>
              <a:srgbClr val="245B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245BCE"/>
                </a:solidFill>
                <a:latin typeface="맑은 고딕"/>
                <a:ea typeface="맑은 고딕"/>
              </a:rPr>
              <a:t>발송 대기 기록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245BCE"/>
                </a:solidFill>
                <a:latin typeface="맑은 고딕"/>
                <a:ea typeface="맑은 고딕"/>
              </a:rPr>
              <a:t>업무 저장과 함께 적재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9864" y="1956816"/>
            <a:ext cx="216712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172B49"/>
                </a:solidFill>
                <a:latin typeface="맑은 고딕"/>
                <a:ea typeface="맑은 고딕"/>
              </a:rPr>
              <a:t>발송 중 선점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72B49"/>
                </a:solidFill>
                <a:latin typeface="맑은 고딕"/>
                <a:ea typeface="맑은 고딕"/>
              </a:rPr>
              <a:t>중복 발송 방지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1956816"/>
            <a:ext cx="30906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172B49"/>
                </a:solidFill>
                <a:latin typeface="맑은 고딕"/>
                <a:ea typeface="맑은 고딕"/>
              </a:rPr>
              <a:t>발송 계정 선택 → SMTP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72B49"/>
                </a:solidFill>
                <a:latin typeface="맑은 고딕"/>
                <a:ea typeface="맑은 고딕"/>
              </a:rPr>
              <a:t>화면 저장 계정 우선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88336" y="2414016"/>
            <a:ext cx="466344" cy="0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57800" y="2414016"/>
            <a:ext cx="512064" cy="0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936992" y="2414016"/>
            <a:ext cx="475488" cy="0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779008" y="3145536"/>
            <a:ext cx="2148840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53657D"/>
                </a:solidFill>
                <a:latin typeface="맑은 고딕"/>
                <a:ea typeface="맑은 고딕"/>
              </a:rPr>
              <a:t>저장 계정이 없으면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53657D"/>
                </a:solidFill>
                <a:latin typeface="맑은 고딕"/>
                <a:ea typeface="맑은 고딕"/>
              </a:rPr>
              <a:t>서버 환경 설정 사용</a:t>
            </a:r>
          </a:p>
        </p:txBody>
      </p:sp>
      <p:sp>
        <p:nvSpPr>
          <p:cNvPr id="13" name="Diamond 12"/>
          <p:cNvSpPr/>
          <p:nvPr/>
        </p:nvSpPr>
        <p:spPr>
          <a:xfrm>
            <a:off x="9070848" y="3438144"/>
            <a:ext cx="1792224" cy="1188720"/>
          </a:xfrm>
          <a:prstGeom prst="diamond">
            <a:avLst/>
          </a:prstGeom>
          <a:solidFill>
            <a:srgbClr val="FFF2D3"/>
          </a:solidFill>
          <a:ln w="13970">
            <a:solidFill>
              <a:srgbClr val="8C6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ko-KR">
                <a:solidFill>
                  <a:srgbClr val="8C610D"/>
                </a:solidFill>
                <a:latin typeface="맑은 고딕"/>
                <a:ea typeface="맑은 고딕"/>
              </a:rPr>
              <a:t>발송 성공?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66960" y="2871216"/>
            <a:ext cx="0" cy="566928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119872" y="5138928"/>
            <a:ext cx="3383280" cy="585216"/>
          </a:xfrm>
          <a:prstGeom prst="rect">
            <a:avLst/>
          </a:prstGeom>
          <a:solidFill>
            <a:srgbClr val="E5F3ED"/>
          </a:solidFill>
          <a:ln w="12700">
            <a:solidFill>
              <a:srgbClr val="176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176B50"/>
                </a:solidFill>
                <a:latin typeface="맑은 고딕"/>
                <a:ea typeface="맑은 고딕"/>
              </a:rPr>
              <a:t>발송 완료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966960" y="4626864"/>
            <a:ext cx="0" cy="512064"/>
          </a:xfrm>
          <a:prstGeom prst="line">
            <a:avLst/>
          </a:prstGeom>
          <a:ln w="19050">
            <a:solidFill>
              <a:srgbClr val="176B5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076688" y="4718304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76B50"/>
                </a:solidFill>
                <a:latin typeface="맑은 고딕"/>
                <a:ea typeface="맑은 고딕"/>
              </a:rPr>
              <a:t>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3858768"/>
            <a:ext cx="2999232" cy="768096"/>
          </a:xfrm>
          <a:prstGeom prst="rect">
            <a:avLst/>
          </a:prstGeom>
          <a:solidFill>
            <a:srgbClr val="FAE9EC"/>
          </a:solidFill>
          <a:ln w="12700">
            <a:solidFill>
              <a:srgbClr val="A13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A13B4A"/>
                </a:solidFill>
                <a:latin typeface="맑은 고딕"/>
                <a:ea typeface="맑은 고딕"/>
              </a:rPr>
              <a:t>실패 이력 · 자동 재시도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641080" y="4032504"/>
            <a:ext cx="429768" cy="0"/>
          </a:xfrm>
          <a:prstGeom prst="line">
            <a:avLst/>
          </a:prstGeom>
          <a:ln w="19050">
            <a:solidFill>
              <a:srgbClr val="A13B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41080" y="4032504"/>
            <a:ext cx="0" cy="210312"/>
          </a:xfrm>
          <a:prstGeom prst="line">
            <a:avLst/>
          </a:prstGeom>
          <a:ln w="19050">
            <a:solidFill>
              <a:srgbClr val="A13B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211312" y="4242816"/>
            <a:ext cx="429768" cy="0"/>
          </a:xfrm>
          <a:prstGeom prst="line">
            <a:avLst/>
          </a:prstGeom>
          <a:ln w="19050">
            <a:solidFill>
              <a:srgbClr val="A13B4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47888" y="3483864"/>
            <a:ext cx="8229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A13B4A"/>
                </a:solidFill>
                <a:latin typeface="맑은 고딕"/>
                <a:ea typeface="맑은 고딕"/>
              </a:rPr>
              <a:t>아니오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794760"/>
            <a:ext cx="3931920" cy="18745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172B49"/>
                </a:solidFill>
                <a:latin typeface="맑은 고딕"/>
                <a:ea typeface="맑은 고딕"/>
              </a:rPr>
              <a:t>관리자가 할 수 있는 일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172B49"/>
                </a:solidFill>
                <a:latin typeface="맑은 고딕"/>
                <a:ea typeface="맑은 고딕"/>
              </a:rPr>
              <a:t>제목·본문·변수 편집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172B49"/>
                </a:solidFill>
                <a:latin typeface="맑은 고딕"/>
                <a:ea typeface="맑은 고딕"/>
              </a:rPr>
              <a:t>대상 선택·일괄 발송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172B49"/>
                </a:solidFill>
                <a:latin typeface="맑은 고딕"/>
                <a:ea typeface="맑은 고딕"/>
              </a:rPr>
              <a:t>이력 조회·실패 건 수동 재발송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656" y="4919472"/>
            <a:ext cx="2633472" cy="8595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53657D"/>
                </a:solidFill>
                <a:latin typeface="맑은 고딕"/>
                <a:ea typeface="맑은 고딕"/>
              </a:rPr>
              <a:t>15분마다 재시도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53657D"/>
                </a:solidFill>
                <a:latin typeface="맑은 고딕"/>
                <a:ea typeface="맑은 고딕"/>
              </a:rPr>
              <a:t>최초 포함 총 3회 실패 시 중단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062472"/>
            <a:ext cx="10927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53657D"/>
                </a:solidFill>
                <a:latin typeface="맑은 고딕"/>
                <a:ea typeface="맑은 고딕"/>
              </a:rPr>
              <a:t>메일 발송 경로는 구현되어 있으며, 실제 환경 설정을 마친 뒤 최종 수신 확인이 필요합니다.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172B49"/>
                </a:solidFill>
                <a:latin typeface="맑은 고딕"/>
                <a:ea typeface="맑은 고딕"/>
              </a:rPr>
              <a:t>퇴직 이후의 개인정보와 재입사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2471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퇴직 처리 후 복구·재입사·개인정보 파기를 구분해 관리합니다.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642823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3657D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093976"/>
            <a:ext cx="2039112" cy="932688"/>
          </a:xfrm>
          <a:prstGeom prst="rect">
            <a:avLst/>
          </a:prstGeom>
          <a:solidFill>
            <a:srgbClr val="EAF0FA"/>
          </a:solidFill>
          <a:ln w="12700">
            <a:solidFill>
              <a:srgbClr val="245B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245BCE"/>
                </a:solidFill>
                <a:latin typeface="맑은 고딕"/>
                <a:ea typeface="맑은 고딕"/>
              </a:rPr>
              <a:t>퇴직 처리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45BCE"/>
                </a:solidFill>
                <a:latin typeface="맑은 고딕"/>
                <a:ea typeface="맑은 고딕"/>
              </a:rPr>
              <a:t>즉시 로그인 차단</a:t>
            </a:r>
          </a:p>
        </p:txBody>
      </p:sp>
      <p:sp>
        <p:nvSpPr>
          <p:cNvPr id="6" name="Rectangle 5"/>
          <p:cNvSpPr/>
          <p:nvPr/>
        </p:nvSpPr>
        <p:spPr>
          <a:xfrm>
            <a:off x="3447288" y="1783080"/>
            <a:ext cx="3099816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172B49"/>
                </a:solidFill>
                <a:latin typeface="맑은 고딕"/>
                <a:ea typeface="맑은 고딕"/>
              </a:rPr>
              <a:t>퇴직 처리 복구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72B49"/>
                </a:solidFill>
                <a:latin typeface="맑은 고딕"/>
                <a:ea typeface="맑은 고딕"/>
              </a:rPr>
              <a:t>잘못된 퇴직 처리 되돌리기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3447288" y="3154680"/>
            <a:ext cx="3099816" cy="960120"/>
          </a:xfrm>
          <a:prstGeom prst="rect">
            <a:avLst/>
          </a:prstGeom>
          <a:solidFill>
            <a:srgbClr val="E5F3ED"/>
          </a:solidFill>
          <a:ln w="12700">
            <a:solidFill>
              <a:srgbClr val="176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176B50"/>
                </a:solidFill>
                <a:latin typeface="맑은 고딕"/>
                <a:ea typeface="맑은 고딕"/>
              </a:rPr>
              <a:t>파기 전 재입사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ko-KR">
                <a:solidFill>
                  <a:srgbClr val="176B50"/>
                </a:solidFill>
                <a:latin typeface="맑은 고딕"/>
                <a:ea typeface="맑은 고딕"/>
              </a:rPr>
              <a:t>이전 근속 보존 · 새 입사일 적용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3447288" y="4782312"/>
            <a:ext cx="3099816" cy="914400"/>
          </a:xfrm>
          <a:prstGeom prst="rect">
            <a:avLst/>
          </a:prstGeom>
          <a:solidFill>
            <a:srgbClr val="FFF2D3"/>
          </a:solidFill>
          <a:ln w="12700">
            <a:solidFill>
              <a:srgbClr val="8C6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8C610D"/>
                </a:solidFill>
                <a:latin typeface="맑은 고딕"/>
                <a:ea typeface="맑은 고딕"/>
              </a:rPr>
              <a:t>보존 기간 후 파기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8C610D"/>
                </a:solidFill>
                <a:latin typeface="맑은 고딕"/>
                <a:ea typeface="맑은 고딕"/>
              </a:rPr>
              <a:t>수동 또는 자동 · 보류 가능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97480" y="2560320"/>
            <a:ext cx="393192" cy="0"/>
          </a:xfrm>
          <a:prstGeom prst="line">
            <a:avLst/>
          </a:prstGeom>
          <a:ln w="19050">
            <a:solidFill>
              <a:srgbClr val="8C9C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090672" y="2194560"/>
            <a:ext cx="0" cy="365760"/>
          </a:xfrm>
          <a:prstGeom prst="line">
            <a:avLst/>
          </a:prstGeom>
          <a:ln w="19050">
            <a:solidFill>
              <a:srgbClr val="8C9C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090672" y="2194560"/>
            <a:ext cx="356616" cy="0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90672" y="2560320"/>
            <a:ext cx="0" cy="1078992"/>
          </a:xfrm>
          <a:prstGeom prst="line">
            <a:avLst/>
          </a:prstGeom>
          <a:ln w="19050">
            <a:solidFill>
              <a:srgbClr val="176B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090672" y="3639312"/>
            <a:ext cx="356616" cy="0"/>
          </a:xfrm>
          <a:prstGeom prst="line">
            <a:avLst/>
          </a:prstGeom>
          <a:ln w="19050">
            <a:solidFill>
              <a:srgbClr val="176B5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090672" y="3639312"/>
            <a:ext cx="0" cy="1600200"/>
          </a:xfrm>
          <a:prstGeom prst="line">
            <a:avLst/>
          </a:prstGeom>
          <a:ln w="19050">
            <a:solidFill>
              <a:srgbClr val="8C610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90672" y="5239512"/>
            <a:ext cx="356616" cy="0"/>
          </a:xfrm>
          <a:prstGeom prst="line">
            <a:avLst/>
          </a:prstGeom>
          <a:ln w="19050">
            <a:solidFill>
              <a:srgbClr val="8C610D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59752" y="1810512"/>
            <a:ext cx="4334256" cy="8321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ko-KR">
                <a:solidFill>
                  <a:srgbClr val="53657D"/>
                </a:solidFill>
                <a:latin typeface="맑은 고딕"/>
                <a:ea typeface="맑은 고딕"/>
              </a:rPr>
              <a:t>로그인 가능 상태로 복구합니다.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ko-KR">
                <a:solidFill>
                  <a:srgbClr val="53657D"/>
                </a:solidFill>
                <a:latin typeface="맑은 고딕"/>
                <a:ea typeface="맑은 고딕"/>
              </a:rPr>
              <a:t>팀장직·이관된 결재는 자동 복구하지 않습니다.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9752" y="3127248"/>
            <a:ext cx="4334256" cy="10241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ko-KR">
                <a:solidFill>
                  <a:srgbClr val="53657D"/>
                </a:solidFill>
                <a:latin typeface="맑은 고딕"/>
                <a:ea typeface="맑은 고딕"/>
              </a:rPr>
              <a:t>연차는 0일에서 새로 시작합니다.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ko-KR">
                <a:solidFill>
                  <a:srgbClr val="53657D"/>
                </a:solidFill>
                <a:latin typeface="맑은 고딕"/>
                <a:ea typeface="맑은 고딕"/>
              </a:rPr>
              <a:t>과거 근속 구간은 별도로 남깁니다.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ko-KR">
                <a:solidFill>
                  <a:srgbClr val="53657D"/>
                </a:solidFill>
                <a:latin typeface="맑은 고딕"/>
                <a:ea typeface="맑은 고딕"/>
              </a:rPr>
              <a:t>파기된 계정은 신규 가입이 필요합니다.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4572000"/>
            <a:ext cx="4379976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ko-KR">
                <a:solidFill>
                  <a:srgbClr val="53657D"/>
                </a:solidFill>
                <a:latin typeface="맑은 고딕"/>
                <a:ea typeface="맑은 고딕"/>
              </a:rPr>
              <a:t>기본 보존 3년 · 자동 파기는 30일 예고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ko-KR">
                <a:solidFill>
                  <a:srgbClr val="53657D"/>
                </a:solidFill>
                <a:latin typeface="맑은 고딕"/>
                <a:ea typeface="맑은 고딕"/>
              </a:rPr>
              <a:t>계정을 익명화하고 신청·메일 본문을 지웁니다.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lang="ko-KR">
                <a:solidFill>
                  <a:srgbClr val="53657D"/>
                </a:solidFill>
                <a:latin typeface="맑은 고딕"/>
                <a:ea typeface="맑은 고딕"/>
              </a:rPr>
              <a:t>파기 처리 기록은 보존합니다.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062472"/>
            <a:ext cx="10927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53657D"/>
                </a:solidFill>
                <a:latin typeface="맑은 고딕"/>
                <a:ea typeface="맑은 고딕"/>
              </a:rPr>
              <a:t>본인 계정의 퇴직 처리는 막습니다. 파기된 개인정보는 퇴직 복구나 재입사로 되살릴 수 없습니다.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172B49"/>
                </a:solidFill>
                <a:latin typeface="맑은 고딕"/>
                <a:ea typeface="맑은 고딕"/>
              </a:rPr>
              <a:t>권한과 접근 제어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2471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사원·팀장·총관리자의 권한을 서버가 요청마다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642823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3657D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2002536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172B49"/>
                </a:solidFill>
                <a:latin typeface="맑은 고딕"/>
                <a:ea typeface="맑은 고딕"/>
              </a:rPr>
              <a:t>화면에서 요청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172B49"/>
                </a:solidFill>
                <a:latin typeface="맑은 고딕"/>
                <a:ea typeface="맑은 고딕"/>
              </a:rPr>
              <a:t>로그인 쿠키 전달</a:t>
            </a:r>
          </a:p>
        </p:txBody>
      </p:sp>
      <p:sp>
        <p:nvSpPr>
          <p:cNvPr id="6" name="Rectangle 5"/>
          <p:cNvSpPr/>
          <p:nvPr/>
        </p:nvSpPr>
        <p:spPr>
          <a:xfrm>
            <a:off x="3136392" y="2002536"/>
            <a:ext cx="2880360" cy="914400"/>
          </a:xfrm>
          <a:prstGeom prst="rect">
            <a:avLst/>
          </a:prstGeom>
          <a:solidFill>
            <a:srgbClr val="EAF0FA"/>
          </a:solidFill>
          <a:ln w="12700">
            <a:solidFill>
              <a:srgbClr val="245B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245BCE"/>
                </a:solidFill>
                <a:latin typeface="맑은 고딕"/>
                <a:ea typeface="맑은 고딕"/>
              </a:rPr>
              <a:t>서버가 최신 정보 확인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245BCE"/>
                </a:solidFill>
                <a:latin typeface="맑은 고딕"/>
                <a:ea typeface="맑은 고딕"/>
              </a:rPr>
              <a:t>재직 · 역할 · 온보딩 상태</a:t>
            </a:r>
          </a:p>
        </p:txBody>
      </p:sp>
      <p:sp>
        <p:nvSpPr>
          <p:cNvPr id="7" name="Diamond 6"/>
          <p:cNvSpPr/>
          <p:nvPr/>
        </p:nvSpPr>
        <p:spPr>
          <a:xfrm>
            <a:off x="6592824" y="1828800"/>
            <a:ext cx="1901952" cy="1280160"/>
          </a:xfrm>
          <a:prstGeom prst="diamond">
            <a:avLst/>
          </a:prstGeom>
          <a:solidFill>
            <a:srgbClr val="FFF2D3"/>
          </a:solidFill>
          <a:ln w="13970">
            <a:solidFill>
              <a:srgbClr val="8C61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ko-KR">
                <a:solidFill>
                  <a:srgbClr val="8C610D"/>
                </a:solidFill>
                <a:latin typeface="맑은 고딕"/>
                <a:ea typeface="맑은 고딕"/>
              </a:rPr>
              <a:t>접근 가능?</a:t>
            </a:r>
          </a:p>
        </p:txBody>
      </p:sp>
      <p:sp>
        <p:nvSpPr>
          <p:cNvPr id="8" name="Rectangle 7"/>
          <p:cNvSpPr/>
          <p:nvPr/>
        </p:nvSpPr>
        <p:spPr>
          <a:xfrm>
            <a:off x="9198864" y="1773936"/>
            <a:ext cx="2295144" cy="813816"/>
          </a:xfrm>
          <a:prstGeom prst="rect">
            <a:avLst/>
          </a:prstGeom>
          <a:solidFill>
            <a:srgbClr val="E5F3ED"/>
          </a:solidFill>
          <a:ln w="12700">
            <a:solidFill>
              <a:srgbClr val="176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ko-KR">
                <a:solidFill>
                  <a:srgbClr val="176B50"/>
                </a:solidFill>
                <a:latin typeface="맑은 고딕"/>
                <a:ea typeface="맑은 고딕"/>
              </a:rPr>
              <a:t>업무 처리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9198864" y="3593592"/>
            <a:ext cx="2295144" cy="813816"/>
          </a:xfrm>
          <a:prstGeom prst="rect">
            <a:avLst/>
          </a:prstGeom>
          <a:solidFill>
            <a:srgbClr val="FAE9EC"/>
          </a:solidFill>
          <a:ln w="12700">
            <a:solidFill>
              <a:srgbClr val="A13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A13B4A"/>
                </a:solidFill>
                <a:latin typeface="맑은 고딕"/>
                <a:ea typeface="맑은 고딕"/>
              </a:rPr>
              <a:t>접근 차단·안내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87752" y="2468880"/>
            <a:ext cx="548640" cy="0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16752" y="2468880"/>
            <a:ext cx="576072" cy="0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94776" y="2468880"/>
            <a:ext cx="329184" cy="0"/>
          </a:xfrm>
          <a:prstGeom prst="line">
            <a:avLst/>
          </a:prstGeom>
          <a:ln w="19050">
            <a:solidFill>
              <a:srgbClr val="176B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823960" y="2185416"/>
            <a:ext cx="0" cy="283464"/>
          </a:xfrm>
          <a:prstGeom prst="line">
            <a:avLst/>
          </a:prstGeom>
          <a:ln w="19050">
            <a:solidFill>
              <a:srgbClr val="176B5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23960" y="2185416"/>
            <a:ext cx="374904" cy="0"/>
          </a:xfrm>
          <a:prstGeom prst="line">
            <a:avLst/>
          </a:prstGeom>
          <a:ln w="19050">
            <a:solidFill>
              <a:srgbClr val="176B5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558784" y="1801368"/>
            <a:ext cx="5943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176B50"/>
                </a:solidFill>
                <a:latin typeface="맑은 고딕"/>
                <a:ea typeface="맑은 고딕"/>
              </a:rPr>
              <a:t>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43800" y="3108960"/>
            <a:ext cx="0" cy="886968"/>
          </a:xfrm>
          <a:prstGeom prst="line">
            <a:avLst/>
          </a:prstGeom>
          <a:ln w="19050">
            <a:solidFill>
              <a:srgbClr val="A13B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43800" y="3995928"/>
            <a:ext cx="1655064" cy="0"/>
          </a:xfrm>
          <a:prstGeom prst="line">
            <a:avLst/>
          </a:prstGeom>
          <a:ln w="19050">
            <a:solidFill>
              <a:srgbClr val="A13B4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54112" y="3584448"/>
            <a:ext cx="98755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A13B4A"/>
                </a:solidFill>
                <a:latin typeface="맑은 고딕"/>
                <a:ea typeface="맑은 고딕"/>
              </a:rPr>
              <a:t>아니오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4837176"/>
            <a:ext cx="10753344" cy="0"/>
          </a:xfrm>
          <a:prstGeom prst="line">
            <a:avLst/>
          </a:prstGeom>
          <a:ln w="8890">
            <a:solidFill>
              <a:srgbClr val="CCD6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5093208"/>
            <a:ext cx="4974336" cy="9052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172B49"/>
                </a:solidFill>
                <a:latin typeface="맑은 고딕"/>
                <a:ea typeface="맑은 고딕"/>
              </a:rPr>
              <a:t>결재 권한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172B49"/>
                </a:solidFill>
                <a:latin typeface="맑은 고딕"/>
                <a:ea typeface="맑은 고딕"/>
              </a:rPr>
              <a:t>본인 결재는 제한하되 총관리자는 예외입니다.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5093208"/>
            <a:ext cx="5102352" cy="9052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172B49"/>
                </a:solidFill>
                <a:latin typeface="맑은 고딕"/>
                <a:ea typeface="맑은 고딕"/>
              </a:rPr>
              <a:t>관리자 계정 보호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172B49"/>
                </a:solidFill>
                <a:latin typeface="맑은 고딕"/>
                <a:ea typeface="맑은 고딕"/>
              </a:rPr>
              <a:t>본인 퇴직 처리 금지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172B49"/>
                </a:solidFill>
                <a:latin typeface="맑은 고딕"/>
                <a:ea typeface="맑은 고딕"/>
              </a:rPr>
              <a:t>마지막 총관리자의 강등·퇴직 금지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062472"/>
            <a:ext cx="10927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53657D"/>
                </a:solidFill>
                <a:latin typeface="맑은 고딕"/>
                <a:ea typeface="맑은 고딕"/>
              </a:rPr>
              <a:t>역할 변경은 다음 요청부터 반영하며, 결재는 배정된 기본·서브 승인자만 처리합니다.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172B49"/>
                </a:solidFill>
                <a:latin typeface="맑은 고딕"/>
                <a:ea typeface="맑은 고딕"/>
              </a:rPr>
              <a:t>시스템 전체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2471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브라우저 화면과 업무 서버를 하나의 애플리케이션 컨테이너로 배포합니다.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642823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3657D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770632"/>
            <a:ext cx="202996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172B49"/>
                </a:solidFill>
                <a:latin typeface="맑은 고딕"/>
                <a:ea typeface="맑은 고딕"/>
              </a:rPr>
              <a:t>브라우저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lang="ko-KR">
                <a:solidFill>
                  <a:srgbClr val="172B49"/>
                </a:solidFill>
                <a:latin typeface="맑은 고딕"/>
                <a:ea typeface="맑은 고딕"/>
              </a:rPr>
              <a:t>React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3694176" y="2487168"/>
            <a:ext cx="3749039" cy="1691640"/>
          </a:xfrm>
          <a:prstGeom prst="rect">
            <a:avLst/>
          </a:prstGeom>
          <a:solidFill>
            <a:srgbClr val="0D203D"/>
          </a:solidFill>
          <a:ln w="12700">
            <a:solidFill>
              <a:srgbClr val="0D2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ko-KR">
                <a:solidFill>
                  <a:srgbClr val="FFFFFF"/>
                </a:solidFill>
                <a:latin typeface="맑은 고딕"/>
                <a:ea typeface="맑은 고딕"/>
              </a:rPr>
              <a:t>Spring Boot 서버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</a:rPr>
              <a:t>화면 파일 제공 + 업무 API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FFFFFF"/>
                </a:solidFill>
                <a:latin typeface="맑은 고딕"/>
                <a:ea typeface="맑은 고딕"/>
              </a:rPr>
              <a:t>단일 앱 컨테이너 · 포트 8080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88336" y="3401568"/>
            <a:ext cx="1005840" cy="0"/>
          </a:xfrm>
          <a:prstGeom prst="line">
            <a:avLst/>
          </a:prstGeom>
          <a:ln w="19050">
            <a:solidFill>
              <a:srgbClr val="245BCE"/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670048" y="2880360"/>
            <a:ext cx="10515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245BCE"/>
                </a:solidFill>
                <a:latin typeface="맑은 고딕"/>
                <a:ea typeface="맑은 고딕"/>
              </a:rPr>
              <a:t>요청·응답</a:t>
            </a:r>
          </a:p>
        </p:txBody>
      </p:sp>
      <p:sp>
        <p:nvSpPr>
          <p:cNvPr id="9" name="Rectangle 8"/>
          <p:cNvSpPr/>
          <p:nvPr/>
        </p:nvSpPr>
        <p:spPr>
          <a:xfrm>
            <a:off x="8705088" y="1737360"/>
            <a:ext cx="28072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172B49"/>
                </a:solidFill>
                <a:latin typeface="맑은 고딕"/>
                <a:ea typeface="맑은 고딕"/>
              </a:rPr>
              <a:t>Google OAuth2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72B49"/>
                </a:solidFill>
                <a:latin typeface="맑은 고딕"/>
                <a:ea typeface="맑은 고딕"/>
              </a:rPr>
              <a:t>회사 계정 로그인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43216" y="3328416"/>
            <a:ext cx="566928" cy="0"/>
          </a:xfrm>
          <a:prstGeom prst="line">
            <a:avLst/>
          </a:prstGeom>
          <a:ln w="19050">
            <a:solidFill>
              <a:srgbClr val="8C9C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010144" y="2139696"/>
            <a:ext cx="0" cy="1188720"/>
          </a:xfrm>
          <a:prstGeom prst="line">
            <a:avLst/>
          </a:prstGeom>
          <a:ln w="19050">
            <a:solidFill>
              <a:srgbClr val="8C9C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010144" y="2139696"/>
            <a:ext cx="694944" cy="0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705088" y="2834640"/>
            <a:ext cx="28072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172B49"/>
                </a:solidFill>
                <a:latin typeface="맑은 고딕"/>
                <a:ea typeface="맑은 고딕"/>
              </a:rPr>
              <a:t>MySQL 8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72B49"/>
                </a:solidFill>
                <a:latin typeface="맑은 고딕"/>
                <a:ea typeface="맑은 고딕"/>
              </a:rPr>
              <a:t>운영 데이터 저장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43216" y="3328416"/>
            <a:ext cx="566928" cy="0"/>
          </a:xfrm>
          <a:prstGeom prst="line">
            <a:avLst/>
          </a:prstGeom>
          <a:ln w="19050">
            <a:solidFill>
              <a:srgbClr val="8C9C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010144" y="3236976"/>
            <a:ext cx="0" cy="91440"/>
          </a:xfrm>
          <a:prstGeom prst="line">
            <a:avLst/>
          </a:prstGeom>
          <a:ln w="19050">
            <a:solidFill>
              <a:srgbClr val="8C9C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10144" y="3236976"/>
            <a:ext cx="694944" cy="0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705088" y="3931920"/>
            <a:ext cx="28072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172B49"/>
                </a:solidFill>
                <a:latin typeface="맑은 고딕"/>
                <a:ea typeface="맑은 고딕"/>
              </a:rPr>
              <a:t>SMTP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72B49"/>
                </a:solidFill>
                <a:latin typeface="맑은 고딕"/>
                <a:ea typeface="맑은 고딕"/>
              </a:rPr>
              <a:t>이메일 발송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43216" y="3328416"/>
            <a:ext cx="566928" cy="0"/>
          </a:xfrm>
          <a:prstGeom prst="line">
            <a:avLst/>
          </a:prstGeom>
          <a:ln w="19050">
            <a:solidFill>
              <a:srgbClr val="8C9C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010144" y="3328416"/>
            <a:ext cx="0" cy="1005840"/>
          </a:xfrm>
          <a:prstGeom prst="line">
            <a:avLst/>
          </a:prstGeom>
          <a:ln w="19050">
            <a:solidFill>
              <a:srgbClr val="8C9C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10144" y="4334256"/>
            <a:ext cx="694944" cy="0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705088" y="5029200"/>
            <a:ext cx="28072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ko-KR">
                <a:solidFill>
                  <a:srgbClr val="172B49"/>
                </a:solidFill>
                <a:latin typeface="맑은 고딕"/>
                <a:ea typeface="맑은 고딕"/>
              </a:rPr>
              <a:t>공공데이터포털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ko-KR">
                <a:solidFill>
                  <a:srgbClr val="172B49"/>
                </a:solidFill>
                <a:latin typeface="맑은 고딕"/>
                <a:ea typeface="맑은 고딕"/>
              </a:rPr>
              <a:t>공휴일 정보 동기화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43216" y="3328416"/>
            <a:ext cx="566928" cy="0"/>
          </a:xfrm>
          <a:prstGeom prst="line">
            <a:avLst/>
          </a:prstGeom>
          <a:ln w="19050">
            <a:solidFill>
              <a:srgbClr val="8C9C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10144" y="3328416"/>
            <a:ext cx="0" cy="2103120"/>
          </a:xfrm>
          <a:prstGeom prst="line">
            <a:avLst/>
          </a:prstGeom>
          <a:ln w="19050">
            <a:solidFill>
              <a:srgbClr val="8C9C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010144" y="5431536"/>
            <a:ext cx="694944" cy="0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694176" y="4919472"/>
            <a:ext cx="3749039" cy="813816"/>
          </a:xfrm>
          <a:prstGeom prst="rect">
            <a:avLst/>
          </a:prstGeom>
          <a:solidFill>
            <a:srgbClr val="EAF0FA"/>
          </a:solidFill>
          <a:ln w="12700">
            <a:solidFill>
              <a:srgbClr val="245B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lang="ko-KR">
                <a:solidFill>
                  <a:srgbClr val="245BCE"/>
                </a:solidFill>
                <a:latin typeface="맑은 고딕"/>
                <a:ea typeface="맑은 고딕"/>
              </a:rPr>
              <a:t>내부 스케줄러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ko-KR">
                <a:solidFill>
                  <a:srgbClr val="245BCE"/>
                </a:solidFill>
                <a:latin typeface="맑은 고딕"/>
                <a:ea typeface="맑은 고딕"/>
              </a:rPr>
              <a:t>매일 00:10 KST · 5개 작업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568696" y="4178808"/>
            <a:ext cx="0" cy="740664"/>
          </a:xfrm>
          <a:prstGeom prst="line">
            <a:avLst/>
          </a:prstGeom>
          <a:ln w="19050">
            <a:solidFill>
              <a:srgbClr val="245BCE"/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1792" y="6062472"/>
            <a:ext cx="10927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53657D"/>
                </a:solidFill>
                <a:latin typeface="맑은 고딕"/>
                <a:ea typeface="맑은 고딕"/>
              </a:rPr>
              <a:t>테스트 데이터베이스는 H2를 사용합니다. SMTP는 Gmail 앱 비밀번호 방식의 계정을 연동합니다.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172B49"/>
                </a:solidFill>
                <a:latin typeface="맑은 고딕"/>
                <a:ea typeface="맑은 고딕"/>
              </a:rPr>
              <a:t>서버 내부의 업무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2471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12개 업무 영역을 나누고, 요청 처리와 업무 규칙·데이터 저장의 역할을 분리했습니다.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642823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3657D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512" y="1901952"/>
            <a:ext cx="2258568" cy="1033271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172B49"/>
                </a:solidFill>
                <a:latin typeface="맑은 고딕"/>
                <a:ea typeface="맑은 고딕"/>
              </a:rPr>
              <a:t>요청 접수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ko-KR">
                <a:solidFill>
                  <a:srgbClr val="172B49"/>
                </a:solidFill>
                <a:latin typeface="맑은 고딕"/>
                <a:ea typeface="맑은 고딕"/>
              </a:rPr>
              <a:t>입력과 역할 확인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8728" y="1901952"/>
            <a:ext cx="2258568" cy="1033271"/>
          </a:xfrm>
          <a:prstGeom prst="rect">
            <a:avLst/>
          </a:prstGeom>
          <a:solidFill>
            <a:srgbClr val="EAF0FA"/>
          </a:solidFill>
          <a:ln w="12700">
            <a:solidFill>
              <a:srgbClr val="245B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245BCE"/>
                </a:solidFill>
                <a:latin typeface="맑은 고딕"/>
                <a:ea typeface="맑은 고딕"/>
              </a:rPr>
              <a:t>업무 규칙 처리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ko-KR">
                <a:solidFill>
                  <a:srgbClr val="245BCE"/>
                </a:solidFill>
                <a:latin typeface="맑은 고딕"/>
                <a:ea typeface="맑은 고딕"/>
              </a:rPr>
              <a:t>잔액·승인자·상태 변경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9944" y="1901952"/>
            <a:ext cx="2258568" cy="1033271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172B49"/>
                </a:solidFill>
                <a:latin typeface="맑은 고딕"/>
                <a:ea typeface="맑은 고딕"/>
              </a:rPr>
              <a:t>저장소 접근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ko-KR">
                <a:solidFill>
                  <a:srgbClr val="172B49"/>
                </a:solidFill>
                <a:latin typeface="맑은 고딕"/>
                <a:ea typeface="맑은 고딕"/>
              </a:rPr>
              <a:t>조회와 저장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9281160" y="1901952"/>
            <a:ext cx="2258568" cy="1033271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lang="ko-KR">
                <a:solidFill>
                  <a:srgbClr val="172B49"/>
                </a:solidFill>
                <a:latin typeface="맑은 고딕"/>
                <a:ea typeface="맑은 고딕"/>
              </a:rPr>
              <a:t>업무 데이터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lang="ko-KR">
                <a:solidFill>
                  <a:srgbClr val="172B49"/>
                </a:solidFill>
                <a:latin typeface="맑은 고딕"/>
                <a:ea typeface="맑은 고딕"/>
              </a:rPr>
              <a:t>상태와 이력 보관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2414016"/>
            <a:ext cx="612648" cy="0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797296" y="2414016"/>
            <a:ext cx="612648" cy="0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68512" y="2414016"/>
            <a:ext cx="612648" cy="0"/>
          </a:xfrm>
          <a:prstGeom prst="line">
            <a:avLst/>
          </a:prstGeom>
          <a:ln w="19050">
            <a:solidFill>
              <a:srgbClr val="8C9CB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4088" y="3410712"/>
            <a:ext cx="107899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ko-KR">
                <a:solidFill>
                  <a:srgbClr val="245BCE"/>
                </a:solidFill>
                <a:latin typeface="맑은 고딕"/>
                <a:ea typeface="맑은 고딕"/>
              </a:rPr>
              <a:t>12개 업무 영역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" y="3922776"/>
          <a:ext cx="1080820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2736"/>
                <a:gridCol w="3602736"/>
                <a:gridCol w="3602736"/>
              </a:tblGrid>
              <a:tr h="365760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사람과 조직</a:t>
                      </a:r>
                    </a:p>
                  </a:txBody>
                  <a:tcPr>
                    <a:solidFill>
                      <a:srgbClr val="0D203D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연차와 일정</a:t>
                      </a:r>
                    </a:p>
                  </a:txBody>
                  <a:tcPr>
                    <a:solidFill>
                      <a:srgbClr val="0D203D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운영 지원</a:t>
                      </a:r>
                    </a:p>
                  </a:txBody>
                  <a:tcPr>
                    <a:solidFill>
                      <a:srgbClr val="0D203D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  <a:tr h="365760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인증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연차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이메일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  <a:tr h="365760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구성원</a:t>
                      </a:r>
                    </a:p>
                  </a:txBody>
                  <a:tcPr>
                    <a:solidFill>
                      <a:srgbClr val="EAF0FA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복리후생</a:t>
                      </a:r>
                    </a:p>
                  </a:txBody>
                  <a:tcPr>
                    <a:solidFill>
                      <a:srgbClr val="EAF0FA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공휴일</a:t>
                      </a:r>
                    </a:p>
                  </a:txBody>
                  <a:tcPr>
                    <a:solidFill>
                      <a:srgbClr val="EAF0FA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  <a:tr h="365760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부서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개인 일정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외부 연동 자격 증명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  <a:tr h="365760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감사 기록</a:t>
                      </a:r>
                    </a:p>
                  </a:txBody>
                  <a:tcPr>
                    <a:solidFill>
                      <a:srgbClr val="EAF0FA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정책</a:t>
                      </a:r>
                    </a:p>
                  </a:txBody>
                  <a:tcPr>
                    <a:solidFill>
                      <a:srgbClr val="EAF0FA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공통 상태</a:t>
                      </a:r>
                    </a:p>
                  </a:txBody>
                  <a:tcPr>
                    <a:solidFill>
                      <a:srgbClr val="EAF0FA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21792" y="6062472"/>
            <a:ext cx="10927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53657D"/>
                </a:solidFill>
                <a:latin typeface="맑은 고딕"/>
                <a:ea typeface="맑은 고딕"/>
              </a:rPr>
              <a:t>인증 정보는 JWT가 담긴 HttpOnly 쿠키로 전달하고, 서버는 최신 계정 상태를 다시 확인합니다.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172B49"/>
                </a:solidFill>
                <a:latin typeface="맑은 고딕"/>
                <a:ea typeface="맑은 고딕"/>
              </a:rPr>
              <a:t>화면과 데이터의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2471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17개 화면이 서버 데이터를 공통 방식으로 요청하고 갱신합니다.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642823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3657D"/>
                </a:solidFill>
                <a:latin typeface="맑은 고딕"/>
                <a:ea typeface="맑은 고딕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947672"/>
            <a:ext cx="2999232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172B49"/>
                </a:solidFill>
                <a:latin typeface="맑은 고딕"/>
                <a:ea typeface="맑은 고딕"/>
              </a:rPr>
              <a:t>서버 API 연결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172B49"/>
                </a:solidFill>
                <a:latin typeface="맑은 고딕"/>
                <a:ea typeface="맑은 고딕"/>
              </a:rPr>
              <a:t>Axios로 요청·응답 처리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4599432" y="1947672"/>
            <a:ext cx="2999232" cy="1060704"/>
          </a:xfrm>
          <a:prstGeom prst="rect">
            <a:avLst/>
          </a:prstGeom>
          <a:solidFill>
            <a:srgbClr val="EAF0FA"/>
          </a:solidFill>
          <a:ln w="12700">
            <a:solidFill>
              <a:srgbClr val="245B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245BCE"/>
                </a:solidFill>
                <a:latin typeface="맑은 고딕"/>
                <a:ea typeface="맑은 고딕"/>
              </a:rPr>
              <a:t>데이터 조회·캐시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245BCE"/>
                </a:solidFill>
                <a:latin typeface="맑은 고딕"/>
                <a:ea typeface="맑은 고딕"/>
              </a:rPr>
              <a:t>React Query로 공통 관리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8513064" y="1947672"/>
            <a:ext cx="2999232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8C9C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lang="ko-KR">
                <a:solidFill>
                  <a:srgbClr val="172B49"/>
                </a:solidFill>
                <a:latin typeface="맑은 고딕"/>
                <a:ea typeface="맑은 고딕"/>
              </a:rPr>
              <a:t>업무 화면</a:t>
            </a:r>
          </a:p>
          <a:p>
            <a:pPr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ko-KR">
                <a:solidFill>
                  <a:srgbClr val="172B49"/>
                </a:solidFill>
                <a:latin typeface="맑은 고딕"/>
                <a:ea typeface="맑은 고딕"/>
              </a:rPr>
              <a:t>페이지가 데이터를 표시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85032" y="2478024"/>
            <a:ext cx="914400" cy="0"/>
          </a:xfrm>
          <a:prstGeom prst="line">
            <a:avLst/>
          </a:prstGeom>
          <a:ln w="19050">
            <a:solidFill>
              <a:srgbClr val="245BC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98664" y="2478024"/>
            <a:ext cx="914400" cy="0"/>
          </a:xfrm>
          <a:prstGeom prst="line">
            <a:avLst/>
          </a:prstGeom>
          <a:ln w="19050">
            <a:solidFill>
              <a:srgbClr val="245BCE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4088" y="3611880"/>
            <a:ext cx="52578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ko-KR">
                <a:solidFill>
                  <a:srgbClr val="172B49"/>
                </a:solidFill>
                <a:latin typeface="맑은 고딕"/>
                <a:ea typeface="맑은 고딕"/>
              </a:rPr>
              <a:t>공통 화면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4306824"/>
            <a:ext cx="5056632" cy="11155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53657D"/>
                </a:solidFill>
                <a:latin typeface="맑은 고딕"/>
                <a:ea typeface="맑은 고딕"/>
              </a:rPr>
              <a:t>대시보드 · 캘린더 · 내역 · 복리후생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53657D"/>
                </a:solidFill>
                <a:latin typeface="맑은 고딕"/>
                <a:ea typeface="맑은 고딕"/>
              </a:rPr>
              <a:t>내 정보 · 결재 관리 · 팀 현황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53657D"/>
                </a:solidFill>
                <a:latin typeface="맑은 고딕"/>
                <a:ea typeface="맑은 고딕"/>
              </a:rPr>
              <a:t>로그인 · 로그인 연결 · 온보딩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3611880"/>
            <a:ext cx="50566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ko-KR">
                <a:solidFill>
                  <a:srgbClr val="172B49"/>
                </a:solidFill>
                <a:latin typeface="맑은 고딕"/>
                <a:ea typeface="맑은 고딕"/>
              </a:rPr>
              <a:t>관리자 화면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4306824"/>
            <a:ext cx="5056632" cy="11155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53657D"/>
                </a:solidFill>
                <a:latin typeface="맑은 고딕"/>
                <a:ea typeface="맑은 고딕"/>
              </a:rPr>
              <a:t>구성원 · 부서 · 연차 정책 · 복리후생 정책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53657D"/>
                </a:solidFill>
                <a:latin typeface="맑은 고딕"/>
                <a:ea typeface="맑은 고딕"/>
              </a:rPr>
              <a:t>처리 이력 · 이메일 · 외부 연동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062472"/>
            <a:ext cx="10927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53657D"/>
                </a:solidFill>
                <a:latin typeface="맑은 고딕"/>
                <a:ea typeface="맑은 고딕"/>
              </a:rPr>
              <a:t>권한에 맞춰 화면을 열고, 오류 알림을 공통 처리합니다. 디자인 값은 Tailwind v4의 CSS에서 관리합니다.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172B49"/>
                </a:solidFill>
                <a:latin typeface="맑은 고딕"/>
                <a:ea typeface="맑은 고딕"/>
              </a:rPr>
              <a:t>백엔드 기술과 라이브러리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2471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Java 21 · Spring Boot 4.1.0 · Gradle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642823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3657D"/>
                </a:solidFill>
                <a:latin typeface="맑은 고딕"/>
                <a:ea typeface="맑은 고딕"/>
              </a:rPr>
              <a:t>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" y="1783080"/>
          <a:ext cx="10936224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0328"/>
                <a:gridCol w="6025896"/>
              </a:tblGrid>
              <a:tr h="406908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기술·라이브러리</a:t>
                      </a:r>
                    </a:p>
                  </a:txBody>
                  <a:tcPr>
                    <a:solidFill>
                      <a:srgbClr val="0D203D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쓰는 이유</a:t>
                      </a:r>
                    </a:p>
                  </a:txBody>
                  <a:tcPr>
                    <a:solidFill>
                      <a:srgbClr val="0D203D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  <a:tr h="406908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spring-boot-starter-webmvc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브라우저가 호출하는 업무 REST API를 제공한다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  <a:tr h="406908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spring-boot-starter-data-jpa + Hibernate</a:t>
                      </a:r>
                    </a:p>
                  </a:txBody>
                  <a:tcPr>
                    <a:solidFill>
                      <a:srgbClr val="EAF0FA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업무 객체를 MySQL 데이터와 연결한다</a:t>
                      </a:r>
                    </a:p>
                  </a:txBody>
                  <a:tcPr>
                    <a:solidFill>
                      <a:srgbClr val="EAF0FA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  <a:tr h="406908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spring-boot-starter-security + oauth2-client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Google 로그인과 역할별 접근을 제어한다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  <a:tr h="406908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jjwt 0.12.6</a:t>
                      </a:r>
                    </a:p>
                  </a:txBody>
                  <a:tcPr>
                    <a:solidFill>
                      <a:srgbClr val="EAF0FA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JWT 로그인 토큰을 발급하고 검증한다</a:t>
                      </a:r>
                    </a:p>
                  </a:txBody>
                  <a:tcPr>
                    <a:solidFill>
                      <a:srgbClr val="EAF0FA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  <a:tr h="406908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spring-boot-starter-mail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SMTP 계정으로 이메일을 발송한다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  <a:tr h="406908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spring-boot-starter-validation</a:t>
                      </a:r>
                    </a:p>
                  </a:txBody>
                  <a:tcPr>
                    <a:solidFill>
                      <a:srgbClr val="EAF0FA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요청 값과 입력 형식을 검증한다</a:t>
                      </a:r>
                    </a:p>
                  </a:txBody>
                  <a:tcPr>
                    <a:solidFill>
                      <a:srgbClr val="EAF0FA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  <a:tr h="406908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Lombok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반복되는 자바 기본 코드를 줄인다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  <a:tr h="406908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mysql-connector-j / H2</a:t>
                      </a:r>
                    </a:p>
                  </a:txBody>
                  <a:tcPr>
                    <a:solidFill>
                      <a:srgbClr val="EAF0FA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운영 MySQL 연결 / 테스트용 데이터베이스를 제공한다</a:t>
                      </a:r>
                    </a:p>
                  </a:txBody>
                  <a:tcPr>
                    <a:solidFill>
                      <a:srgbClr val="EAF0FA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  <a:tr h="406908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JUnit 5 + Mockito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업무 계산·예외·권한 동작을 자동 검증한다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" y="6062472"/>
            <a:ext cx="10927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53657D"/>
                </a:solidFill>
                <a:latin typeface="맑은 고딕"/>
                <a:ea typeface="맑은 고딕"/>
              </a:rPr>
              <a:t>자동 테스트 기록: 백엔드 500건 · 2026-09-08 실행 기준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172B49"/>
                </a:solidFill>
                <a:latin typeface="맑은 고딕"/>
                <a:ea typeface="맑은 고딕"/>
              </a:rPr>
              <a:t>프론트엔드 기술과 라이브러리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2471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React 19.2 · Vite 8 · Node.js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642823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3657D"/>
                </a:solidFill>
                <a:latin typeface="맑은 고딕"/>
                <a:ea typeface="맑은 고딕"/>
              </a:rPr>
              <a:t>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" y="1783080"/>
          <a:ext cx="10936224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0328"/>
                <a:gridCol w="6025896"/>
              </a:tblGrid>
              <a:tr h="406908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기술·라이브러리</a:t>
                      </a:r>
                    </a:p>
                  </a:txBody>
                  <a:tcPr>
                    <a:solidFill>
                      <a:srgbClr val="0D203D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lang="ko-KR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쓰는 이유</a:t>
                      </a:r>
                    </a:p>
                  </a:txBody>
                  <a:tcPr>
                    <a:solidFill>
                      <a:srgbClr val="0D203D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  <a:tr h="406908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React 19.2 / react-dom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화면과 입력 상태를 구성한다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  <a:tr h="406908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react-router-dom 7</a:t>
                      </a:r>
                    </a:p>
                  </a:txBody>
                  <a:tcPr>
                    <a:solidFill>
                      <a:srgbClr val="EAF0FA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화면을 이동하고 권한에 맞춰 접근을 제한한다</a:t>
                      </a:r>
                    </a:p>
                  </a:txBody>
                  <a:tcPr>
                    <a:solidFill>
                      <a:srgbClr val="EAF0FA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  <a:tr h="406908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@tanstack/react-query 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서버 데이터 조회·캐시·갱신을 공통 관리한다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  <a:tr h="406908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Axios</a:t>
                      </a:r>
                    </a:p>
                  </a:txBody>
                  <a:tcPr>
                    <a:solidFill>
                      <a:srgbClr val="EAF0FA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HTTP 요청과 로그인 만료·오류 응답을 처리한다</a:t>
                      </a:r>
                    </a:p>
                  </a:txBody>
                  <a:tcPr>
                    <a:solidFill>
                      <a:srgbClr val="EAF0FA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  <a:tr h="406908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Tailwind CSS 4 / @tailwindcss/vite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CSS의 공통 디자인 값으로 스타일을 적용한다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  <a:tr h="406908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Day.js</a:t>
                      </a:r>
                    </a:p>
                  </a:txBody>
                  <a:tcPr>
                    <a:solidFill>
                      <a:srgbClr val="EAF0FA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날짜와 회차를 계산하고 표시한다</a:t>
                      </a:r>
                    </a:p>
                  </a:txBody>
                  <a:tcPr>
                    <a:solidFill>
                      <a:srgbClr val="EAF0FA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  <a:tr h="406908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lucide-react / react-hot-toast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아이콘과 처리 결과 알림을 표시한다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  <a:tr h="406908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Vitest / Testing Library / jsdom</a:t>
                      </a:r>
                    </a:p>
                  </a:txBody>
                  <a:tcPr>
                    <a:solidFill>
                      <a:srgbClr val="EAF0FA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화면과 사용자 조작을 자동 검증한다</a:t>
                      </a:r>
                    </a:p>
                  </a:txBody>
                  <a:tcPr>
                    <a:solidFill>
                      <a:srgbClr val="EAF0FA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  <a:tr h="406908"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Oxlint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  <a:tc>
                  <a:txBody>
                    <a:bodyPr wrap="square" anchor="ctr" lIns="82296" rIns="82296" tIns="82296" bIns="82296">
                      <a:noAutofit/>
                    </a:bodyPr>
                    <a:lstStyle/>
                    <a:p>
                      <a:pPr algn="l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lang="ko-KR">
                          <a:solidFill>
                            <a:srgbClr val="172B49"/>
                          </a:solidFill>
                          <a:latin typeface="맑은 고딕"/>
                          <a:ea typeface="맑은 고딕"/>
                        </a:rPr>
                        <a:t>코드의 기본 오류와 규칙 위반을 검사한다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7F9FC"/>
                      </a:solidFill>
                    </a:lnL>
                    <a:lnR w="6350">
                      <a:solidFill>
                        <a:srgbClr val="F7F9FC"/>
                      </a:solidFill>
                    </a:lnR>
                    <a:lnT w="6350">
                      <a:solidFill>
                        <a:srgbClr val="F7F9FC"/>
                      </a:solidFill>
                    </a:lnT>
                    <a:lnB w="6350">
                      <a:solidFill>
                        <a:srgbClr val="F7F9FC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" y="6062472"/>
            <a:ext cx="10927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53657D"/>
                </a:solidFill>
                <a:latin typeface="맑은 고딕"/>
                <a:ea typeface="맑은 고딕"/>
              </a:rPr>
              <a:t>자동 테스트 기록: 프론트엔드 332건 · 2026-09-08 실행 기준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172B49"/>
                </a:solidFill>
                <a:latin typeface="맑은 고딕"/>
                <a:ea typeface="맑은 고딕"/>
              </a:rPr>
              <a:t>현재 구현 규모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2471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코드와 설계 파일을 다시 확인한 2026-09-11 기준입니다.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642823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3657D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1883664"/>
            <a:ext cx="2148840" cy="8869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lang="ko-KR">
                <a:solidFill>
                  <a:srgbClr val="245BCE"/>
                </a:solidFill>
                <a:latin typeface="맑은 고딕"/>
                <a:ea typeface="맑은 고딕"/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953512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ko-KR">
                <a:solidFill>
                  <a:srgbClr val="172B49"/>
                </a:solidFill>
                <a:latin typeface="맑은 고딕"/>
                <a:ea typeface="맑은 고딕"/>
              </a:rPr>
              <a:t>업무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75304" y="1883664"/>
            <a:ext cx="2148840" cy="8869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lang="ko-KR">
                <a:solidFill>
                  <a:srgbClr val="245BCE"/>
                </a:solidFill>
                <a:latin typeface="맑은 고딕"/>
                <a:ea typeface="맑은 고딕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75304" y="2953512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ko-KR">
                <a:solidFill>
                  <a:srgbClr val="172B49"/>
                </a:solidFill>
                <a:latin typeface="맑은 고딕"/>
                <a:ea typeface="맑은 고딕"/>
              </a:rPr>
              <a:t>화면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83664"/>
            <a:ext cx="2148840" cy="8869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lang="ko-KR">
                <a:solidFill>
                  <a:srgbClr val="245BCE"/>
                </a:solidFill>
                <a:latin typeface="맑은 고딕"/>
                <a:ea typeface="맑은 고딕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953512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ko-KR">
                <a:solidFill>
                  <a:srgbClr val="172B49"/>
                </a:solidFill>
                <a:latin typeface="맑은 고딕"/>
                <a:ea typeface="맑은 고딕"/>
              </a:rPr>
              <a:t>DB 테이블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17736" y="1883664"/>
            <a:ext cx="2148840" cy="8869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lang="ko-KR">
                <a:solidFill>
                  <a:srgbClr val="245BCE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17736" y="2953512"/>
            <a:ext cx="22860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ko-KR">
                <a:solidFill>
                  <a:srgbClr val="172B49"/>
                </a:solidFill>
                <a:latin typeface="맑은 고딕"/>
                <a:ea typeface="맑은 고딕"/>
              </a:rPr>
              <a:t>관리자 설정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675887"/>
            <a:ext cx="10789920" cy="0"/>
          </a:xfrm>
          <a:prstGeom prst="line">
            <a:avLst/>
          </a:prstGeom>
          <a:ln w="8890">
            <a:solidFill>
              <a:srgbClr val="CCD6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04088" y="4114800"/>
            <a:ext cx="2880360" cy="7589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lang="ko-KR">
                <a:solidFill>
                  <a:srgbClr val="172B49"/>
                </a:solidFill>
                <a:latin typeface="맑은 고딕"/>
                <a:ea typeface="맑은 고딕"/>
              </a:rPr>
              <a:t>832건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1063" y="4169663"/>
            <a:ext cx="7543800" cy="10241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172B49"/>
                </a:solidFill>
                <a:latin typeface="맑은 고딕"/>
                <a:ea typeface="맑은 고딕"/>
              </a:rPr>
              <a:t>자동 테스트 기록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172B49"/>
                </a:solidFill>
                <a:latin typeface="맑은 고딕"/>
                <a:ea typeface="맑은 고딕"/>
              </a:rPr>
              <a:t>백엔드 500 + 프론트엔드 332 · 2026-09-08 실행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062472"/>
            <a:ext cx="109270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lang="ko-KR">
                <a:solidFill>
                  <a:srgbClr val="53657D"/>
                </a:solidFill>
                <a:latin typeface="맑은 고딕"/>
                <a:ea typeface="맑은 고딕"/>
              </a:rPr>
              <a:t>인프라: Docker 단계별 빌드로 화면·서버를 통합하며, Docker Compose로 앱과 MySQL 8을 구성합니다.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lang="ko-KR">
                <a:solidFill>
                  <a:srgbClr val="172B49"/>
                </a:solidFill>
                <a:latin typeface="맑은 고딕"/>
                <a:ea typeface="맑은 고딕"/>
              </a:rPr>
              <a:t>구현된 범위와 남은 확인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124712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ko-KR">
                <a:solidFill>
                  <a:srgbClr val="53657D"/>
                </a:solidFill>
                <a:latin typeface="맑은 고딕"/>
                <a:ea typeface="맑은 고딕"/>
              </a:rPr>
              <a:t>소개한 핵심 기능은 코드와 테스트가 있으며, 운영 배포와 실제 환경 검증은 남아 있습니다.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4512" y="642823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53657D"/>
                </a:solidFill>
                <a:latin typeface="맑은 고딕"/>
                <a:ea typeface="맑은 고딕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920240"/>
            <a:ext cx="5056632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ko-KR">
                <a:solidFill>
                  <a:srgbClr val="245BCE"/>
                </a:solidFill>
                <a:latin typeface="맑은 고딕"/>
                <a:ea typeface="맑은 고딕"/>
              </a:rPr>
              <a:t>구현된 업무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688336"/>
            <a:ext cx="4928616" cy="2450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ko-KR">
                <a:solidFill>
                  <a:srgbClr val="172B49"/>
                </a:solidFill>
                <a:latin typeface="맑은 고딕"/>
                <a:ea typeface="맑은 고딕"/>
              </a:rPr>
              <a:t>연차·복리후생 신청과 결재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ko-KR">
                <a:solidFill>
                  <a:srgbClr val="172B49"/>
                </a:solidFill>
                <a:latin typeface="맑은 고딕"/>
                <a:ea typeface="맑은 고딕"/>
              </a:rPr>
              <a:t>일정·조직·정책 관리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ko-KR">
                <a:solidFill>
                  <a:srgbClr val="172B49"/>
                </a:solidFill>
                <a:latin typeface="맑은 고딕"/>
                <a:ea typeface="맑은 고딕"/>
              </a:rPr>
              <a:t>매일 새벽 5개 자동 처리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ko-KR">
                <a:solidFill>
                  <a:srgbClr val="172B49"/>
                </a:solidFill>
                <a:latin typeface="맑은 고딕"/>
                <a:ea typeface="맑은 고딕"/>
              </a:rPr>
              <a:t>이메일 양식·발송·이력 관리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ko-KR">
                <a:solidFill>
                  <a:srgbClr val="172B49"/>
                </a:solidFill>
                <a:latin typeface="맑은 고딕"/>
                <a:ea typeface="맑은 고딕"/>
              </a:rPr>
              <a:t>퇴직자 파기와 재입사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3952" y="1920240"/>
            <a:ext cx="5020056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lang="ko-KR">
                <a:solidFill>
                  <a:srgbClr val="8C610D"/>
                </a:solidFill>
                <a:latin typeface="맑은 고딕"/>
                <a:ea typeface="맑은 고딕"/>
              </a:rPr>
              <a:t>남은 작업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2688336"/>
            <a:ext cx="4965192" cy="2542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172B49"/>
                </a:solidFill>
                <a:latin typeface="맑은 고딕"/>
                <a:ea typeface="맑은 고딕"/>
              </a:rPr>
              <a:t>실제 메일 수신과 외부 연동 확인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172B49"/>
                </a:solidFill>
                <a:latin typeface="맑은 고딕"/>
                <a:ea typeface="맑은 고딕"/>
              </a:rPr>
              <a:t>사용자 시나리오별 화면 검증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172B49"/>
                </a:solidFill>
                <a:latin typeface="맑은 고딕"/>
                <a:ea typeface="맑은 고딕"/>
              </a:rPr>
              <a:t>관리자 문의 기능 개발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172B49"/>
                </a:solidFill>
                <a:latin typeface="맑은 고딕"/>
                <a:ea typeface="맑은 고딕"/>
              </a:rPr>
              <a:t>운영 DB 반영과 배포 검증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ko-KR">
                <a:solidFill>
                  <a:srgbClr val="172B49"/>
                </a:solidFill>
                <a:latin typeface="맑은 고딕"/>
                <a:ea typeface="맑은 고딕"/>
              </a:rPr>
              <a:t>일부 조직 변경의 동시 처리 보완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" y="5541264"/>
            <a:ext cx="10789920" cy="0"/>
          </a:xfrm>
          <a:prstGeom prst="line">
            <a:avLst/>
          </a:prstGeom>
          <a:ln w="8890">
            <a:solidFill>
              <a:srgbClr val="CCD6E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5788152"/>
            <a:ext cx="106984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 lang="ko-KR">
                <a:solidFill>
                  <a:srgbClr val="53657D"/>
                </a:solidFill>
                <a:latin typeface="맑은 고딕"/>
                <a:ea typeface="맑은 고딕"/>
              </a:rPr>
              <a:t>주말에 개발을 계속하며, 방문 시 변경된 내용과 남은 항목을 함께 설명하겠습니다.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0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54512" y="6428232"/>
            <a:ext cx="594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lang="ko-KR">
                <a:solidFill>
                  <a:srgbClr val="B8CBE5"/>
                </a:solidFill>
                <a:latin typeface="맑은 고딕"/>
                <a:ea typeface="맑은 고딕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00584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lang="ko-KR">
                <a:solidFill>
                  <a:srgbClr val="A6BFE6"/>
                </a:solidFill>
                <a:latin typeface="맑은 고딕"/>
                <a:ea typeface="맑은 고딕"/>
              </a:rPr>
              <a:t>연차ON · 다음 주 방문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057400"/>
            <a:ext cx="1065276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lang="ko-KR">
                <a:solidFill>
                  <a:srgbClr val="FFFFFF"/>
                </a:solidFill>
                <a:latin typeface="맑은 고딕"/>
                <a:ea typeface="맑은 고딕"/>
              </a:rPr>
              <a:t>실제 화면으로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3900" b="1" lang="ko-KR">
                <a:solidFill>
                  <a:srgbClr val="FFFFFF"/>
                </a:solidFill>
                <a:latin typeface="맑은 고딕"/>
                <a:ea typeface="맑은 고딕"/>
              </a:rPr>
              <a:t>업무 흐름을 보여 드리겠습니다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408736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lang="ko-KR">
                <a:solidFill>
                  <a:srgbClr val="B8CBE5"/>
                </a:solidFill>
                <a:latin typeface="맑은 고딕"/>
                <a:ea typeface="맑은 고딕"/>
              </a:rPr>
              <a:t>신청과 결재 · 잔액 계산 · 관리자 운영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59536" y="5047488"/>
            <a:ext cx="10433304" cy="0"/>
          </a:xfrm>
          <a:prstGeom prst="line">
            <a:avLst/>
          </a:prstGeom>
          <a:ln w="8890">
            <a:solidFill>
              <a:srgbClr val="3652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9536" y="5385816"/>
            <a:ext cx="1044244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lang="ko-KR">
                <a:solidFill>
                  <a:srgbClr val="84DCEA"/>
                </a:solidFill>
                <a:latin typeface="맑은 고딕"/>
                <a:ea typeface="맑은 고딕"/>
              </a:rPr>
              <a:t>미완성본 · 2026-09-11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5998464"/>
            <a:ext cx="10424160" cy="338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ko-KR">
                <a:solidFill>
                  <a:srgbClr val="B8CBE5"/>
                </a:solidFill>
                <a:latin typeface="맑은 고딕"/>
                <a:ea typeface="맑은 고딕"/>
              </a:rPr>
              <a:t>주말 개발 후 갱신된 내용으로 찾아뵙겠습니다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연차ON · MLsoft 사내 연차·복리후생 관리 시스템 V2</dc:title>
  <dc:subject>소개·보고용 미완성본 · 2026-09-11 기준</dc:subject>
  <dc:creator>MLsoft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ko-KR</dc:language>
</cp:coreProperties>
</file>