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737360"/>
            <a:ext cx="9144000" cy="365760"/>
          </a:xfrm>
          <a:prstGeom prst="rect">
            <a:avLst/>
          </a:prstGeom>
          <a:noFill/>
        </p:spPr>
        <p:txBody>
          <a:bodyPr wrap="square" anchor="t" lIns="0" rIns="0" tIns="0" bIns="0">
            <a:spAutoFit/>
          </a:bodyPr>
          <a:lstStyle/>
          <a:p>
            <a:pPr algn="l">
              <a:lnSpc>
                <a:spcPct val="125000"/>
              </a:lnSpc>
            </a:pPr>
            <a:r>
              <a:rPr sz="1400" b="1">
                <a:solidFill>
                  <a:srgbClr val="4FB8E8"/>
                </a:solidFill>
                <a:latin typeface="Consolas"/>
              </a:rPr>
              <a:t>MLsoft 사내 연차·복리후생 관리 시스템 V2</a:t>
            </a:r>
          </a:p>
        </p:txBody>
      </p:sp>
      <p:sp>
        <p:nvSpPr>
          <p:cNvPr id="4" name="TextBox 3"/>
          <p:cNvSpPr txBox="1"/>
          <p:nvPr/>
        </p:nvSpPr>
        <p:spPr>
          <a:xfrm>
            <a:off x="1005840" y="2148840"/>
            <a:ext cx="10058400" cy="1097280"/>
          </a:xfrm>
          <a:prstGeom prst="rect">
            <a:avLst/>
          </a:prstGeom>
          <a:noFill/>
        </p:spPr>
        <p:txBody>
          <a:bodyPr wrap="square" anchor="t" lIns="0" rIns="0" tIns="0" bIns="0">
            <a:spAutoFit/>
          </a:bodyPr>
          <a:lstStyle/>
          <a:p>
            <a:pPr algn="l">
              <a:lnSpc>
                <a:spcPct val="125000"/>
              </a:lnSpc>
            </a:pPr>
            <a:r>
              <a:rPr sz="4400" b="1">
                <a:solidFill>
                  <a:srgbClr val="E8EEFA"/>
                </a:solidFill>
                <a:latin typeface="맑은 고딕"/>
              </a:rPr>
              <a:t>연차ON — 프로젝트 전체 설명</a:t>
            </a:r>
          </a:p>
        </p:txBody>
      </p:sp>
      <p:sp>
        <p:nvSpPr>
          <p:cNvPr id="5" name="TextBox 4"/>
          <p:cNvSpPr txBox="1"/>
          <p:nvPr/>
        </p:nvSpPr>
        <p:spPr>
          <a:xfrm>
            <a:off x="1005840" y="3246120"/>
            <a:ext cx="9601200" cy="822960"/>
          </a:xfrm>
          <a:prstGeom prst="rect">
            <a:avLst/>
          </a:prstGeom>
          <a:noFill/>
        </p:spPr>
        <p:txBody>
          <a:bodyPr wrap="square" anchor="t" lIns="0" rIns="0" tIns="0" bIns="0">
            <a:spAutoFit/>
          </a:bodyPr>
          <a:lstStyle/>
          <a:p>
            <a:pPr algn="l">
              <a:lnSpc>
                <a:spcPct val="150000"/>
              </a:lnSpc>
            </a:pPr>
            <a:r>
              <a:rPr sz="1500" b="0">
                <a:solidFill>
                  <a:srgbClr val="E8EEFA"/>
                </a:solidFill>
                <a:latin typeface="맑은 고딕"/>
              </a:rPr>
              <a:t>작은 기능 하나까지 WBS로 훑어보는 자료입니다. </a:t>
            </a:r>
            <a:r>
              <a:rPr sz="1500" b="0">
                <a:solidFill>
                  <a:srgbClr val="9AABC4"/>
                </a:solidFill>
                <a:latin typeface="맑은 고딕"/>
              </a:rPr>
              <a:t>개발자가 코드를 열기 전에 구조를 잡고,</a:t>
            </a:r>
          </a:p>
          <a:p>
            <a:pPr algn="l">
              <a:lnSpc>
                <a:spcPct val="150000"/>
              </a:lnSpc>
            </a:pPr>
            <a:r>
              <a:rPr sz="1500" b="0">
                <a:solidFill>
                  <a:srgbClr val="9AABC4"/>
                </a:solidFill>
                <a:latin typeface="맑은 고딕"/>
              </a:rPr>
              <a:t>발표·설명 자리에서 그대로 쓸 수 있도록 만들었습니다.</a:t>
            </a:r>
          </a:p>
        </p:txBody>
      </p:sp>
      <p:sp>
        <p:nvSpPr>
          <p:cNvPr id="6" name="Rounded Rectangle 5"/>
          <p:cNvSpPr/>
          <p:nvPr/>
        </p:nvSpPr>
        <p:spPr>
          <a:xfrm>
            <a:off x="1005840" y="4343400"/>
            <a:ext cx="3200400" cy="457200"/>
          </a:xfrm>
          <a:prstGeom prst="roundRect">
            <a:avLst>
              <a:gd name="adj" fmla="val 6000"/>
            </a:avLst>
          </a:prstGeom>
          <a:solidFill>
            <a:srgbClr val="2E2411"/>
          </a:solidFill>
          <a:ln w="12700">
            <a:solidFill>
              <a:srgbClr val="EDB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453128"/>
            <a:ext cx="2926080" cy="274320"/>
          </a:xfrm>
          <a:prstGeom prst="rect">
            <a:avLst/>
          </a:prstGeom>
          <a:noFill/>
        </p:spPr>
        <p:txBody>
          <a:bodyPr wrap="square" anchor="t" lIns="0" rIns="0" tIns="0" bIns="0">
            <a:spAutoFit/>
          </a:bodyPr>
          <a:lstStyle/>
          <a:p>
            <a:pPr algn="l">
              <a:lnSpc>
                <a:spcPct val="125000"/>
              </a:lnSpc>
            </a:pPr>
            <a:r>
              <a:rPr sz="1300" b="1">
                <a:solidFill>
                  <a:srgbClr val="EDB44F"/>
                </a:solidFill>
                <a:latin typeface="맑은 고딕"/>
              </a:rPr>
              <a:t>⚠  미완성본 (Draft)</a:t>
            </a:r>
          </a:p>
        </p:txBody>
      </p:sp>
      <p:sp>
        <p:nvSpPr>
          <p:cNvPr id="8" name="TextBox 7"/>
          <p:cNvSpPr txBox="1"/>
          <p:nvPr/>
        </p:nvSpPr>
        <p:spPr>
          <a:xfrm>
            <a:off x="1005840" y="5029200"/>
            <a:ext cx="9144000" cy="731520"/>
          </a:xfrm>
          <a:prstGeom prst="rect">
            <a:avLst/>
          </a:prstGeom>
          <a:noFill/>
        </p:spPr>
        <p:txBody>
          <a:bodyPr wrap="square" anchor="t" lIns="0" rIns="0" tIns="0" bIns="0">
            <a:spAutoFit/>
          </a:bodyPr>
          <a:lstStyle/>
          <a:p>
            <a:pPr algn="l">
              <a:lnSpc>
                <a:spcPct val="150000"/>
              </a:lnSpc>
            </a:pPr>
            <a:r>
              <a:rPr sz="1200" b="0">
                <a:solidFill>
                  <a:srgbClr val="9AABC4"/>
                </a:solidFill>
                <a:latin typeface="맑은 고딕"/>
              </a:rPr>
              <a:t>2026-09-10 기준 · 기능이 계속 추가되는 중이며, 이 문서도 함께 갱신됩니다.</a:t>
            </a:r>
          </a:p>
          <a:p>
            <a:pPr algn="l">
              <a:lnSpc>
                <a:spcPct val="150000"/>
              </a:lnSpc>
            </a:pPr>
            <a:r>
              <a:rPr sz="1100" b="0">
                <a:solidFill>
                  <a:srgbClr val="6F8099"/>
                </a:solidFill>
                <a:latin typeface="Consolas"/>
              </a:rPr>
              <a:t>현재 상태의 단일 원본은 저장소의 docs/12-남은-작업.md 입니다.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HOW TO READ</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이 문서를 읽는 법</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Rounded Rectangle 5"/>
          <p:cNvSpPr/>
          <p:nvPr/>
        </p:nvSpPr>
        <p:spPr>
          <a:xfrm>
            <a:off x="868680" y="1463040"/>
            <a:ext cx="10515600" cy="512064"/>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609344"/>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①</a:t>
            </a:r>
          </a:p>
        </p:txBody>
      </p:sp>
      <p:sp>
        <p:nvSpPr>
          <p:cNvPr id="8" name="TextBox 7"/>
          <p:cNvSpPr txBox="1"/>
          <p:nvPr/>
        </p:nvSpPr>
        <p:spPr>
          <a:xfrm>
            <a:off x="1737360" y="1581912"/>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WBS 번호</a:t>
            </a:r>
          </a:p>
        </p:txBody>
      </p:sp>
      <p:sp>
        <p:nvSpPr>
          <p:cNvPr id="9" name="TextBox 8"/>
          <p:cNvSpPr txBox="1"/>
          <p:nvPr/>
        </p:nvSpPr>
        <p:spPr>
          <a:xfrm>
            <a:off x="4572000" y="1609344"/>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1.3 처럼 대분류.소분류로 매깁니다. 코드·문서를 찾을 때 그대로 검색어가 됩니다</a:t>
            </a:r>
          </a:p>
        </p:txBody>
      </p:sp>
      <p:sp>
        <p:nvSpPr>
          <p:cNvPr id="10" name="Rounded Rectangle 9"/>
          <p:cNvSpPr/>
          <p:nvPr/>
        </p:nvSpPr>
        <p:spPr>
          <a:xfrm>
            <a:off x="868680" y="2029968"/>
            <a:ext cx="10515600" cy="512064"/>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217627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②</a:t>
            </a:r>
          </a:p>
        </p:txBody>
      </p:sp>
      <p:sp>
        <p:nvSpPr>
          <p:cNvPr id="12" name="TextBox 11"/>
          <p:cNvSpPr txBox="1"/>
          <p:nvPr/>
        </p:nvSpPr>
        <p:spPr>
          <a:xfrm>
            <a:off x="1737360" y="214884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상태 배지</a:t>
            </a:r>
          </a:p>
        </p:txBody>
      </p:sp>
      <p:sp>
        <p:nvSpPr>
          <p:cNvPr id="13" name="TextBox 12"/>
          <p:cNvSpPr txBox="1"/>
          <p:nvPr/>
        </p:nvSpPr>
        <p:spPr>
          <a:xfrm>
            <a:off x="4572000" y="217627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완료 = 코드와 테스트가 있음 · 부분 = 일부만 · 예정 = 아직 없음</a:t>
            </a:r>
          </a:p>
        </p:txBody>
      </p:sp>
      <p:sp>
        <p:nvSpPr>
          <p:cNvPr id="14" name="Rounded Rectangle 13"/>
          <p:cNvSpPr/>
          <p:nvPr/>
        </p:nvSpPr>
        <p:spPr>
          <a:xfrm>
            <a:off x="868680" y="2596896"/>
            <a:ext cx="10515600" cy="512064"/>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4320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③</a:t>
            </a:r>
          </a:p>
        </p:txBody>
      </p:sp>
      <p:sp>
        <p:nvSpPr>
          <p:cNvPr id="16" name="TextBox 15"/>
          <p:cNvSpPr txBox="1"/>
          <p:nvPr/>
        </p:nvSpPr>
        <p:spPr>
          <a:xfrm>
            <a:off x="1737360" y="271576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근거</a:t>
            </a:r>
          </a:p>
        </p:txBody>
      </p:sp>
      <p:sp>
        <p:nvSpPr>
          <p:cNvPr id="17" name="TextBox 16"/>
          <p:cNvSpPr txBox="1"/>
          <p:nvPr/>
        </p:nvSpPr>
        <p:spPr>
          <a:xfrm>
            <a:off x="4572000" y="274320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슬라이드 아래 회색 글씨가 실제 파일·문서 위치입니다</a:t>
            </a:r>
          </a:p>
        </p:txBody>
      </p:sp>
      <p:sp>
        <p:nvSpPr>
          <p:cNvPr id="18" name="Rectangle 17"/>
          <p:cNvSpPr/>
          <p:nvPr/>
        </p:nvSpPr>
        <p:spPr>
          <a:xfrm>
            <a:off x="868680" y="3200400"/>
            <a:ext cx="45720" cy="1097280"/>
          </a:xfrm>
          <a:prstGeom prst="rect">
            <a:avLst/>
          </a:prstGeom>
          <a:solidFill>
            <a:srgbClr val="EDB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3200400"/>
            <a:ext cx="10469880" cy="109728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3346704"/>
            <a:ext cx="9966960" cy="82296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미완성본으로 표시한 이유 — 이 시스템은 아직 운영에 올리지 않았고, 지금도 기능이 붙고 있습니다. 여기 적힌 '완료'는 코드와 자동 테스트가 있다는 뜻이지 실사용 검증이 끝났다는 뜻이 아닙니다. 실제 사람이 브라우저에서 확인해야 하는 항목은 별도 QA 체크리스트로 관리합니다.</a:t>
            </a:r>
          </a:p>
        </p:txBody>
      </p:sp>
      <p:sp>
        <p:nvSpPr>
          <p:cNvPr id="21" name="TextBox 20"/>
          <p:cNvSpPr txBox="1"/>
          <p:nvPr/>
        </p:nvSpPr>
        <p:spPr>
          <a:xfrm>
            <a:off x="868680" y="4617720"/>
            <a:ext cx="10515600" cy="1371600"/>
          </a:xfrm>
          <a:prstGeom prst="rect">
            <a:avLst/>
          </a:prstGeom>
          <a:noFill/>
        </p:spPr>
        <p:txBody>
          <a:bodyPr wrap="square" anchor="t" lIns="0" rIns="0" tIns="0" bIns="0">
            <a:spAutoFit/>
          </a:bodyPr>
          <a:lstStyle/>
          <a:p>
            <a:pPr algn="l">
              <a:lnSpc>
                <a:spcPct val="160000"/>
              </a:lnSpc>
            </a:pPr>
            <a:r>
              <a:rPr sz="1400" b="1">
                <a:solidFill>
                  <a:srgbClr val="E8EEFA"/>
                </a:solidFill>
                <a:latin typeface="맑은 고딕"/>
              </a:rPr>
              <a:t>발표에서 이렇게 쓰세요</a:t>
            </a:r>
          </a:p>
          <a:p>
            <a:pPr algn="l">
              <a:lnSpc>
                <a:spcPct val="160000"/>
              </a:lnSpc>
            </a:pPr>
            <a:r>
              <a:rPr sz="1300" b="0">
                <a:solidFill>
                  <a:srgbClr val="9AABC4"/>
                </a:solidFill>
                <a:latin typeface="맑은 고딕"/>
              </a:rPr>
              <a:t>· 5분 설명 → 3 · 4 · 7번 슬라이드(개요 · 규모 · WBS 지도)만</a:t>
            </a:r>
          </a:p>
          <a:p>
            <a:pPr algn="l">
              <a:lnSpc>
                <a:spcPct val="160000"/>
              </a:lnSpc>
            </a:pPr>
            <a:r>
              <a:rPr sz="1300" b="0">
                <a:solidFill>
                  <a:srgbClr val="9AABC4"/>
                </a:solidFill>
                <a:latin typeface="맑은 고딕"/>
              </a:rPr>
              <a:t>· 개발자 온보딩 → 8~18번 WBS 상세 + 19~24번 설계 결정</a:t>
            </a:r>
          </a:p>
          <a:p>
            <a:pPr algn="l">
              <a:lnSpc>
                <a:spcPct val="160000"/>
              </a:lnSpc>
            </a:pPr>
            <a:r>
              <a:rPr sz="1300" b="0">
                <a:solidFill>
                  <a:srgbClr val="9AABC4"/>
                </a:solidFill>
                <a:latin typeface="맑은 고딕"/>
              </a:rPr>
              <a:t>· 인수인계 → 26번(남은 작업) + 27번(배포 절차)</a:t>
            </a:r>
          </a:p>
        </p:txBody>
      </p:sp>
      <p:sp>
        <p:nvSpPr>
          <p:cNvPr id="22" name="TextBox 21"/>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OVERVIEW</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무엇을 하는 시스템인가</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TextBox 5"/>
          <p:cNvSpPr txBox="1"/>
          <p:nvPr/>
        </p:nvSpPr>
        <p:spPr>
          <a:xfrm>
            <a:off x="868680" y="1417320"/>
            <a:ext cx="10515600" cy="548640"/>
          </a:xfrm>
          <a:prstGeom prst="rect">
            <a:avLst/>
          </a:prstGeom>
          <a:noFill/>
        </p:spPr>
        <p:txBody>
          <a:bodyPr wrap="square" anchor="t" lIns="0" rIns="0" tIns="0" bIns="0">
            <a:spAutoFit/>
          </a:bodyPr>
          <a:lstStyle/>
          <a:p>
            <a:pPr algn="l">
              <a:lnSpc>
                <a:spcPct val="125000"/>
              </a:lnSpc>
            </a:pPr>
            <a:r>
              <a:rPr sz="1700" b="1">
                <a:solidFill>
                  <a:srgbClr val="E8EEFA"/>
                </a:solidFill>
                <a:latin typeface="맑은 고딕"/>
              </a:rPr>
              <a:t>사원이 연차를 신청하고, 팀장이 결재하고, 관리자가 정책과 조직을 관리한다.</a:t>
            </a:r>
          </a:p>
        </p:txBody>
      </p:sp>
      <p:sp>
        <p:nvSpPr>
          <p:cNvPr id="7" name="Rounded Rectangle 6"/>
          <p:cNvSpPr/>
          <p:nvPr/>
        </p:nvSpPr>
        <p:spPr>
          <a:xfrm>
            <a:off x="868680" y="2103120"/>
            <a:ext cx="3395472" cy="118872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2267712"/>
            <a:ext cx="3029712"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사원</a:t>
            </a:r>
          </a:p>
        </p:txBody>
      </p:sp>
      <p:sp>
        <p:nvSpPr>
          <p:cNvPr id="9" name="TextBox 8"/>
          <p:cNvSpPr txBox="1"/>
          <p:nvPr/>
        </p:nvSpPr>
        <p:spPr>
          <a:xfrm>
            <a:off x="1069848" y="2523744"/>
            <a:ext cx="3029712"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연차 · 복리후생</a:t>
            </a:r>
          </a:p>
        </p:txBody>
      </p:sp>
      <p:sp>
        <p:nvSpPr>
          <p:cNvPr id="10" name="TextBox 9"/>
          <p:cNvSpPr txBox="1"/>
          <p:nvPr/>
        </p:nvSpPr>
        <p:spPr>
          <a:xfrm>
            <a:off x="1069848" y="2999232"/>
            <a:ext cx="3029712"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신청 · 취소 · 내 현황</a:t>
            </a:r>
          </a:p>
        </p:txBody>
      </p:sp>
      <p:sp>
        <p:nvSpPr>
          <p:cNvPr id="11" name="Rounded Rectangle 10"/>
          <p:cNvSpPr/>
          <p:nvPr/>
        </p:nvSpPr>
        <p:spPr>
          <a:xfrm>
            <a:off x="4428744" y="2103120"/>
            <a:ext cx="3395472" cy="118872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9912" y="2267712"/>
            <a:ext cx="3029712"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팀장</a:t>
            </a:r>
          </a:p>
        </p:txBody>
      </p:sp>
      <p:sp>
        <p:nvSpPr>
          <p:cNvPr id="13" name="TextBox 12"/>
          <p:cNvSpPr txBox="1"/>
          <p:nvPr/>
        </p:nvSpPr>
        <p:spPr>
          <a:xfrm>
            <a:off x="4629912" y="2523744"/>
            <a:ext cx="3029712"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결재</a:t>
            </a:r>
          </a:p>
        </p:txBody>
      </p:sp>
      <p:sp>
        <p:nvSpPr>
          <p:cNvPr id="14" name="TextBox 13"/>
          <p:cNvSpPr txBox="1"/>
          <p:nvPr/>
        </p:nvSpPr>
        <p:spPr>
          <a:xfrm>
            <a:off x="4629912" y="2999232"/>
            <a:ext cx="3029712"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승인 · 반려 · 팀 현황</a:t>
            </a:r>
          </a:p>
        </p:txBody>
      </p:sp>
      <p:sp>
        <p:nvSpPr>
          <p:cNvPr id="15" name="Rounded Rectangle 14"/>
          <p:cNvSpPr/>
          <p:nvPr/>
        </p:nvSpPr>
        <p:spPr>
          <a:xfrm>
            <a:off x="7988808" y="2103120"/>
            <a:ext cx="3395472" cy="118872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9976" y="2267712"/>
            <a:ext cx="3029712"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총관리자</a:t>
            </a:r>
          </a:p>
        </p:txBody>
      </p:sp>
      <p:sp>
        <p:nvSpPr>
          <p:cNvPr id="17" name="TextBox 16"/>
          <p:cNvSpPr txBox="1"/>
          <p:nvPr/>
        </p:nvSpPr>
        <p:spPr>
          <a:xfrm>
            <a:off x="8189976" y="2523744"/>
            <a:ext cx="3029712"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정책 · 조직 · 발송</a:t>
            </a:r>
          </a:p>
        </p:txBody>
      </p:sp>
      <p:sp>
        <p:nvSpPr>
          <p:cNvPr id="18" name="TextBox 17"/>
          <p:cNvSpPr txBox="1"/>
          <p:nvPr/>
        </p:nvSpPr>
        <p:spPr>
          <a:xfrm>
            <a:off x="8189976" y="2999232"/>
            <a:ext cx="3029712"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설정 · 구성원 · 이메일</a:t>
            </a:r>
          </a:p>
        </p:txBody>
      </p:sp>
      <p:sp>
        <p:nvSpPr>
          <p:cNvPr id="19" name="Rectangle 18"/>
          <p:cNvSpPr/>
          <p:nvPr/>
        </p:nvSpPr>
        <p:spPr>
          <a:xfrm>
            <a:off x="868680" y="3611880"/>
            <a:ext cx="45720" cy="914400"/>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 y="3611880"/>
            <a:ext cx="10469880" cy="91440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3758184"/>
            <a:ext cx="9966960" cy="64008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이전 버전(참고자료/MLsoft)을 분석해 다시 설계한 V2입니다. 연차 계산이 여러 곳에 흩어져 어긋나던 문제를 '도메인 메서드 한 곳'으로 모으고, 자동 적립·소멸을 스케줄러로 옮긴 것이 가장 큰 변화입니다.</a:t>
            </a:r>
          </a:p>
        </p:txBody>
      </p:sp>
      <p:sp>
        <p:nvSpPr>
          <p:cNvPr id="22" name="TextBox 21"/>
          <p:cNvSpPr txBox="1"/>
          <p:nvPr/>
        </p:nvSpPr>
        <p:spPr>
          <a:xfrm>
            <a:off x="868680" y="4800600"/>
            <a:ext cx="10515600" cy="1097280"/>
          </a:xfrm>
          <a:prstGeom prst="rect">
            <a:avLst/>
          </a:prstGeom>
          <a:noFill/>
        </p:spPr>
        <p:txBody>
          <a:bodyPr wrap="square" anchor="t" lIns="0" rIns="0" tIns="0" bIns="0">
            <a:spAutoFit/>
          </a:bodyPr>
          <a:lstStyle/>
          <a:p>
            <a:pPr algn="l">
              <a:lnSpc>
                <a:spcPct val="160000"/>
              </a:lnSpc>
            </a:pPr>
            <a:r>
              <a:rPr sz="1300" b="1">
                <a:solidFill>
                  <a:srgbClr val="E8EEFA"/>
                </a:solidFill>
                <a:latin typeface="맑은 고딕"/>
              </a:rPr>
              <a:t>핵심 흐름 한 줄</a:t>
            </a:r>
          </a:p>
          <a:p>
            <a:pPr algn="l">
              <a:lnSpc>
                <a:spcPct val="160000"/>
              </a:lnSpc>
            </a:pPr>
            <a:r>
              <a:rPr sz="1200" b="0">
                <a:solidFill>
                  <a:srgbClr val="4FB8E8"/>
                </a:solidFill>
                <a:latin typeface="Consolas"/>
              </a:rPr>
              <a:t>Google 로그인 → 온보딩(생일·입사일) → 연차 신청(선차감) → 팀장 결재 → 기산일마다 자동 리셋</a:t>
            </a:r>
          </a:p>
        </p:txBody>
      </p:sp>
      <p:sp>
        <p:nvSpPr>
          <p:cNvPr id="23" name="TextBox 22"/>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SCALE</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규모 — 2026-09-10 실측</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Rounded Rectangle 5"/>
          <p:cNvSpPr/>
          <p:nvPr/>
        </p:nvSpPr>
        <p:spPr>
          <a:xfrm>
            <a:off x="868680" y="155448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171907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API</a:t>
            </a:r>
          </a:p>
        </p:txBody>
      </p:sp>
      <p:sp>
        <p:nvSpPr>
          <p:cNvPr id="8" name="TextBox 7"/>
          <p:cNvSpPr txBox="1"/>
          <p:nvPr/>
        </p:nvSpPr>
        <p:spPr>
          <a:xfrm>
            <a:off x="1069848" y="197510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88</a:t>
            </a:r>
          </a:p>
        </p:txBody>
      </p:sp>
      <p:sp>
        <p:nvSpPr>
          <p:cNvPr id="9" name="TextBox 8"/>
          <p:cNvSpPr txBox="1"/>
          <p:nvPr/>
        </p:nvSpPr>
        <p:spPr>
          <a:xfrm>
            <a:off x="1069848" y="245059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컨트롤러 18개</a:t>
            </a:r>
          </a:p>
        </p:txBody>
      </p:sp>
      <p:sp>
        <p:nvSpPr>
          <p:cNvPr id="10" name="Rounded Rectangle 9"/>
          <p:cNvSpPr/>
          <p:nvPr/>
        </p:nvSpPr>
        <p:spPr>
          <a:xfrm>
            <a:off x="3538728" y="155448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39896" y="171907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화면</a:t>
            </a:r>
          </a:p>
        </p:txBody>
      </p:sp>
      <p:sp>
        <p:nvSpPr>
          <p:cNvPr id="12" name="TextBox 11"/>
          <p:cNvSpPr txBox="1"/>
          <p:nvPr/>
        </p:nvSpPr>
        <p:spPr>
          <a:xfrm>
            <a:off x="3739896" y="197510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17</a:t>
            </a:r>
          </a:p>
        </p:txBody>
      </p:sp>
      <p:sp>
        <p:nvSpPr>
          <p:cNvPr id="13" name="TextBox 12"/>
          <p:cNvSpPr txBox="1"/>
          <p:nvPr/>
        </p:nvSpPr>
        <p:spPr>
          <a:xfrm>
            <a:off x="3739896" y="245059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React 페이지</a:t>
            </a:r>
          </a:p>
        </p:txBody>
      </p:sp>
      <p:sp>
        <p:nvSpPr>
          <p:cNvPr id="14" name="Rounded Rectangle 13"/>
          <p:cNvSpPr/>
          <p:nvPr/>
        </p:nvSpPr>
        <p:spPr>
          <a:xfrm>
            <a:off x="6208776" y="155448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71907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DB</a:t>
            </a:r>
          </a:p>
        </p:txBody>
      </p:sp>
      <p:sp>
        <p:nvSpPr>
          <p:cNvPr id="16" name="TextBox 15"/>
          <p:cNvSpPr txBox="1"/>
          <p:nvPr/>
        </p:nvSpPr>
        <p:spPr>
          <a:xfrm>
            <a:off x="6409944" y="197510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21</a:t>
            </a:r>
          </a:p>
        </p:txBody>
      </p:sp>
      <p:sp>
        <p:nvSpPr>
          <p:cNvPr id="17" name="TextBox 16"/>
          <p:cNvSpPr txBox="1"/>
          <p:nvPr/>
        </p:nvSpPr>
        <p:spPr>
          <a:xfrm>
            <a:off x="6409944" y="245059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테이블 · ENUM 15컬럼</a:t>
            </a:r>
          </a:p>
        </p:txBody>
      </p:sp>
      <p:sp>
        <p:nvSpPr>
          <p:cNvPr id="18" name="Rounded Rectangle 17"/>
          <p:cNvSpPr/>
          <p:nvPr/>
        </p:nvSpPr>
        <p:spPr>
          <a:xfrm>
            <a:off x="8878824" y="155448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9992" y="171907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자동 검증</a:t>
            </a:r>
          </a:p>
        </p:txBody>
      </p:sp>
      <p:sp>
        <p:nvSpPr>
          <p:cNvPr id="20" name="TextBox 19"/>
          <p:cNvSpPr txBox="1"/>
          <p:nvPr/>
        </p:nvSpPr>
        <p:spPr>
          <a:xfrm>
            <a:off x="9079992" y="197510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832</a:t>
            </a:r>
          </a:p>
        </p:txBody>
      </p:sp>
      <p:sp>
        <p:nvSpPr>
          <p:cNvPr id="21" name="TextBox 20"/>
          <p:cNvSpPr txBox="1"/>
          <p:nvPr/>
        </p:nvSpPr>
        <p:spPr>
          <a:xfrm>
            <a:off x="9079992" y="245059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백엔드 500 · 프론트 332</a:t>
            </a:r>
          </a:p>
        </p:txBody>
      </p:sp>
      <p:sp>
        <p:nvSpPr>
          <p:cNvPr id="22" name="Rounded Rectangle 21"/>
          <p:cNvSpPr/>
          <p:nvPr/>
        </p:nvSpPr>
        <p:spPr>
          <a:xfrm>
            <a:off x="868680" y="301752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9848" y="318211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도메인</a:t>
            </a:r>
          </a:p>
        </p:txBody>
      </p:sp>
      <p:sp>
        <p:nvSpPr>
          <p:cNvPr id="24" name="TextBox 23"/>
          <p:cNvSpPr txBox="1"/>
          <p:nvPr/>
        </p:nvSpPr>
        <p:spPr>
          <a:xfrm>
            <a:off x="1069848" y="343814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12</a:t>
            </a:r>
          </a:p>
        </p:txBody>
      </p:sp>
      <p:sp>
        <p:nvSpPr>
          <p:cNvPr id="25" name="TextBox 24"/>
          <p:cNvSpPr txBox="1"/>
          <p:nvPr/>
        </p:nvSpPr>
        <p:spPr>
          <a:xfrm>
            <a:off x="1069848" y="391363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패키지 단위 분리</a:t>
            </a:r>
          </a:p>
        </p:txBody>
      </p:sp>
      <p:sp>
        <p:nvSpPr>
          <p:cNvPr id="26" name="Rounded Rectangle 25"/>
          <p:cNvSpPr/>
          <p:nvPr/>
        </p:nvSpPr>
        <p:spPr>
          <a:xfrm>
            <a:off x="3538728" y="301752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39896" y="318211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엔티티</a:t>
            </a:r>
          </a:p>
        </p:txBody>
      </p:sp>
      <p:sp>
        <p:nvSpPr>
          <p:cNvPr id="28" name="TextBox 27"/>
          <p:cNvSpPr txBox="1"/>
          <p:nvPr/>
        </p:nvSpPr>
        <p:spPr>
          <a:xfrm>
            <a:off x="3739896" y="343814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19</a:t>
            </a:r>
          </a:p>
        </p:txBody>
      </p:sp>
      <p:sp>
        <p:nvSpPr>
          <p:cNvPr id="29" name="TextBox 28"/>
          <p:cNvSpPr txBox="1"/>
          <p:nvPr/>
        </p:nvSpPr>
        <p:spPr>
          <a:xfrm>
            <a:off x="3739896" y="391363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JPA @Entity</a:t>
            </a:r>
          </a:p>
        </p:txBody>
      </p:sp>
      <p:sp>
        <p:nvSpPr>
          <p:cNvPr id="30" name="Rounded Rectangle 29"/>
          <p:cNvSpPr/>
          <p:nvPr/>
        </p:nvSpPr>
        <p:spPr>
          <a:xfrm>
            <a:off x="6208776" y="301752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318211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정책 설정</a:t>
            </a:r>
          </a:p>
        </p:txBody>
      </p:sp>
      <p:sp>
        <p:nvSpPr>
          <p:cNvPr id="32" name="TextBox 31"/>
          <p:cNvSpPr txBox="1"/>
          <p:nvPr/>
        </p:nvSpPr>
        <p:spPr>
          <a:xfrm>
            <a:off x="6409944" y="343814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12</a:t>
            </a:r>
          </a:p>
        </p:txBody>
      </p:sp>
      <p:sp>
        <p:nvSpPr>
          <p:cNvPr id="33" name="TextBox 32"/>
          <p:cNvSpPr txBox="1"/>
          <p:nvPr/>
        </p:nvSpPr>
        <p:spPr>
          <a:xfrm>
            <a:off x="6409944" y="391363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관리자가 조정 가능</a:t>
            </a:r>
          </a:p>
        </p:txBody>
      </p:sp>
      <p:sp>
        <p:nvSpPr>
          <p:cNvPr id="34" name="Rounded Rectangle 33"/>
          <p:cNvSpPr/>
          <p:nvPr/>
        </p:nvSpPr>
        <p:spPr>
          <a:xfrm>
            <a:off x="8878824" y="301752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79992" y="318211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자동화 잡</a:t>
            </a:r>
          </a:p>
        </p:txBody>
      </p:sp>
      <p:sp>
        <p:nvSpPr>
          <p:cNvPr id="36" name="TextBox 35"/>
          <p:cNvSpPr txBox="1"/>
          <p:nvPr/>
        </p:nvSpPr>
        <p:spPr>
          <a:xfrm>
            <a:off x="9079992" y="343814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6</a:t>
            </a:r>
          </a:p>
        </p:txBody>
      </p:sp>
      <p:sp>
        <p:nvSpPr>
          <p:cNvPr id="37" name="TextBox 36"/>
          <p:cNvSpPr txBox="1"/>
          <p:nvPr/>
        </p:nvSpPr>
        <p:spPr>
          <a:xfrm>
            <a:off x="9079992" y="391363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일일 5 + 새해 1</a:t>
            </a:r>
          </a:p>
        </p:txBody>
      </p:sp>
      <p:sp>
        <p:nvSpPr>
          <p:cNvPr id="38" name="Rectangle 37"/>
          <p:cNvSpPr/>
          <p:nvPr/>
        </p:nvSpPr>
        <p:spPr>
          <a:xfrm>
            <a:off x="868680" y="4572000"/>
            <a:ext cx="45720" cy="868680"/>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14400" y="4572000"/>
            <a:ext cx="10469880" cy="86868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43000" y="4718304"/>
            <a:ext cx="9966960" cy="59436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숫자는 문서에 적어 두고 끝내지 않고, 실제 코드를 세어 맞춥니다. 예전에 문서와 코드가 어긋나 엔티티 수를 잘못 세고 있던 적이 있어(BaseTimeEntity를 함께 셈) 지금은 실측 명령을 남겨 둡니다.</a:t>
            </a:r>
          </a:p>
        </p:txBody>
      </p:sp>
      <p:sp>
        <p:nvSpPr>
          <p:cNvPr id="41" name="TextBox 40"/>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ARCHITECTURE</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기술 스택과 구조</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Rounded Rectangle 5"/>
          <p:cNvSpPr/>
          <p:nvPr/>
        </p:nvSpPr>
        <p:spPr>
          <a:xfrm>
            <a:off x="868680" y="1463040"/>
            <a:ext cx="5120640" cy="201168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645920"/>
            <a:ext cx="4572000" cy="1737360"/>
          </a:xfrm>
          <a:prstGeom prst="rect">
            <a:avLst/>
          </a:prstGeom>
          <a:noFill/>
        </p:spPr>
        <p:txBody>
          <a:bodyPr wrap="square" anchor="t" lIns="0" rIns="0" tIns="0" bIns="0">
            <a:spAutoFit/>
          </a:bodyPr>
          <a:lstStyle/>
          <a:p>
            <a:pPr algn="l">
              <a:lnSpc>
                <a:spcPct val="150000"/>
              </a:lnSpc>
            </a:pPr>
            <a:r>
              <a:rPr sz="1400" b="1">
                <a:solidFill>
                  <a:srgbClr val="4FB8E8"/>
                </a:solidFill>
                <a:latin typeface="맑은 고딕"/>
              </a:rPr>
              <a:t>백엔드</a:t>
            </a:r>
          </a:p>
          <a:p>
            <a:pPr algn="l">
              <a:lnSpc>
                <a:spcPct val="150000"/>
              </a:lnSpc>
            </a:pPr>
            <a:r>
              <a:rPr sz="1200" b="0">
                <a:solidFill>
                  <a:srgbClr val="9AABC4"/>
                </a:solidFill>
                <a:latin typeface="맑은 고딕"/>
              </a:rPr>
              <a:t>Spring Boot 4 · Java 21 · JPA(Hibernate)</a:t>
            </a:r>
          </a:p>
          <a:p>
            <a:pPr algn="l">
              <a:lnSpc>
                <a:spcPct val="150000"/>
              </a:lnSpc>
            </a:pPr>
            <a:r>
              <a:rPr sz="1200" b="0">
                <a:solidFill>
                  <a:srgbClr val="9AABC4"/>
                </a:solidFill>
                <a:latin typeface="맑은 고딕"/>
              </a:rPr>
              <a:t>MySQL 8 (운영) · H2 (테스트)</a:t>
            </a:r>
          </a:p>
          <a:p>
            <a:pPr algn="l">
              <a:lnSpc>
                <a:spcPct val="150000"/>
              </a:lnSpc>
            </a:pPr>
            <a:r>
              <a:rPr sz="1200" b="0">
                <a:solidFill>
                  <a:srgbClr val="9AABC4"/>
                </a:solidFill>
                <a:latin typeface="맑은 고딕"/>
              </a:rPr>
              <a:t>도메인별 패키지 — controller/dto/entity/repository/service</a:t>
            </a:r>
          </a:p>
        </p:txBody>
      </p:sp>
      <p:sp>
        <p:nvSpPr>
          <p:cNvPr id="8" name="Rounded Rectangle 7"/>
          <p:cNvSpPr/>
          <p:nvPr/>
        </p:nvSpPr>
        <p:spPr>
          <a:xfrm>
            <a:off x="6263640" y="1463040"/>
            <a:ext cx="5120640" cy="201168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645920"/>
            <a:ext cx="4572000" cy="1737360"/>
          </a:xfrm>
          <a:prstGeom prst="rect">
            <a:avLst/>
          </a:prstGeom>
          <a:noFill/>
        </p:spPr>
        <p:txBody>
          <a:bodyPr wrap="square" anchor="t" lIns="0" rIns="0" tIns="0" bIns="0">
            <a:spAutoFit/>
          </a:bodyPr>
          <a:lstStyle/>
          <a:p>
            <a:pPr algn="l">
              <a:lnSpc>
                <a:spcPct val="150000"/>
              </a:lnSpc>
            </a:pPr>
            <a:r>
              <a:rPr sz="1400" b="1">
                <a:solidFill>
                  <a:srgbClr val="4FB8E8"/>
                </a:solidFill>
                <a:latin typeface="맑은 고딕"/>
              </a:rPr>
              <a:t>프론트엔드</a:t>
            </a:r>
          </a:p>
          <a:p>
            <a:pPr algn="l">
              <a:lnSpc>
                <a:spcPct val="150000"/>
              </a:lnSpc>
            </a:pPr>
            <a:r>
              <a:rPr sz="1200" b="0">
                <a:solidFill>
                  <a:srgbClr val="9AABC4"/>
                </a:solidFill>
                <a:latin typeface="맑은 고딕"/>
              </a:rPr>
              <a:t>React 19 · Vite(Rolldown) · React Query</a:t>
            </a:r>
          </a:p>
          <a:p>
            <a:pPr algn="l">
              <a:lnSpc>
                <a:spcPct val="150000"/>
              </a:lnSpc>
            </a:pPr>
            <a:r>
              <a:rPr sz="1200" b="0">
                <a:solidFill>
                  <a:srgbClr val="9AABC4"/>
                </a:solidFill>
                <a:latin typeface="맑은 고딕"/>
              </a:rPr>
              <a:t>Tailwind v4 CSS-first — 토큰은 index.css @theme</a:t>
            </a:r>
          </a:p>
          <a:p>
            <a:pPr algn="l">
              <a:lnSpc>
                <a:spcPct val="150000"/>
              </a:lnSpc>
            </a:pPr>
            <a:r>
              <a:rPr sz="1200" b="0">
                <a:solidFill>
                  <a:srgbClr val="9AABC4"/>
                </a:solidFill>
                <a:latin typeface="맑은 고딕"/>
              </a:rPr>
              <a:t>api → hooks → page 3층 (쿼리 키 규칙으로 일괄 무효화)</a:t>
            </a:r>
          </a:p>
        </p:txBody>
      </p:sp>
      <p:sp>
        <p:nvSpPr>
          <p:cNvPr id="10" name="Rectangle 9"/>
          <p:cNvSpPr/>
          <p:nvPr/>
        </p:nvSpPr>
        <p:spPr>
          <a:xfrm>
            <a:off x="868680" y="3703320"/>
            <a:ext cx="45720" cy="822960"/>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3703320"/>
            <a:ext cx="10469880" cy="82296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3849624"/>
            <a:ext cx="9966960" cy="54864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배포는 단일 컨테이너입니다 — 프론트 빌드 산출물을 백엔드 static에 넣어 하나의 포트(8080)로 서비스합니다. 같은 오리진이라 CORS와 쿠키 문제가 처음부터 생기지 않습니다.</a:t>
            </a:r>
          </a:p>
        </p:txBody>
      </p:sp>
      <p:sp>
        <p:nvSpPr>
          <p:cNvPr id="13" name="TextBox 12"/>
          <p:cNvSpPr txBox="1"/>
          <p:nvPr/>
        </p:nvSpPr>
        <p:spPr>
          <a:xfrm>
            <a:off x="868680" y="4754880"/>
            <a:ext cx="10515600" cy="1097280"/>
          </a:xfrm>
          <a:prstGeom prst="rect">
            <a:avLst/>
          </a:prstGeom>
          <a:noFill/>
        </p:spPr>
        <p:txBody>
          <a:bodyPr wrap="square" anchor="t" lIns="0" rIns="0" tIns="0" bIns="0">
            <a:spAutoFit/>
          </a:bodyPr>
          <a:lstStyle/>
          <a:p>
            <a:pPr algn="l">
              <a:lnSpc>
                <a:spcPct val="160000"/>
              </a:lnSpc>
            </a:pPr>
            <a:r>
              <a:rPr sz="1300" b="1">
                <a:solidFill>
                  <a:srgbClr val="E8EEFA"/>
                </a:solidFill>
                <a:latin typeface="맑은 고딕"/>
              </a:rPr>
              <a:t>도메인 12개</a:t>
            </a:r>
          </a:p>
          <a:p>
            <a:pPr algn="l">
              <a:lnSpc>
                <a:spcPct val="160000"/>
              </a:lnSpc>
            </a:pPr>
            <a:r>
              <a:rPr sz="1100" b="0">
                <a:solidFill>
                  <a:srgbClr val="6F8099"/>
                </a:solidFill>
                <a:latin typeface="Consolas"/>
              </a:rPr>
              <a:t>audit · auth · common · credential · department · email · holiday · leave · policy · schedule · user · welfare</a:t>
            </a:r>
          </a:p>
        </p:txBody>
      </p:sp>
      <p:sp>
        <p:nvSpPr>
          <p:cNvPr id="14" name="TextBox 13"/>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AUTH</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인증과 접근 제어</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WBS 1</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463040"/>
            <a:ext cx="3383280" cy="13716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27632"/>
            <a:ext cx="2926080"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1</a:t>
            </a:r>
          </a:p>
        </p:txBody>
      </p:sp>
      <p:sp>
        <p:nvSpPr>
          <p:cNvPr id="9" name="TextBox 8"/>
          <p:cNvSpPr txBox="1"/>
          <p:nvPr/>
        </p:nvSpPr>
        <p:spPr>
          <a:xfrm>
            <a:off x="1097280" y="1901952"/>
            <a:ext cx="2926080" cy="274320"/>
          </a:xfrm>
          <a:prstGeom prst="rect">
            <a:avLst/>
          </a:prstGeom>
          <a:noFill/>
        </p:spPr>
        <p:txBody>
          <a:bodyPr wrap="square" anchor="t" lIns="0" rIns="0" tIns="0" bIns="0">
            <a:spAutoFit/>
          </a:bodyPr>
          <a:lstStyle/>
          <a:p>
            <a:pPr algn="l">
              <a:lnSpc>
                <a:spcPct val="125000"/>
              </a:lnSpc>
            </a:pPr>
            <a:r>
              <a:rPr sz="1500" b="1">
                <a:solidFill>
                  <a:srgbClr val="E8EEFA"/>
                </a:solidFill>
                <a:latin typeface="맑은 고딕"/>
              </a:rPr>
              <a:t>Google OAuth2</a:t>
            </a:r>
          </a:p>
        </p:txBody>
      </p:sp>
      <p:sp>
        <p:nvSpPr>
          <p:cNvPr id="10" name="TextBox 9"/>
          <p:cNvSpPr txBox="1"/>
          <p:nvPr/>
        </p:nvSpPr>
        <p:spPr>
          <a:xfrm>
            <a:off x="1097280" y="2240280"/>
            <a:ext cx="292608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회사 도메인 검증 후 자동 가입</a:t>
            </a:r>
          </a:p>
        </p:txBody>
      </p:sp>
      <p:sp>
        <p:nvSpPr>
          <p:cNvPr id="11" name="Rounded Rectangle 10"/>
          <p:cNvSpPr/>
          <p:nvPr/>
        </p:nvSpPr>
        <p:spPr>
          <a:xfrm>
            <a:off x="4480560" y="1463040"/>
            <a:ext cx="3383280" cy="13716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627632"/>
            <a:ext cx="2926080"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a:t>
            </a:r>
          </a:p>
        </p:txBody>
      </p:sp>
      <p:sp>
        <p:nvSpPr>
          <p:cNvPr id="13" name="TextBox 12"/>
          <p:cNvSpPr txBox="1"/>
          <p:nvPr/>
        </p:nvSpPr>
        <p:spPr>
          <a:xfrm>
            <a:off x="4709160" y="1901952"/>
            <a:ext cx="2926080" cy="274320"/>
          </a:xfrm>
          <a:prstGeom prst="rect">
            <a:avLst/>
          </a:prstGeom>
          <a:noFill/>
        </p:spPr>
        <p:txBody>
          <a:bodyPr wrap="square" anchor="t" lIns="0" rIns="0" tIns="0" bIns="0">
            <a:spAutoFit/>
          </a:bodyPr>
          <a:lstStyle/>
          <a:p>
            <a:pPr algn="l">
              <a:lnSpc>
                <a:spcPct val="125000"/>
              </a:lnSpc>
            </a:pPr>
            <a:r>
              <a:rPr sz="1500" b="1">
                <a:solidFill>
                  <a:srgbClr val="E8EEFA"/>
                </a:solidFill>
                <a:latin typeface="맑은 고딕"/>
              </a:rPr>
              <a:t>JWT 발급</a:t>
            </a:r>
          </a:p>
        </p:txBody>
      </p:sp>
      <p:sp>
        <p:nvSpPr>
          <p:cNvPr id="14" name="TextBox 13"/>
          <p:cNvSpPr txBox="1"/>
          <p:nvPr/>
        </p:nvSpPr>
        <p:spPr>
          <a:xfrm>
            <a:off x="4709160" y="2240280"/>
            <a:ext cx="292608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HttpOnly 쿠키 · 세션 없음(STATELESS)</a:t>
            </a:r>
          </a:p>
        </p:txBody>
      </p:sp>
      <p:sp>
        <p:nvSpPr>
          <p:cNvPr id="15" name="Rounded Rectangle 14"/>
          <p:cNvSpPr/>
          <p:nvPr/>
        </p:nvSpPr>
        <p:spPr>
          <a:xfrm>
            <a:off x="8092440" y="1463040"/>
            <a:ext cx="3383280" cy="13716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627632"/>
            <a:ext cx="2926080"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3</a:t>
            </a:r>
          </a:p>
        </p:txBody>
      </p:sp>
      <p:sp>
        <p:nvSpPr>
          <p:cNvPr id="17" name="TextBox 16"/>
          <p:cNvSpPr txBox="1"/>
          <p:nvPr/>
        </p:nvSpPr>
        <p:spPr>
          <a:xfrm>
            <a:off x="8321040" y="1901952"/>
            <a:ext cx="2926080" cy="274320"/>
          </a:xfrm>
          <a:prstGeom prst="rect">
            <a:avLst/>
          </a:prstGeom>
          <a:noFill/>
        </p:spPr>
        <p:txBody>
          <a:bodyPr wrap="square" anchor="t" lIns="0" rIns="0" tIns="0" bIns="0">
            <a:spAutoFit/>
          </a:bodyPr>
          <a:lstStyle/>
          <a:p>
            <a:pPr algn="l">
              <a:lnSpc>
                <a:spcPct val="125000"/>
              </a:lnSpc>
            </a:pPr>
            <a:r>
              <a:rPr sz="1500" b="1">
                <a:solidFill>
                  <a:srgbClr val="E8EEFA"/>
                </a:solidFill>
                <a:latin typeface="맑은 고딕"/>
              </a:rPr>
              <a:t>매 요청 가드</a:t>
            </a:r>
          </a:p>
        </p:txBody>
      </p:sp>
      <p:sp>
        <p:nvSpPr>
          <p:cNvPr id="18" name="TextBox 17"/>
          <p:cNvSpPr txBox="1"/>
          <p:nvPr/>
        </p:nvSpPr>
        <p:spPr>
          <a:xfrm>
            <a:off x="8321040" y="2240280"/>
            <a:ext cx="292608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OnboardingCheckInterceptor가 DB를 다시 본다</a:t>
            </a:r>
          </a:p>
        </p:txBody>
      </p:sp>
      <p:sp>
        <p:nvSpPr>
          <p:cNvPr id="19" name="Rectangle 18"/>
          <p:cNvSpPr/>
          <p:nvPr/>
        </p:nvSpPr>
        <p:spPr>
          <a:xfrm>
            <a:off x="868680" y="3063240"/>
            <a:ext cx="45720" cy="1051560"/>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 y="3063240"/>
            <a:ext cx="10469880" cy="105156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3209544"/>
            <a:ext cx="9966960" cy="77724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JWT는 발급된 뒤의 상태 변화를 담지 못합니다. 그래서 매 요청마다 DB를 보고 ① 퇴직자 차단 ② 역할이 바뀌었으면 권한 재구성 ③ 온보딩 미확정 차단 — 세 가지를 다시 검사합니다. 관리자가 권한을 내리면 그 즉시 다음 요청부터 막힙니다.</a:t>
            </a:r>
          </a:p>
        </p:txBody>
      </p:sp>
      <p:sp>
        <p:nvSpPr>
          <p:cNvPr id="22" name="TextBox 21"/>
          <p:cNvSpPr txBox="1"/>
          <p:nvPr/>
        </p:nvSpPr>
        <p:spPr>
          <a:xfrm>
            <a:off x="868680" y="4434840"/>
            <a:ext cx="10515600" cy="1463040"/>
          </a:xfrm>
          <a:prstGeom prst="rect">
            <a:avLst/>
          </a:prstGeom>
          <a:noFill/>
        </p:spPr>
        <p:txBody>
          <a:bodyPr wrap="square" anchor="t" lIns="0" rIns="0" tIns="0" bIns="0">
            <a:spAutoFit/>
          </a:bodyPr>
          <a:lstStyle/>
          <a:p>
            <a:pPr algn="l">
              <a:lnSpc>
                <a:spcPct val="155000"/>
              </a:lnSpc>
            </a:pPr>
            <a:r>
              <a:rPr sz="1300" b="1">
                <a:solidFill>
                  <a:srgbClr val="EDB44F"/>
                </a:solidFill>
                <a:latin typeface="맑은 고딕"/>
              </a:rPr>
              <a:t>놓치기 쉬운 것</a:t>
            </a:r>
          </a:p>
          <a:p>
            <a:pPr algn="l">
              <a:lnSpc>
                <a:spcPct val="155000"/>
              </a:lnSpc>
            </a:pPr>
            <a:r>
              <a:rPr sz="1200" b="0">
                <a:solidFill>
                  <a:srgbClr val="9AABC4"/>
                </a:solidFill>
                <a:latin typeface="맑은 고딕"/>
              </a:rPr>
              <a:t>온보딩 완료 판별은 입사일이 있는지가 아니라 onboarding_status == COMPLETED 입니다.</a:t>
            </a:r>
          </a:p>
          <a:p>
            <a:pPr algn="l">
              <a:lnSpc>
                <a:spcPct val="155000"/>
              </a:lnSpc>
            </a:pPr>
            <a:r>
              <a:rPr sz="1200" b="0">
                <a:solidFill>
                  <a:srgbClr val="9AABC4"/>
                </a:solidFill>
                <a:latin typeface="맑은 고딕"/>
              </a:rPr>
              <a:t>입사일은 자가 신고라, 90일보다 과거를 적으면 연차 0으로 '승인 대기'에 들어가는데 그때도 입사일은 채워져 있습니다.</a:t>
            </a:r>
          </a:p>
          <a:p>
            <a:pPr algn="l">
              <a:lnSpc>
                <a:spcPct val="155000"/>
              </a:lnSpc>
            </a:pPr>
            <a:r>
              <a:rPr sz="1200" b="0">
                <a:solidFill>
                  <a:srgbClr val="9AABC4"/>
                </a:solidFill>
                <a:latin typeface="맑은 고딕"/>
              </a:rPr>
              <a:t>옛 기준을 쓰면 미확정 입사일이 스케줄러와 승인자 후보의 입력이 됩니다.</a:t>
            </a:r>
          </a:p>
        </p:txBody>
      </p:sp>
      <p:sp>
        <p:nvSpPr>
          <p:cNvPr id="23" name="TextBox 22"/>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WORK BREAKDOWN</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WBS 전체 지도</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Rounded Rectangle 5"/>
          <p:cNvSpPr/>
          <p:nvPr/>
        </p:nvSpPr>
        <p:spPr>
          <a:xfrm>
            <a:off x="868680" y="1572768"/>
            <a:ext cx="3429000" cy="117043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1719072"/>
            <a:ext cx="457200" cy="274320"/>
          </a:xfrm>
          <a:prstGeom prst="rect">
            <a:avLst/>
          </a:prstGeom>
          <a:noFill/>
        </p:spPr>
        <p:txBody>
          <a:bodyPr wrap="square" anchor="t" lIns="0" rIns="0" tIns="0" bIns="0">
            <a:spAutoFit/>
          </a:bodyPr>
          <a:lstStyle/>
          <a:p>
            <a:pPr algn="l">
              <a:lnSpc>
                <a:spcPct val="125000"/>
              </a:lnSpc>
            </a:pPr>
            <a:r>
              <a:rPr sz="1300" b="1">
                <a:solidFill>
                  <a:srgbClr val="4FB8E8"/>
                </a:solidFill>
                <a:latin typeface="Consolas"/>
              </a:rPr>
              <a:t>1</a:t>
            </a:r>
          </a:p>
        </p:txBody>
      </p:sp>
      <p:sp>
        <p:nvSpPr>
          <p:cNvPr id="8" name="TextBox 7"/>
          <p:cNvSpPr txBox="1"/>
          <p:nvPr/>
        </p:nvSpPr>
        <p:spPr>
          <a:xfrm>
            <a:off x="1508760" y="1700784"/>
            <a:ext cx="219456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인증·온보딩</a:t>
            </a:r>
          </a:p>
        </p:txBody>
      </p:sp>
      <p:sp>
        <p:nvSpPr>
          <p:cNvPr id="9" name="TextBox 8"/>
          <p:cNvSpPr txBox="1"/>
          <p:nvPr/>
        </p:nvSpPr>
        <p:spPr>
          <a:xfrm>
            <a:off x="1069848" y="2121408"/>
            <a:ext cx="301752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로그인 · 온보딩 · 접근 제어</a:t>
            </a:r>
          </a:p>
        </p:txBody>
      </p:sp>
      <p:sp>
        <p:nvSpPr>
          <p:cNvPr id="10" name="TextBox 9"/>
          <p:cNvSpPr txBox="1"/>
          <p:nvPr/>
        </p:nvSpPr>
        <p:spPr>
          <a:xfrm>
            <a:off x="3611880" y="1719072"/>
            <a:ext cx="457200" cy="256032"/>
          </a:xfrm>
          <a:prstGeom prst="rect">
            <a:avLst/>
          </a:prstGeom>
          <a:noFill/>
        </p:spPr>
        <p:txBody>
          <a:bodyPr wrap="square" anchor="t" lIns="0" rIns="0" tIns="0" bIns="0">
            <a:spAutoFit/>
          </a:bodyPr>
          <a:lstStyle/>
          <a:p>
            <a:pPr algn="r">
              <a:lnSpc>
                <a:spcPct val="125000"/>
              </a:lnSpc>
            </a:pPr>
            <a:r>
              <a:rPr sz="900" b="0">
                <a:solidFill>
                  <a:srgbClr val="6F8099"/>
                </a:solidFill>
                <a:latin typeface="Consolas"/>
              </a:rPr>
              <a:t>API 7</a:t>
            </a:r>
          </a:p>
        </p:txBody>
      </p:sp>
      <p:sp>
        <p:nvSpPr>
          <p:cNvPr id="11" name="Rounded Rectangle 10"/>
          <p:cNvSpPr/>
          <p:nvPr/>
        </p:nvSpPr>
        <p:spPr>
          <a:xfrm>
            <a:off x="4416552" y="1572768"/>
            <a:ext cx="3429000" cy="117043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719072"/>
            <a:ext cx="457200" cy="274320"/>
          </a:xfrm>
          <a:prstGeom prst="rect">
            <a:avLst/>
          </a:prstGeom>
          <a:noFill/>
        </p:spPr>
        <p:txBody>
          <a:bodyPr wrap="square" anchor="t" lIns="0" rIns="0" tIns="0" bIns="0">
            <a:spAutoFit/>
          </a:bodyPr>
          <a:lstStyle/>
          <a:p>
            <a:pPr algn="l">
              <a:lnSpc>
                <a:spcPct val="125000"/>
              </a:lnSpc>
            </a:pPr>
            <a:r>
              <a:rPr sz="1300" b="1">
                <a:solidFill>
                  <a:srgbClr val="4FB8E8"/>
                </a:solidFill>
                <a:latin typeface="Consolas"/>
              </a:rPr>
              <a:t>2</a:t>
            </a:r>
          </a:p>
        </p:txBody>
      </p:sp>
      <p:sp>
        <p:nvSpPr>
          <p:cNvPr id="13" name="TextBox 12"/>
          <p:cNvSpPr txBox="1"/>
          <p:nvPr/>
        </p:nvSpPr>
        <p:spPr>
          <a:xfrm>
            <a:off x="5056632" y="1700784"/>
            <a:ext cx="219456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연차</a:t>
            </a:r>
          </a:p>
        </p:txBody>
      </p:sp>
      <p:sp>
        <p:nvSpPr>
          <p:cNvPr id="14" name="TextBox 13"/>
          <p:cNvSpPr txBox="1"/>
          <p:nvPr/>
        </p:nvSpPr>
        <p:spPr>
          <a:xfrm>
            <a:off x="4617720" y="2121408"/>
            <a:ext cx="301752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신청 · 결재 · 잔액 · 이력</a:t>
            </a:r>
          </a:p>
        </p:txBody>
      </p:sp>
      <p:sp>
        <p:nvSpPr>
          <p:cNvPr id="15" name="TextBox 14"/>
          <p:cNvSpPr txBox="1"/>
          <p:nvPr/>
        </p:nvSpPr>
        <p:spPr>
          <a:xfrm>
            <a:off x="7159752" y="1719072"/>
            <a:ext cx="457200" cy="256032"/>
          </a:xfrm>
          <a:prstGeom prst="rect">
            <a:avLst/>
          </a:prstGeom>
          <a:noFill/>
        </p:spPr>
        <p:txBody>
          <a:bodyPr wrap="square" anchor="t" lIns="0" rIns="0" tIns="0" bIns="0">
            <a:spAutoFit/>
          </a:bodyPr>
          <a:lstStyle/>
          <a:p>
            <a:pPr algn="r">
              <a:lnSpc>
                <a:spcPct val="125000"/>
              </a:lnSpc>
            </a:pPr>
            <a:r>
              <a:rPr sz="900" b="0">
                <a:solidFill>
                  <a:srgbClr val="6F8099"/>
                </a:solidFill>
                <a:latin typeface="Consolas"/>
              </a:rPr>
              <a:t>API 17</a:t>
            </a:r>
          </a:p>
        </p:txBody>
      </p:sp>
      <p:sp>
        <p:nvSpPr>
          <p:cNvPr id="16" name="Rounded Rectangle 15"/>
          <p:cNvSpPr/>
          <p:nvPr/>
        </p:nvSpPr>
        <p:spPr>
          <a:xfrm>
            <a:off x="7964424" y="1572768"/>
            <a:ext cx="3429000" cy="117043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1719072"/>
            <a:ext cx="457200" cy="274320"/>
          </a:xfrm>
          <a:prstGeom prst="rect">
            <a:avLst/>
          </a:prstGeom>
          <a:noFill/>
        </p:spPr>
        <p:txBody>
          <a:bodyPr wrap="square" anchor="t" lIns="0" rIns="0" tIns="0" bIns="0">
            <a:spAutoFit/>
          </a:bodyPr>
          <a:lstStyle/>
          <a:p>
            <a:pPr algn="l">
              <a:lnSpc>
                <a:spcPct val="125000"/>
              </a:lnSpc>
            </a:pPr>
            <a:r>
              <a:rPr sz="1300" b="1">
                <a:solidFill>
                  <a:srgbClr val="4FB8E8"/>
                </a:solidFill>
                <a:latin typeface="Consolas"/>
              </a:rPr>
              <a:t>3</a:t>
            </a:r>
          </a:p>
        </p:txBody>
      </p:sp>
      <p:sp>
        <p:nvSpPr>
          <p:cNvPr id="18" name="TextBox 17"/>
          <p:cNvSpPr txBox="1"/>
          <p:nvPr/>
        </p:nvSpPr>
        <p:spPr>
          <a:xfrm>
            <a:off x="8604504" y="1700784"/>
            <a:ext cx="219456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복리후생</a:t>
            </a:r>
          </a:p>
        </p:txBody>
      </p:sp>
      <p:sp>
        <p:nvSpPr>
          <p:cNvPr id="19" name="TextBox 18"/>
          <p:cNvSpPr txBox="1"/>
          <p:nvPr/>
        </p:nvSpPr>
        <p:spPr>
          <a:xfrm>
            <a:off x="8165592" y="2121408"/>
            <a:ext cx="301752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신청 · 결재 · 정책</a:t>
            </a:r>
          </a:p>
        </p:txBody>
      </p:sp>
      <p:sp>
        <p:nvSpPr>
          <p:cNvPr id="20" name="TextBox 19"/>
          <p:cNvSpPr txBox="1"/>
          <p:nvPr/>
        </p:nvSpPr>
        <p:spPr>
          <a:xfrm>
            <a:off x="10707624" y="1719072"/>
            <a:ext cx="457200" cy="256032"/>
          </a:xfrm>
          <a:prstGeom prst="rect">
            <a:avLst/>
          </a:prstGeom>
          <a:noFill/>
        </p:spPr>
        <p:txBody>
          <a:bodyPr wrap="square" anchor="t" lIns="0" rIns="0" tIns="0" bIns="0">
            <a:spAutoFit/>
          </a:bodyPr>
          <a:lstStyle/>
          <a:p>
            <a:pPr algn="r">
              <a:lnSpc>
                <a:spcPct val="125000"/>
              </a:lnSpc>
            </a:pPr>
            <a:r>
              <a:rPr sz="900" b="0">
                <a:solidFill>
                  <a:srgbClr val="6F8099"/>
                </a:solidFill>
                <a:latin typeface="Consolas"/>
              </a:rPr>
              <a:t>API 12</a:t>
            </a:r>
          </a:p>
        </p:txBody>
      </p:sp>
      <p:sp>
        <p:nvSpPr>
          <p:cNvPr id="21" name="Rounded Rectangle 20"/>
          <p:cNvSpPr/>
          <p:nvPr/>
        </p:nvSpPr>
        <p:spPr>
          <a:xfrm>
            <a:off x="868680" y="2862072"/>
            <a:ext cx="3429000" cy="117043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 y="3008376"/>
            <a:ext cx="457200" cy="274320"/>
          </a:xfrm>
          <a:prstGeom prst="rect">
            <a:avLst/>
          </a:prstGeom>
          <a:noFill/>
        </p:spPr>
        <p:txBody>
          <a:bodyPr wrap="square" anchor="t" lIns="0" rIns="0" tIns="0" bIns="0">
            <a:spAutoFit/>
          </a:bodyPr>
          <a:lstStyle/>
          <a:p>
            <a:pPr algn="l">
              <a:lnSpc>
                <a:spcPct val="125000"/>
              </a:lnSpc>
            </a:pPr>
            <a:r>
              <a:rPr sz="1300" b="1">
                <a:solidFill>
                  <a:srgbClr val="4FB8E8"/>
                </a:solidFill>
                <a:latin typeface="Consolas"/>
              </a:rPr>
              <a:t>4</a:t>
            </a:r>
          </a:p>
        </p:txBody>
      </p:sp>
      <p:sp>
        <p:nvSpPr>
          <p:cNvPr id="23" name="TextBox 22"/>
          <p:cNvSpPr txBox="1"/>
          <p:nvPr/>
        </p:nvSpPr>
        <p:spPr>
          <a:xfrm>
            <a:off x="1508760" y="2990088"/>
            <a:ext cx="219456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캘린더·일정</a:t>
            </a:r>
          </a:p>
        </p:txBody>
      </p:sp>
      <p:sp>
        <p:nvSpPr>
          <p:cNvPr id="24" name="TextBox 23"/>
          <p:cNvSpPr txBox="1"/>
          <p:nvPr/>
        </p:nvSpPr>
        <p:spPr>
          <a:xfrm>
            <a:off x="1069848" y="3410712"/>
            <a:ext cx="301752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통합 캘린더 · 개인 일정 · 공휴일</a:t>
            </a:r>
          </a:p>
        </p:txBody>
      </p:sp>
      <p:sp>
        <p:nvSpPr>
          <p:cNvPr id="25" name="TextBox 24"/>
          <p:cNvSpPr txBox="1"/>
          <p:nvPr/>
        </p:nvSpPr>
        <p:spPr>
          <a:xfrm>
            <a:off x="3611880" y="3008376"/>
            <a:ext cx="457200" cy="256032"/>
          </a:xfrm>
          <a:prstGeom prst="rect">
            <a:avLst/>
          </a:prstGeom>
          <a:noFill/>
        </p:spPr>
        <p:txBody>
          <a:bodyPr wrap="square" anchor="t" lIns="0" rIns="0" tIns="0" bIns="0">
            <a:spAutoFit/>
          </a:bodyPr>
          <a:lstStyle/>
          <a:p>
            <a:pPr algn="r">
              <a:lnSpc>
                <a:spcPct val="125000"/>
              </a:lnSpc>
            </a:pPr>
            <a:r>
              <a:rPr sz="900" b="0">
                <a:solidFill>
                  <a:srgbClr val="6F8099"/>
                </a:solidFill>
                <a:latin typeface="Consolas"/>
              </a:rPr>
              <a:t>API 8</a:t>
            </a:r>
          </a:p>
        </p:txBody>
      </p:sp>
      <p:sp>
        <p:nvSpPr>
          <p:cNvPr id="26" name="Rounded Rectangle 25"/>
          <p:cNvSpPr/>
          <p:nvPr/>
        </p:nvSpPr>
        <p:spPr>
          <a:xfrm>
            <a:off x="4416552" y="2862072"/>
            <a:ext cx="3429000" cy="117043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7720" y="3008376"/>
            <a:ext cx="457200" cy="274320"/>
          </a:xfrm>
          <a:prstGeom prst="rect">
            <a:avLst/>
          </a:prstGeom>
          <a:noFill/>
        </p:spPr>
        <p:txBody>
          <a:bodyPr wrap="square" anchor="t" lIns="0" rIns="0" tIns="0" bIns="0">
            <a:spAutoFit/>
          </a:bodyPr>
          <a:lstStyle/>
          <a:p>
            <a:pPr algn="l">
              <a:lnSpc>
                <a:spcPct val="125000"/>
              </a:lnSpc>
            </a:pPr>
            <a:r>
              <a:rPr sz="1300" b="1">
                <a:solidFill>
                  <a:srgbClr val="4FB8E8"/>
                </a:solidFill>
                <a:latin typeface="Consolas"/>
              </a:rPr>
              <a:t>5</a:t>
            </a:r>
          </a:p>
        </p:txBody>
      </p:sp>
      <p:sp>
        <p:nvSpPr>
          <p:cNvPr id="28" name="TextBox 27"/>
          <p:cNvSpPr txBox="1"/>
          <p:nvPr/>
        </p:nvSpPr>
        <p:spPr>
          <a:xfrm>
            <a:off x="5056632" y="2990088"/>
            <a:ext cx="219456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조직·구성원</a:t>
            </a:r>
          </a:p>
        </p:txBody>
      </p:sp>
      <p:sp>
        <p:nvSpPr>
          <p:cNvPr id="29" name="TextBox 28"/>
          <p:cNvSpPr txBox="1"/>
          <p:nvPr/>
        </p:nvSpPr>
        <p:spPr>
          <a:xfrm>
            <a:off x="4617720" y="3410712"/>
            <a:ext cx="301752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구성원 · 부서 · 퇴직/재입사</a:t>
            </a:r>
          </a:p>
        </p:txBody>
      </p:sp>
      <p:sp>
        <p:nvSpPr>
          <p:cNvPr id="30" name="TextBox 29"/>
          <p:cNvSpPr txBox="1"/>
          <p:nvPr/>
        </p:nvSpPr>
        <p:spPr>
          <a:xfrm>
            <a:off x="7159752" y="3008376"/>
            <a:ext cx="457200" cy="256032"/>
          </a:xfrm>
          <a:prstGeom prst="rect">
            <a:avLst/>
          </a:prstGeom>
          <a:noFill/>
        </p:spPr>
        <p:txBody>
          <a:bodyPr wrap="square" anchor="t" lIns="0" rIns="0" tIns="0" bIns="0">
            <a:spAutoFit/>
          </a:bodyPr>
          <a:lstStyle/>
          <a:p>
            <a:pPr algn="r">
              <a:lnSpc>
                <a:spcPct val="125000"/>
              </a:lnSpc>
            </a:pPr>
            <a:r>
              <a:rPr sz="900" b="0">
                <a:solidFill>
                  <a:srgbClr val="6F8099"/>
                </a:solidFill>
                <a:latin typeface="Consolas"/>
              </a:rPr>
              <a:t>API 21</a:t>
            </a:r>
          </a:p>
        </p:txBody>
      </p:sp>
      <p:sp>
        <p:nvSpPr>
          <p:cNvPr id="31" name="Rounded Rectangle 30"/>
          <p:cNvSpPr/>
          <p:nvPr/>
        </p:nvSpPr>
        <p:spPr>
          <a:xfrm>
            <a:off x="7964424" y="2862072"/>
            <a:ext cx="3429000" cy="117043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65592" y="3008376"/>
            <a:ext cx="457200" cy="274320"/>
          </a:xfrm>
          <a:prstGeom prst="rect">
            <a:avLst/>
          </a:prstGeom>
          <a:noFill/>
        </p:spPr>
        <p:txBody>
          <a:bodyPr wrap="square" anchor="t" lIns="0" rIns="0" tIns="0" bIns="0">
            <a:spAutoFit/>
          </a:bodyPr>
          <a:lstStyle/>
          <a:p>
            <a:pPr algn="l">
              <a:lnSpc>
                <a:spcPct val="125000"/>
              </a:lnSpc>
            </a:pPr>
            <a:r>
              <a:rPr sz="1300" b="1">
                <a:solidFill>
                  <a:srgbClr val="4FB8E8"/>
                </a:solidFill>
                <a:latin typeface="Consolas"/>
              </a:rPr>
              <a:t>6</a:t>
            </a:r>
          </a:p>
        </p:txBody>
      </p:sp>
      <p:sp>
        <p:nvSpPr>
          <p:cNvPr id="33" name="TextBox 32"/>
          <p:cNvSpPr txBox="1"/>
          <p:nvPr/>
        </p:nvSpPr>
        <p:spPr>
          <a:xfrm>
            <a:off x="8604504" y="2990088"/>
            <a:ext cx="219456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정책·설정</a:t>
            </a:r>
          </a:p>
        </p:txBody>
      </p:sp>
      <p:sp>
        <p:nvSpPr>
          <p:cNvPr id="34" name="TextBox 33"/>
          <p:cNvSpPr txBox="1"/>
          <p:nvPr/>
        </p:nvSpPr>
        <p:spPr>
          <a:xfrm>
            <a:off x="8165592" y="3410712"/>
            <a:ext cx="301752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연차 정책 · 시스템 설정 12키</a:t>
            </a:r>
          </a:p>
        </p:txBody>
      </p:sp>
      <p:sp>
        <p:nvSpPr>
          <p:cNvPr id="35" name="TextBox 34"/>
          <p:cNvSpPr txBox="1"/>
          <p:nvPr/>
        </p:nvSpPr>
        <p:spPr>
          <a:xfrm>
            <a:off x="10707624" y="3008376"/>
            <a:ext cx="457200" cy="256032"/>
          </a:xfrm>
          <a:prstGeom prst="rect">
            <a:avLst/>
          </a:prstGeom>
          <a:noFill/>
        </p:spPr>
        <p:txBody>
          <a:bodyPr wrap="square" anchor="t" lIns="0" rIns="0" tIns="0" bIns="0">
            <a:spAutoFit/>
          </a:bodyPr>
          <a:lstStyle/>
          <a:p>
            <a:pPr algn="r">
              <a:lnSpc>
                <a:spcPct val="125000"/>
              </a:lnSpc>
            </a:pPr>
            <a:r>
              <a:rPr sz="900" b="0">
                <a:solidFill>
                  <a:srgbClr val="6F8099"/>
                </a:solidFill>
                <a:latin typeface="Consolas"/>
              </a:rPr>
              <a:t>API 5</a:t>
            </a:r>
          </a:p>
        </p:txBody>
      </p:sp>
      <p:sp>
        <p:nvSpPr>
          <p:cNvPr id="36" name="Rounded Rectangle 35"/>
          <p:cNvSpPr/>
          <p:nvPr/>
        </p:nvSpPr>
        <p:spPr>
          <a:xfrm>
            <a:off x="868680" y="4151376"/>
            <a:ext cx="3429000" cy="117043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9848" y="4297680"/>
            <a:ext cx="457200" cy="274320"/>
          </a:xfrm>
          <a:prstGeom prst="rect">
            <a:avLst/>
          </a:prstGeom>
          <a:noFill/>
        </p:spPr>
        <p:txBody>
          <a:bodyPr wrap="square" anchor="t" lIns="0" rIns="0" tIns="0" bIns="0">
            <a:spAutoFit/>
          </a:bodyPr>
          <a:lstStyle/>
          <a:p>
            <a:pPr algn="l">
              <a:lnSpc>
                <a:spcPct val="125000"/>
              </a:lnSpc>
            </a:pPr>
            <a:r>
              <a:rPr sz="1300" b="1">
                <a:solidFill>
                  <a:srgbClr val="4FB8E8"/>
                </a:solidFill>
                <a:latin typeface="Consolas"/>
              </a:rPr>
              <a:t>7</a:t>
            </a:r>
          </a:p>
        </p:txBody>
      </p:sp>
      <p:sp>
        <p:nvSpPr>
          <p:cNvPr id="38" name="TextBox 37"/>
          <p:cNvSpPr txBox="1"/>
          <p:nvPr/>
        </p:nvSpPr>
        <p:spPr>
          <a:xfrm>
            <a:off x="1508760" y="4279392"/>
            <a:ext cx="219456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이메일</a:t>
            </a:r>
          </a:p>
        </p:txBody>
      </p:sp>
      <p:sp>
        <p:nvSpPr>
          <p:cNvPr id="39" name="TextBox 38"/>
          <p:cNvSpPr txBox="1"/>
          <p:nvPr/>
        </p:nvSpPr>
        <p:spPr>
          <a:xfrm>
            <a:off x="1069848" y="4700016"/>
            <a:ext cx="301752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건별 알림 · 일괄 발송 · 연동</a:t>
            </a:r>
          </a:p>
        </p:txBody>
      </p:sp>
      <p:sp>
        <p:nvSpPr>
          <p:cNvPr id="40" name="TextBox 39"/>
          <p:cNvSpPr txBox="1"/>
          <p:nvPr/>
        </p:nvSpPr>
        <p:spPr>
          <a:xfrm>
            <a:off x="3611880" y="4297680"/>
            <a:ext cx="457200" cy="256032"/>
          </a:xfrm>
          <a:prstGeom prst="rect">
            <a:avLst/>
          </a:prstGeom>
          <a:noFill/>
        </p:spPr>
        <p:txBody>
          <a:bodyPr wrap="square" anchor="t" lIns="0" rIns="0" tIns="0" bIns="0">
            <a:spAutoFit/>
          </a:bodyPr>
          <a:lstStyle/>
          <a:p>
            <a:pPr algn="r">
              <a:lnSpc>
                <a:spcPct val="125000"/>
              </a:lnSpc>
            </a:pPr>
            <a:r>
              <a:rPr sz="900" b="0">
                <a:solidFill>
                  <a:srgbClr val="6F8099"/>
                </a:solidFill>
                <a:latin typeface="Consolas"/>
              </a:rPr>
              <a:t>API 13</a:t>
            </a:r>
          </a:p>
        </p:txBody>
      </p:sp>
      <p:sp>
        <p:nvSpPr>
          <p:cNvPr id="41" name="Rounded Rectangle 40"/>
          <p:cNvSpPr/>
          <p:nvPr/>
        </p:nvSpPr>
        <p:spPr>
          <a:xfrm>
            <a:off x="4416552" y="4151376"/>
            <a:ext cx="3429000" cy="117043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17720" y="4297680"/>
            <a:ext cx="457200" cy="274320"/>
          </a:xfrm>
          <a:prstGeom prst="rect">
            <a:avLst/>
          </a:prstGeom>
          <a:noFill/>
        </p:spPr>
        <p:txBody>
          <a:bodyPr wrap="square" anchor="t" lIns="0" rIns="0" tIns="0" bIns="0">
            <a:spAutoFit/>
          </a:bodyPr>
          <a:lstStyle/>
          <a:p>
            <a:pPr algn="l">
              <a:lnSpc>
                <a:spcPct val="125000"/>
              </a:lnSpc>
            </a:pPr>
            <a:r>
              <a:rPr sz="1300" b="1">
                <a:solidFill>
                  <a:srgbClr val="4FB8E8"/>
                </a:solidFill>
                <a:latin typeface="Consolas"/>
              </a:rPr>
              <a:t>8</a:t>
            </a:r>
          </a:p>
        </p:txBody>
      </p:sp>
      <p:sp>
        <p:nvSpPr>
          <p:cNvPr id="43" name="TextBox 42"/>
          <p:cNvSpPr txBox="1"/>
          <p:nvPr/>
        </p:nvSpPr>
        <p:spPr>
          <a:xfrm>
            <a:off x="5056632" y="4279392"/>
            <a:ext cx="219456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자동화</a:t>
            </a:r>
          </a:p>
        </p:txBody>
      </p:sp>
      <p:sp>
        <p:nvSpPr>
          <p:cNvPr id="44" name="TextBox 43"/>
          <p:cNvSpPr txBox="1"/>
          <p:nvPr/>
        </p:nvSpPr>
        <p:spPr>
          <a:xfrm>
            <a:off x="4617720" y="4700016"/>
            <a:ext cx="301752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스케줄러 5잡 + 새해 공휴일</a:t>
            </a:r>
          </a:p>
        </p:txBody>
      </p:sp>
      <p:sp>
        <p:nvSpPr>
          <p:cNvPr id="45" name="TextBox 44"/>
          <p:cNvSpPr txBox="1"/>
          <p:nvPr/>
        </p:nvSpPr>
        <p:spPr>
          <a:xfrm>
            <a:off x="7159752" y="4297680"/>
            <a:ext cx="457200" cy="256032"/>
          </a:xfrm>
          <a:prstGeom prst="rect">
            <a:avLst/>
          </a:prstGeom>
          <a:noFill/>
        </p:spPr>
        <p:txBody>
          <a:bodyPr wrap="square" anchor="t" lIns="0" rIns="0" tIns="0" bIns="0">
            <a:spAutoFit/>
          </a:bodyPr>
          <a:lstStyle/>
          <a:p>
            <a:pPr algn="r">
              <a:lnSpc>
                <a:spcPct val="125000"/>
              </a:lnSpc>
            </a:pPr>
            <a:r>
              <a:rPr sz="900" b="0">
                <a:solidFill>
                  <a:srgbClr val="6F8099"/>
                </a:solidFill>
                <a:latin typeface="Consolas"/>
              </a:rPr>
              <a:t>잡 6</a:t>
            </a:r>
          </a:p>
        </p:txBody>
      </p:sp>
      <p:sp>
        <p:nvSpPr>
          <p:cNvPr id="46" name="Rounded Rectangle 45"/>
          <p:cNvSpPr/>
          <p:nvPr/>
        </p:nvSpPr>
        <p:spPr>
          <a:xfrm>
            <a:off x="7964424" y="4151376"/>
            <a:ext cx="3429000" cy="117043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65592" y="4297680"/>
            <a:ext cx="457200" cy="274320"/>
          </a:xfrm>
          <a:prstGeom prst="rect">
            <a:avLst/>
          </a:prstGeom>
          <a:noFill/>
        </p:spPr>
        <p:txBody>
          <a:bodyPr wrap="square" anchor="t" lIns="0" rIns="0" tIns="0" bIns="0">
            <a:spAutoFit/>
          </a:bodyPr>
          <a:lstStyle/>
          <a:p>
            <a:pPr algn="l">
              <a:lnSpc>
                <a:spcPct val="125000"/>
              </a:lnSpc>
            </a:pPr>
            <a:r>
              <a:rPr sz="1300" b="1">
                <a:solidFill>
                  <a:srgbClr val="4FB8E8"/>
                </a:solidFill>
                <a:latin typeface="Consolas"/>
              </a:rPr>
              <a:t>9</a:t>
            </a:r>
          </a:p>
        </p:txBody>
      </p:sp>
      <p:sp>
        <p:nvSpPr>
          <p:cNvPr id="48" name="TextBox 47"/>
          <p:cNvSpPr txBox="1"/>
          <p:nvPr/>
        </p:nvSpPr>
        <p:spPr>
          <a:xfrm>
            <a:off x="8604504" y="4279392"/>
            <a:ext cx="219456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감사·수명주기</a:t>
            </a:r>
          </a:p>
        </p:txBody>
      </p:sp>
      <p:sp>
        <p:nvSpPr>
          <p:cNvPr id="49" name="TextBox 48"/>
          <p:cNvSpPr txBox="1"/>
          <p:nvPr/>
        </p:nvSpPr>
        <p:spPr>
          <a:xfrm>
            <a:off x="8165592" y="4700016"/>
            <a:ext cx="3017520" cy="45720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감사 로그 · 파기 · 재입사</a:t>
            </a:r>
          </a:p>
        </p:txBody>
      </p:sp>
      <p:sp>
        <p:nvSpPr>
          <p:cNvPr id="50" name="TextBox 49"/>
          <p:cNvSpPr txBox="1"/>
          <p:nvPr/>
        </p:nvSpPr>
        <p:spPr>
          <a:xfrm>
            <a:off x="10707624" y="4297680"/>
            <a:ext cx="457200" cy="256032"/>
          </a:xfrm>
          <a:prstGeom prst="rect">
            <a:avLst/>
          </a:prstGeom>
          <a:noFill/>
        </p:spPr>
        <p:txBody>
          <a:bodyPr wrap="square" anchor="t" lIns="0" rIns="0" tIns="0" bIns="0">
            <a:spAutoFit/>
          </a:bodyPr>
          <a:lstStyle/>
          <a:p>
            <a:pPr algn="r">
              <a:lnSpc>
                <a:spcPct val="125000"/>
              </a:lnSpc>
            </a:pPr>
            <a:r>
              <a:rPr sz="900" b="0">
                <a:solidFill>
                  <a:srgbClr val="6F8099"/>
                </a:solidFill>
                <a:latin typeface="Consolas"/>
              </a:rPr>
              <a:t>API 5</a:t>
            </a:r>
          </a:p>
        </p:txBody>
      </p:sp>
      <p:sp>
        <p:nvSpPr>
          <p:cNvPr id="51" name="Rectangle 50"/>
          <p:cNvSpPr/>
          <p:nvPr/>
        </p:nvSpPr>
        <p:spPr>
          <a:xfrm>
            <a:off x="868680" y="5532120"/>
            <a:ext cx="45720" cy="566928"/>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14400" y="5532120"/>
            <a:ext cx="10469880" cy="566928"/>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43000" y="5678424"/>
            <a:ext cx="9966960" cy="292608"/>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이 번호는 코드와 문서를 찾을 때 그대로 검색어가 됩니다 — 이어지는 슬라이드가 같은 번호 체계를 씁니다.</a:t>
            </a:r>
          </a:p>
        </p:txBody>
      </p:sp>
      <p:sp>
        <p:nvSpPr>
          <p:cNvPr id="54" name="TextBox 53"/>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WBS 1 — AUTH &amp; ONBOARDING</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1. 인증 · 온보딩</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API 7</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417320"/>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58191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1.1</a:t>
            </a:r>
          </a:p>
        </p:txBody>
      </p:sp>
      <p:sp>
        <p:nvSpPr>
          <p:cNvPr id="9" name="TextBox 8"/>
          <p:cNvSpPr txBox="1"/>
          <p:nvPr/>
        </p:nvSpPr>
        <p:spPr>
          <a:xfrm>
            <a:off x="1737360" y="155448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Google 로그인</a:t>
            </a:r>
          </a:p>
        </p:txBody>
      </p:sp>
      <p:sp>
        <p:nvSpPr>
          <p:cNvPr id="10" name="TextBox 9"/>
          <p:cNvSpPr txBox="1"/>
          <p:nvPr/>
        </p:nvSpPr>
        <p:spPr>
          <a:xfrm>
            <a:off x="4572000" y="158191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회사 도메인만 통과 · 처음 들어온 계정은 자동 가입</a:t>
            </a:r>
          </a:p>
        </p:txBody>
      </p:sp>
      <p:sp>
        <p:nvSpPr>
          <p:cNvPr id="11" name="TextBox 10"/>
          <p:cNvSpPr txBox="1"/>
          <p:nvPr/>
        </p:nvSpPr>
        <p:spPr>
          <a:xfrm>
            <a:off x="10607040" y="159105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2" name="Rounded Rectangle 11"/>
          <p:cNvSpPr/>
          <p:nvPr/>
        </p:nvSpPr>
        <p:spPr>
          <a:xfrm>
            <a:off x="868680" y="2029968"/>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19456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1.2</a:t>
            </a:r>
          </a:p>
        </p:txBody>
      </p:sp>
      <p:sp>
        <p:nvSpPr>
          <p:cNvPr id="14" name="TextBox 13"/>
          <p:cNvSpPr txBox="1"/>
          <p:nvPr/>
        </p:nvSpPr>
        <p:spPr>
          <a:xfrm>
            <a:off x="1737360" y="216712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JWT 쿠키 발급</a:t>
            </a:r>
          </a:p>
        </p:txBody>
      </p:sp>
      <p:sp>
        <p:nvSpPr>
          <p:cNvPr id="15" name="TextBox 14"/>
          <p:cNvSpPr txBox="1"/>
          <p:nvPr/>
        </p:nvSpPr>
        <p:spPr>
          <a:xfrm>
            <a:off x="4572000" y="219456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HttpOnly 쿠키 · 서버 세션 없음 · 로그아웃 시 즉시 만료</a:t>
            </a:r>
          </a:p>
        </p:txBody>
      </p:sp>
      <p:sp>
        <p:nvSpPr>
          <p:cNvPr id="16" name="TextBox 15"/>
          <p:cNvSpPr txBox="1"/>
          <p:nvPr/>
        </p:nvSpPr>
        <p:spPr>
          <a:xfrm>
            <a:off x="10607040" y="220370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7" name="Rounded Rectangle 16"/>
          <p:cNvSpPr/>
          <p:nvPr/>
        </p:nvSpPr>
        <p:spPr>
          <a:xfrm>
            <a:off x="868680" y="2642616"/>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280720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1.3</a:t>
            </a:r>
          </a:p>
        </p:txBody>
      </p:sp>
      <p:sp>
        <p:nvSpPr>
          <p:cNvPr id="19" name="TextBox 18"/>
          <p:cNvSpPr txBox="1"/>
          <p:nvPr/>
        </p:nvSpPr>
        <p:spPr>
          <a:xfrm>
            <a:off x="1737360" y="277977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온보딩 입력</a:t>
            </a:r>
          </a:p>
        </p:txBody>
      </p:sp>
      <p:sp>
        <p:nvSpPr>
          <p:cNvPr id="20" name="TextBox 19"/>
          <p:cNvSpPr txBox="1"/>
          <p:nvPr/>
        </p:nvSpPr>
        <p:spPr>
          <a:xfrm>
            <a:off x="4572000" y="280720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생일 · 입사일 · 직급을 사원이 직접 입력</a:t>
            </a:r>
          </a:p>
        </p:txBody>
      </p:sp>
      <p:sp>
        <p:nvSpPr>
          <p:cNvPr id="21" name="TextBox 20"/>
          <p:cNvSpPr txBox="1"/>
          <p:nvPr/>
        </p:nvSpPr>
        <p:spPr>
          <a:xfrm>
            <a:off x="10607040" y="281635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2" name="Rounded Rectangle 21"/>
          <p:cNvSpPr/>
          <p:nvPr/>
        </p:nvSpPr>
        <p:spPr>
          <a:xfrm>
            <a:off x="868680" y="3255264"/>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 y="3419856"/>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1.4</a:t>
            </a:r>
          </a:p>
        </p:txBody>
      </p:sp>
      <p:sp>
        <p:nvSpPr>
          <p:cNvPr id="24" name="TextBox 23"/>
          <p:cNvSpPr txBox="1"/>
          <p:nvPr/>
        </p:nvSpPr>
        <p:spPr>
          <a:xfrm>
            <a:off x="1737360" y="3392424"/>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자동 승인 판정</a:t>
            </a:r>
          </a:p>
        </p:txBody>
      </p:sp>
      <p:sp>
        <p:nvSpPr>
          <p:cNvPr id="25" name="TextBox 24"/>
          <p:cNvSpPr txBox="1"/>
          <p:nvPr/>
        </p:nvSpPr>
        <p:spPr>
          <a:xfrm>
            <a:off x="4572000" y="3419856"/>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입사일이 최근 90일 안이면 즉시 완료, 밖이면 관리자 승인 대기</a:t>
            </a:r>
          </a:p>
        </p:txBody>
      </p:sp>
      <p:sp>
        <p:nvSpPr>
          <p:cNvPr id="26" name="TextBox 25"/>
          <p:cNvSpPr txBox="1"/>
          <p:nvPr/>
        </p:nvSpPr>
        <p:spPr>
          <a:xfrm>
            <a:off x="10607040" y="3429000"/>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7" name="Rounded Rectangle 26"/>
          <p:cNvSpPr/>
          <p:nvPr/>
        </p:nvSpPr>
        <p:spPr>
          <a:xfrm>
            <a:off x="868680" y="3867912"/>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4032504"/>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1.5</a:t>
            </a:r>
          </a:p>
        </p:txBody>
      </p:sp>
      <p:sp>
        <p:nvSpPr>
          <p:cNvPr id="29" name="TextBox 28"/>
          <p:cNvSpPr txBox="1"/>
          <p:nvPr/>
        </p:nvSpPr>
        <p:spPr>
          <a:xfrm>
            <a:off x="1737360" y="4005072"/>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대기 중 1회 수정</a:t>
            </a:r>
          </a:p>
        </p:txBody>
      </p:sp>
      <p:sp>
        <p:nvSpPr>
          <p:cNvPr id="30" name="TextBox 29"/>
          <p:cNvSpPr txBox="1"/>
          <p:nvPr/>
        </p:nvSpPr>
        <p:spPr>
          <a:xfrm>
            <a:off x="4572000" y="4032504"/>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잘못 적은 입사일을 승인 전에 스스로 한 번 고칠 수 있다</a:t>
            </a:r>
          </a:p>
        </p:txBody>
      </p:sp>
      <p:sp>
        <p:nvSpPr>
          <p:cNvPr id="31" name="TextBox 30"/>
          <p:cNvSpPr txBox="1"/>
          <p:nvPr/>
        </p:nvSpPr>
        <p:spPr>
          <a:xfrm>
            <a:off x="10607040" y="4041648"/>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2" name="Rounded Rectangle 31"/>
          <p:cNvSpPr/>
          <p:nvPr/>
        </p:nvSpPr>
        <p:spPr>
          <a:xfrm>
            <a:off x="868680" y="4480560"/>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4" y="464515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1.6</a:t>
            </a:r>
          </a:p>
        </p:txBody>
      </p:sp>
      <p:sp>
        <p:nvSpPr>
          <p:cNvPr id="34" name="TextBox 33"/>
          <p:cNvSpPr txBox="1"/>
          <p:nvPr/>
        </p:nvSpPr>
        <p:spPr>
          <a:xfrm>
            <a:off x="1737360" y="461772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관리자 온보딩 결재</a:t>
            </a:r>
          </a:p>
        </p:txBody>
      </p:sp>
      <p:sp>
        <p:nvSpPr>
          <p:cNvPr id="35" name="TextBox 34"/>
          <p:cNvSpPr txBox="1"/>
          <p:nvPr/>
        </p:nvSpPr>
        <p:spPr>
          <a:xfrm>
            <a:off x="4572000" y="464515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대기 목록 · 승인 · 반려 — 승인 시점에 연차를 산정</a:t>
            </a:r>
          </a:p>
        </p:txBody>
      </p:sp>
      <p:sp>
        <p:nvSpPr>
          <p:cNvPr id="36" name="TextBox 35"/>
          <p:cNvSpPr txBox="1"/>
          <p:nvPr/>
        </p:nvSpPr>
        <p:spPr>
          <a:xfrm>
            <a:off x="10607040" y="465429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7" name="Rounded Rectangle 36"/>
          <p:cNvSpPr/>
          <p:nvPr/>
        </p:nvSpPr>
        <p:spPr>
          <a:xfrm>
            <a:off x="868680" y="5093208"/>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4984" y="525780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1.7</a:t>
            </a:r>
          </a:p>
        </p:txBody>
      </p:sp>
      <p:sp>
        <p:nvSpPr>
          <p:cNvPr id="39" name="TextBox 38"/>
          <p:cNvSpPr txBox="1"/>
          <p:nvPr/>
        </p:nvSpPr>
        <p:spPr>
          <a:xfrm>
            <a:off x="1737360" y="523036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전역 요청 가드</a:t>
            </a:r>
          </a:p>
        </p:txBody>
      </p:sp>
      <p:sp>
        <p:nvSpPr>
          <p:cNvPr id="40" name="TextBox 39"/>
          <p:cNvSpPr txBox="1"/>
          <p:nvPr/>
        </p:nvSpPr>
        <p:spPr>
          <a:xfrm>
            <a:off x="4572000" y="525780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매 요청 DB 재조회 — 퇴직 · 역할 변경 · 온보딩 미완료 차단</a:t>
            </a:r>
          </a:p>
        </p:txBody>
      </p:sp>
      <p:sp>
        <p:nvSpPr>
          <p:cNvPr id="41" name="TextBox 40"/>
          <p:cNvSpPr txBox="1"/>
          <p:nvPr/>
        </p:nvSpPr>
        <p:spPr>
          <a:xfrm>
            <a:off x="10607040" y="526694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42" name="TextBox 41"/>
          <p:cNvSpPr txBox="1"/>
          <p:nvPr/>
        </p:nvSpPr>
        <p:spPr>
          <a:xfrm>
            <a:off x="868680" y="598932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domain/auth · security/ · OnboardingCheckInterceptor  |  화면: 로그인 · 온보딩 · 구성원&gt;온보딩 승인</a:t>
            </a:r>
          </a:p>
        </p:txBody>
      </p:sp>
      <p:sp>
        <p:nvSpPr>
          <p:cNvPr id="43" name="TextBox 42"/>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WBS 2 — ANNUAL LEAVE (1/2)</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2. 연차 — 신청과 결재</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API 17</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417320"/>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58191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2.1</a:t>
            </a:r>
          </a:p>
        </p:txBody>
      </p:sp>
      <p:sp>
        <p:nvSpPr>
          <p:cNvPr id="9" name="TextBox 8"/>
          <p:cNvSpPr txBox="1"/>
          <p:nvPr/>
        </p:nvSpPr>
        <p:spPr>
          <a:xfrm>
            <a:off x="1737360" y="155448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연차 신청</a:t>
            </a:r>
          </a:p>
        </p:txBody>
      </p:sp>
      <p:sp>
        <p:nvSpPr>
          <p:cNvPr id="10" name="TextBox 9"/>
          <p:cNvSpPr txBox="1"/>
          <p:nvPr/>
        </p:nvSpPr>
        <p:spPr>
          <a:xfrm>
            <a:off x="4572000" y="158191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여러 날짜를 한 건으로 · 종일 / 오전 반차 / 오후 반차</a:t>
            </a:r>
          </a:p>
        </p:txBody>
      </p:sp>
      <p:sp>
        <p:nvSpPr>
          <p:cNvPr id="11" name="TextBox 10"/>
          <p:cNvSpPr txBox="1"/>
          <p:nvPr/>
        </p:nvSpPr>
        <p:spPr>
          <a:xfrm>
            <a:off x="10607040" y="159105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2" name="Rounded Rectangle 11"/>
          <p:cNvSpPr/>
          <p:nvPr/>
        </p:nvSpPr>
        <p:spPr>
          <a:xfrm>
            <a:off x="868680" y="2029968"/>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19456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2.2</a:t>
            </a:r>
          </a:p>
        </p:txBody>
      </p:sp>
      <p:sp>
        <p:nvSpPr>
          <p:cNvPr id="14" name="TextBox 13"/>
          <p:cNvSpPr txBox="1"/>
          <p:nvPr/>
        </p:nvSpPr>
        <p:spPr>
          <a:xfrm>
            <a:off x="1737360" y="216712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신청 검증</a:t>
            </a:r>
          </a:p>
        </p:txBody>
      </p:sp>
      <p:sp>
        <p:nvSpPr>
          <p:cNvPr id="15" name="TextBox 14"/>
          <p:cNvSpPr txBox="1"/>
          <p:nvPr/>
        </p:nvSpPr>
        <p:spPr>
          <a:xfrm>
            <a:off x="4572000" y="219456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주말 · 공휴일 · 지난 날짜 · 중복 기간 · 1건당 날짜 상한</a:t>
            </a:r>
          </a:p>
        </p:txBody>
      </p:sp>
      <p:sp>
        <p:nvSpPr>
          <p:cNvPr id="16" name="TextBox 15"/>
          <p:cNvSpPr txBox="1"/>
          <p:nvPr/>
        </p:nvSpPr>
        <p:spPr>
          <a:xfrm>
            <a:off x="10607040" y="220370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7" name="Rounded Rectangle 16"/>
          <p:cNvSpPr/>
          <p:nvPr/>
        </p:nvSpPr>
        <p:spPr>
          <a:xfrm>
            <a:off x="868680" y="2642616"/>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280720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2.3</a:t>
            </a:r>
          </a:p>
        </p:txBody>
      </p:sp>
      <p:sp>
        <p:nvSpPr>
          <p:cNvPr id="19" name="TextBox 18"/>
          <p:cNvSpPr txBox="1"/>
          <p:nvPr/>
        </p:nvSpPr>
        <p:spPr>
          <a:xfrm>
            <a:off x="1737360" y="277977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승인자 지정</a:t>
            </a:r>
          </a:p>
        </p:txBody>
      </p:sp>
      <p:sp>
        <p:nvSpPr>
          <p:cNvPr id="20" name="TextBox 19"/>
          <p:cNvSpPr txBox="1"/>
          <p:nvPr/>
        </p:nvSpPr>
        <p:spPr>
          <a:xfrm>
            <a:off x="4572000" y="280720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기본 승인자 + 서브 승인자 · 본인 건은 본인이 결재 못 함 (총관리자만 예외)</a:t>
            </a:r>
          </a:p>
        </p:txBody>
      </p:sp>
      <p:sp>
        <p:nvSpPr>
          <p:cNvPr id="21" name="TextBox 20"/>
          <p:cNvSpPr txBox="1"/>
          <p:nvPr/>
        </p:nvSpPr>
        <p:spPr>
          <a:xfrm>
            <a:off x="10607040" y="281635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2" name="Rounded Rectangle 21"/>
          <p:cNvSpPr/>
          <p:nvPr/>
        </p:nvSpPr>
        <p:spPr>
          <a:xfrm>
            <a:off x="868680" y="3255264"/>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 y="3419856"/>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2.4</a:t>
            </a:r>
          </a:p>
        </p:txBody>
      </p:sp>
      <p:sp>
        <p:nvSpPr>
          <p:cNvPr id="24" name="TextBox 23"/>
          <p:cNvSpPr txBox="1"/>
          <p:nvPr/>
        </p:nvSpPr>
        <p:spPr>
          <a:xfrm>
            <a:off x="1737360" y="3392424"/>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승인 / 반려</a:t>
            </a:r>
          </a:p>
        </p:txBody>
      </p:sp>
      <p:sp>
        <p:nvSpPr>
          <p:cNvPr id="25" name="TextBox 24"/>
          <p:cNvSpPr txBox="1"/>
          <p:nvPr/>
        </p:nvSpPr>
        <p:spPr>
          <a:xfrm>
            <a:off x="4572000" y="3419856"/>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사유를 남긴다 · 반려하면 선차감했던 잔액을 되돌린다</a:t>
            </a:r>
          </a:p>
        </p:txBody>
      </p:sp>
      <p:sp>
        <p:nvSpPr>
          <p:cNvPr id="26" name="TextBox 25"/>
          <p:cNvSpPr txBox="1"/>
          <p:nvPr/>
        </p:nvSpPr>
        <p:spPr>
          <a:xfrm>
            <a:off x="10607040" y="3429000"/>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7" name="Rounded Rectangle 26"/>
          <p:cNvSpPr/>
          <p:nvPr/>
        </p:nvSpPr>
        <p:spPr>
          <a:xfrm>
            <a:off x="868680" y="3867912"/>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4032504"/>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2.5</a:t>
            </a:r>
          </a:p>
        </p:txBody>
      </p:sp>
      <p:sp>
        <p:nvSpPr>
          <p:cNvPr id="29" name="TextBox 28"/>
          <p:cNvSpPr txBox="1"/>
          <p:nvPr/>
        </p:nvSpPr>
        <p:spPr>
          <a:xfrm>
            <a:off x="1737360" y="4005072"/>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취소</a:t>
            </a:r>
          </a:p>
        </p:txBody>
      </p:sp>
      <p:sp>
        <p:nvSpPr>
          <p:cNvPr id="30" name="TextBox 29"/>
          <p:cNvSpPr txBox="1"/>
          <p:nvPr/>
        </p:nvSpPr>
        <p:spPr>
          <a:xfrm>
            <a:off x="4572000" y="4032504"/>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승인 전·미래 날짜만이면 바로 취소, 지난 날짜가 섞이면 취소 요청 → 재결재</a:t>
            </a:r>
          </a:p>
        </p:txBody>
      </p:sp>
      <p:sp>
        <p:nvSpPr>
          <p:cNvPr id="31" name="TextBox 30"/>
          <p:cNvSpPr txBox="1"/>
          <p:nvPr/>
        </p:nvSpPr>
        <p:spPr>
          <a:xfrm>
            <a:off x="10607040" y="4041648"/>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2" name="Rounded Rectangle 31"/>
          <p:cNvSpPr/>
          <p:nvPr/>
        </p:nvSpPr>
        <p:spPr>
          <a:xfrm>
            <a:off x="868680" y="4480560"/>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4" y="464515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2.6</a:t>
            </a:r>
          </a:p>
        </p:txBody>
      </p:sp>
      <p:sp>
        <p:nvSpPr>
          <p:cNvPr id="34" name="TextBox 33"/>
          <p:cNvSpPr txBox="1"/>
          <p:nvPr/>
        </p:nvSpPr>
        <p:spPr>
          <a:xfrm>
            <a:off x="1737360" y="461772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처리 이력</a:t>
            </a:r>
          </a:p>
        </p:txBody>
      </p:sp>
      <p:sp>
        <p:nvSpPr>
          <p:cNvPr id="35" name="TextBox 34"/>
          <p:cNvSpPr txBox="1"/>
          <p:nvPr/>
        </p:nvSpPr>
        <p:spPr>
          <a:xfrm>
            <a:off x="4572000" y="464515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신청별 처리 내역 · 내가 결재한 건 · 내가 낸 건</a:t>
            </a:r>
          </a:p>
        </p:txBody>
      </p:sp>
      <p:sp>
        <p:nvSpPr>
          <p:cNvPr id="36" name="TextBox 35"/>
          <p:cNvSpPr txBox="1"/>
          <p:nvPr/>
        </p:nvSpPr>
        <p:spPr>
          <a:xfrm>
            <a:off x="10607040" y="465429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7" name="Rounded Rectangle 36"/>
          <p:cNvSpPr/>
          <p:nvPr/>
        </p:nvSpPr>
        <p:spPr>
          <a:xfrm>
            <a:off x="868680" y="5093208"/>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4984" y="525780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2.7</a:t>
            </a:r>
          </a:p>
        </p:txBody>
      </p:sp>
      <p:sp>
        <p:nvSpPr>
          <p:cNvPr id="39" name="TextBox 38"/>
          <p:cNvSpPr txBox="1"/>
          <p:nvPr/>
        </p:nvSpPr>
        <p:spPr>
          <a:xfrm>
            <a:off x="1737360" y="523036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팀 · 전사 조회</a:t>
            </a:r>
          </a:p>
        </p:txBody>
      </p:sp>
      <p:sp>
        <p:nvSpPr>
          <p:cNvPr id="40" name="TextBox 39"/>
          <p:cNvSpPr txBox="1"/>
          <p:nvPr/>
        </p:nvSpPr>
        <p:spPr>
          <a:xfrm>
            <a:off x="4572000" y="525780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팀장은 팀, 관리자는 전사 + 연차 사용률 집계</a:t>
            </a:r>
          </a:p>
        </p:txBody>
      </p:sp>
      <p:sp>
        <p:nvSpPr>
          <p:cNvPr id="41" name="TextBox 40"/>
          <p:cNvSpPr txBox="1"/>
          <p:nvPr/>
        </p:nvSpPr>
        <p:spPr>
          <a:xfrm>
            <a:off x="10607040" y="526694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42" name="TextBox 41"/>
          <p:cNvSpPr txBox="1"/>
          <p:nvPr/>
        </p:nvSpPr>
        <p:spPr>
          <a:xfrm>
            <a:off x="868680" y="598932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domain/leave/{controller,service}  |  화면: 대시보드 · 캘린더 · 결재함 · 팀 현황 · 이력</a:t>
            </a:r>
          </a:p>
        </p:txBody>
      </p:sp>
      <p:sp>
        <p:nvSpPr>
          <p:cNvPr id="43" name="TextBox 42"/>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WBS 2 — ANNUAL LEAVE (2/2)</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2. 연차 — 잔액이 계산되는 방식</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API 17</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371600"/>
            <a:ext cx="10515600" cy="658368"/>
          </a:xfrm>
          <a:prstGeom prst="roundRect">
            <a:avLst>
              <a:gd name="adj" fmla="val 6000"/>
            </a:avLst>
          </a:prstGeom>
          <a:solidFill>
            <a:srgbClr val="182438"/>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1536192"/>
            <a:ext cx="10058400" cy="365760"/>
          </a:xfrm>
          <a:prstGeom prst="rect">
            <a:avLst/>
          </a:prstGeom>
          <a:noFill/>
        </p:spPr>
        <p:txBody>
          <a:bodyPr wrap="square" anchor="t" lIns="0" rIns="0" tIns="0" bIns="0">
            <a:spAutoFit/>
          </a:bodyPr>
          <a:lstStyle/>
          <a:p>
            <a:pPr algn="l">
              <a:lnSpc>
                <a:spcPct val="125000"/>
              </a:lnSpc>
            </a:pPr>
            <a:r>
              <a:rPr sz="1500" b="1">
                <a:solidFill>
                  <a:srgbClr val="4FB8E8"/>
                </a:solidFill>
                <a:latin typeface="Consolas"/>
              </a:rPr>
              <a:t>잔여 = base_days(정책 부여) + bonus_days(복리후생 가산) − use_days(사용·대기)</a:t>
            </a:r>
          </a:p>
        </p:txBody>
      </p:sp>
      <p:sp>
        <p:nvSpPr>
          <p:cNvPr id="9" name="Rounded Rectangle 8"/>
          <p:cNvSpPr/>
          <p:nvPr/>
        </p:nvSpPr>
        <p:spPr>
          <a:xfrm>
            <a:off x="868680" y="2240280"/>
            <a:ext cx="10515600" cy="53035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39572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2.8</a:t>
            </a:r>
          </a:p>
        </p:txBody>
      </p:sp>
      <p:sp>
        <p:nvSpPr>
          <p:cNvPr id="11" name="TextBox 10"/>
          <p:cNvSpPr txBox="1"/>
          <p:nvPr/>
        </p:nvSpPr>
        <p:spPr>
          <a:xfrm>
            <a:off x="1737360" y="236829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신청 시 선차감</a:t>
            </a:r>
          </a:p>
        </p:txBody>
      </p:sp>
      <p:sp>
        <p:nvSpPr>
          <p:cNvPr id="12" name="TextBox 11"/>
          <p:cNvSpPr txBox="1"/>
          <p:nvPr/>
        </p:nvSpPr>
        <p:spPr>
          <a:xfrm>
            <a:off x="4572000" y="239572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승인이 아니라 신청(PENDING) 시점에 깎는다 — 중복 소진 방지</a:t>
            </a:r>
          </a:p>
        </p:txBody>
      </p:sp>
      <p:sp>
        <p:nvSpPr>
          <p:cNvPr id="13" name="TextBox 12"/>
          <p:cNvSpPr txBox="1"/>
          <p:nvPr/>
        </p:nvSpPr>
        <p:spPr>
          <a:xfrm>
            <a:off x="10607040" y="240487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4" name="Rounded Rectangle 13"/>
          <p:cNvSpPr/>
          <p:nvPr/>
        </p:nvSpPr>
        <p:spPr>
          <a:xfrm>
            <a:off x="868680" y="2834640"/>
            <a:ext cx="10515600" cy="53035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99008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2.9</a:t>
            </a:r>
          </a:p>
        </p:txBody>
      </p:sp>
      <p:sp>
        <p:nvSpPr>
          <p:cNvPr id="16" name="TextBox 15"/>
          <p:cNvSpPr txBox="1"/>
          <p:nvPr/>
        </p:nvSpPr>
        <p:spPr>
          <a:xfrm>
            <a:off x="1737360" y="296265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회차 창</a:t>
            </a:r>
          </a:p>
        </p:txBody>
      </p:sp>
      <p:sp>
        <p:nvSpPr>
          <p:cNvPr id="17" name="TextBox 16"/>
          <p:cNvSpPr txBox="1"/>
          <p:nvPr/>
        </p:nvSpPr>
        <p:spPr>
          <a:xfrm>
            <a:off x="4572000" y="299008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[기산일, +1년) 안의 날짜만 지금 잔액에서 깎는다</a:t>
            </a:r>
          </a:p>
        </p:txBody>
      </p:sp>
      <p:sp>
        <p:nvSpPr>
          <p:cNvPr id="18" name="TextBox 17"/>
          <p:cNvSpPr txBox="1"/>
          <p:nvPr/>
        </p:nvSpPr>
        <p:spPr>
          <a:xfrm>
            <a:off x="10607040" y="299923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9" name="Rounded Rectangle 18"/>
          <p:cNvSpPr/>
          <p:nvPr/>
        </p:nvSpPr>
        <p:spPr>
          <a:xfrm>
            <a:off x="868680" y="3429000"/>
            <a:ext cx="10515600" cy="53035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58444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2.10</a:t>
            </a:r>
          </a:p>
        </p:txBody>
      </p:sp>
      <p:sp>
        <p:nvSpPr>
          <p:cNvPr id="21" name="TextBox 20"/>
          <p:cNvSpPr txBox="1"/>
          <p:nvPr/>
        </p:nvSpPr>
        <p:spPr>
          <a:xfrm>
            <a:off x="1737360" y="355701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다음 회차 예약</a:t>
            </a:r>
          </a:p>
        </p:txBody>
      </p:sp>
      <p:sp>
        <p:nvSpPr>
          <p:cNvPr id="22" name="TextBox 21"/>
          <p:cNvSpPr txBox="1"/>
          <p:nvPr/>
        </p:nvSpPr>
        <p:spPr>
          <a:xfrm>
            <a:off x="4572000" y="358444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다음 1회차까지 미리 신청 가능 · 한도는 따로 계산</a:t>
            </a:r>
          </a:p>
        </p:txBody>
      </p:sp>
      <p:sp>
        <p:nvSpPr>
          <p:cNvPr id="23" name="TextBox 22"/>
          <p:cNvSpPr txBox="1"/>
          <p:nvPr/>
        </p:nvSpPr>
        <p:spPr>
          <a:xfrm>
            <a:off x="10607040" y="359359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4" name="Rounded Rectangle 23"/>
          <p:cNvSpPr/>
          <p:nvPr/>
        </p:nvSpPr>
        <p:spPr>
          <a:xfrm>
            <a:off x="868680" y="4023360"/>
            <a:ext cx="10515600" cy="53035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17880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2.11</a:t>
            </a:r>
          </a:p>
        </p:txBody>
      </p:sp>
      <p:sp>
        <p:nvSpPr>
          <p:cNvPr id="26" name="TextBox 25"/>
          <p:cNvSpPr txBox="1"/>
          <p:nvPr/>
        </p:nvSpPr>
        <p:spPr>
          <a:xfrm>
            <a:off x="1737360" y="415137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당겨쓰기</a:t>
            </a:r>
          </a:p>
        </p:txBody>
      </p:sp>
      <p:sp>
        <p:nvSpPr>
          <p:cNvPr id="27" name="TextBox 26"/>
          <p:cNvSpPr txBox="1"/>
          <p:nvPr/>
        </p:nvSpPr>
        <p:spPr>
          <a:xfrm>
            <a:off x="4572000" y="417880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부족분을 advance_days로 기록 → 다음 기산일에 상환</a:t>
            </a:r>
          </a:p>
        </p:txBody>
      </p:sp>
      <p:sp>
        <p:nvSpPr>
          <p:cNvPr id="28" name="TextBox 27"/>
          <p:cNvSpPr txBox="1"/>
          <p:nvPr/>
        </p:nvSpPr>
        <p:spPr>
          <a:xfrm>
            <a:off x="10607040" y="418795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9" name="Rounded Rectangle 28"/>
          <p:cNvSpPr/>
          <p:nvPr/>
        </p:nvSpPr>
        <p:spPr>
          <a:xfrm>
            <a:off x="868680" y="4617720"/>
            <a:ext cx="10515600" cy="53035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77316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2.12</a:t>
            </a:r>
          </a:p>
        </p:txBody>
      </p:sp>
      <p:sp>
        <p:nvSpPr>
          <p:cNvPr id="31" name="TextBox 30"/>
          <p:cNvSpPr txBox="1"/>
          <p:nvPr/>
        </p:nvSpPr>
        <p:spPr>
          <a:xfrm>
            <a:off x="1737360" y="474573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동시 신청 방지</a:t>
            </a:r>
          </a:p>
        </p:txBody>
      </p:sp>
      <p:sp>
        <p:nvSpPr>
          <p:cNvPr id="32" name="TextBox 31"/>
          <p:cNvSpPr txBox="1"/>
          <p:nvPr/>
        </p:nvSpPr>
        <p:spPr>
          <a:xfrm>
            <a:off x="4572000" y="477316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@Version 낙관적 락 — 두 창에서 동시에 내도 초과되지 않음</a:t>
            </a:r>
          </a:p>
        </p:txBody>
      </p:sp>
      <p:sp>
        <p:nvSpPr>
          <p:cNvPr id="33" name="TextBox 32"/>
          <p:cNvSpPr txBox="1"/>
          <p:nvPr/>
        </p:nvSpPr>
        <p:spPr>
          <a:xfrm>
            <a:off x="10607040" y="478231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4" name="Rounded Rectangle 33"/>
          <p:cNvSpPr/>
          <p:nvPr/>
        </p:nvSpPr>
        <p:spPr>
          <a:xfrm>
            <a:off x="868680" y="5212080"/>
            <a:ext cx="10515600" cy="530352"/>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4984" y="536752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2.13</a:t>
            </a:r>
          </a:p>
        </p:txBody>
      </p:sp>
      <p:sp>
        <p:nvSpPr>
          <p:cNvPr id="36" name="TextBox 35"/>
          <p:cNvSpPr txBox="1"/>
          <p:nvPr/>
        </p:nvSpPr>
        <p:spPr>
          <a:xfrm>
            <a:off x="1737360" y="534009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잔액 요약</a:t>
            </a:r>
          </a:p>
        </p:txBody>
      </p:sp>
      <p:sp>
        <p:nvSpPr>
          <p:cNvPr id="37" name="TextBox 36"/>
          <p:cNvSpPr txBox="1"/>
          <p:nvPr/>
        </p:nvSpPr>
        <p:spPr>
          <a:xfrm>
            <a:off x="4572000" y="536752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현재 회차 · 다음 회차 예약 · 결재 대기 일수를 나눠서 보여준다</a:t>
            </a:r>
          </a:p>
        </p:txBody>
      </p:sp>
      <p:sp>
        <p:nvSpPr>
          <p:cNvPr id="38" name="TextBox 37"/>
          <p:cNvSpPr txBox="1"/>
          <p:nvPr/>
        </p:nvSpPr>
        <p:spPr>
          <a:xfrm>
            <a:off x="10607040" y="537667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9" name="TextBox 38"/>
          <p:cNvSpPr txBox="1"/>
          <p:nvPr/>
        </p:nvSpPr>
        <p:spPr>
          <a:xfrm>
            <a:off x="868680" y="598932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User.java(도메인 메서드) · LeaveService · docs/09  |  자세한 이유는 뒤 설계 결정 장에</a:t>
            </a:r>
          </a:p>
        </p:txBody>
      </p:sp>
      <p:sp>
        <p:nvSpPr>
          <p:cNvPr id="40" name="TextBox 39"/>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WBS 3 — WELFARE</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3. 복리후생</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API 12</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463040"/>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62763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3.1</a:t>
            </a:r>
          </a:p>
        </p:txBody>
      </p:sp>
      <p:sp>
        <p:nvSpPr>
          <p:cNvPr id="9" name="TextBox 8"/>
          <p:cNvSpPr txBox="1"/>
          <p:nvPr/>
        </p:nvSpPr>
        <p:spPr>
          <a:xfrm>
            <a:off x="1737360" y="160020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정책 등록</a:t>
            </a:r>
          </a:p>
        </p:txBody>
      </p:sp>
      <p:sp>
        <p:nvSpPr>
          <p:cNvPr id="10" name="TextBox 9"/>
          <p:cNvSpPr txBox="1"/>
          <p:nvPr/>
        </p:nvSpPr>
        <p:spPr>
          <a:xfrm>
            <a:off x="4572000" y="162763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구분(경조·포상 등) · 대상 · 지급 일수를 관리자가 정의</a:t>
            </a:r>
          </a:p>
        </p:txBody>
      </p:sp>
      <p:sp>
        <p:nvSpPr>
          <p:cNvPr id="11" name="TextBox 10"/>
          <p:cNvSpPr txBox="1"/>
          <p:nvPr/>
        </p:nvSpPr>
        <p:spPr>
          <a:xfrm>
            <a:off x="10607040" y="163677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2" name="Rounded Rectangle 11"/>
          <p:cNvSpPr/>
          <p:nvPr/>
        </p:nvSpPr>
        <p:spPr>
          <a:xfrm>
            <a:off x="868680" y="2075688"/>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24028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3.2</a:t>
            </a:r>
          </a:p>
        </p:txBody>
      </p:sp>
      <p:sp>
        <p:nvSpPr>
          <p:cNvPr id="14" name="TextBox 13"/>
          <p:cNvSpPr txBox="1"/>
          <p:nvPr/>
        </p:nvSpPr>
        <p:spPr>
          <a:xfrm>
            <a:off x="1737360" y="221284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정책 목록 · 수정 · 삭제</a:t>
            </a:r>
          </a:p>
        </p:txBody>
      </p:sp>
      <p:sp>
        <p:nvSpPr>
          <p:cNvPr id="15" name="TextBox 14"/>
          <p:cNvSpPr txBox="1"/>
          <p:nvPr/>
        </p:nvSpPr>
        <p:spPr>
          <a:xfrm>
            <a:off x="4572000" y="224028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같은 구분+대상 조합 중복은 막는다</a:t>
            </a:r>
          </a:p>
        </p:txBody>
      </p:sp>
      <p:sp>
        <p:nvSpPr>
          <p:cNvPr id="16" name="TextBox 15"/>
          <p:cNvSpPr txBox="1"/>
          <p:nvPr/>
        </p:nvSpPr>
        <p:spPr>
          <a:xfrm>
            <a:off x="10607040" y="224942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7" name="Rounded Rectangle 16"/>
          <p:cNvSpPr/>
          <p:nvPr/>
        </p:nvSpPr>
        <p:spPr>
          <a:xfrm>
            <a:off x="868680" y="2688336"/>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285292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3.3</a:t>
            </a:r>
          </a:p>
        </p:txBody>
      </p:sp>
      <p:sp>
        <p:nvSpPr>
          <p:cNvPr id="19" name="TextBox 18"/>
          <p:cNvSpPr txBox="1"/>
          <p:nvPr/>
        </p:nvSpPr>
        <p:spPr>
          <a:xfrm>
            <a:off x="1737360" y="282549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복리후생 신청</a:t>
            </a:r>
          </a:p>
        </p:txBody>
      </p:sp>
      <p:sp>
        <p:nvSpPr>
          <p:cNvPr id="20" name="TextBox 19"/>
          <p:cNvSpPr txBox="1"/>
          <p:nvPr/>
        </p:nvSpPr>
        <p:spPr>
          <a:xfrm>
            <a:off x="4572000" y="285292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정책을 고르고 사유와 기간을 적어 낸다</a:t>
            </a:r>
          </a:p>
        </p:txBody>
      </p:sp>
      <p:sp>
        <p:nvSpPr>
          <p:cNvPr id="21" name="TextBox 20"/>
          <p:cNvSpPr txBox="1"/>
          <p:nvPr/>
        </p:nvSpPr>
        <p:spPr>
          <a:xfrm>
            <a:off x="10607040" y="286207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2" name="Rounded Rectangle 21"/>
          <p:cNvSpPr/>
          <p:nvPr/>
        </p:nvSpPr>
        <p:spPr>
          <a:xfrm>
            <a:off x="868680" y="3300984"/>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 y="3465576"/>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3.4</a:t>
            </a:r>
          </a:p>
        </p:txBody>
      </p:sp>
      <p:sp>
        <p:nvSpPr>
          <p:cNvPr id="24" name="TextBox 23"/>
          <p:cNvSpPr txBox="1"/>
          <p:nvPr/>
        </p:nvSpPr>
        <p:spPr>
          <a:xfrm>
            <a:off x="1737360" y="3438144"/>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승인 / 반려</a:t>
            </a:r>
          </a:p>
        </p:txBody>
      </p:sp>
      <p:sp>
        <p:nvSpPr>
          <p:cNvPr id="25" name="TextBox 24"/>
          <p:cNvSpPr txBox="1"/>
          <p:nvPr/>
        </p:nvSpPr>
        <p:spPr>
          <a:xfrm>
            <a:off x="4572000" y="3465576"/>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승인하면 그만큼 bonus_days(보너스 연차)로 가산</a:t>
            </a:r>
          </a:p>
        </p:txBody>
      </p:sp>
      <p:sp>
        <p:nvSpPr>
          <p:cNvPr id="26" name="TextBox 25"/>
          <p:cNvSpPr txBox="1"/>
          <p:nvPr/>
        </p:nvSpPr>
        <p:spPr>
          <a:xfrm>
            <a:off x="10607040" y="3474720"/>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7" name="Rounded Rectangle 26"/>
          <p:cNvSpPr/>
          <p:nvPr/>
        </p:nvSpPr>
        <p:spPr>
          <a:xfrm>
            <a:off x="868680" y="3913632"/>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4078224"/>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3.5</a:t>
            </a:r>
          </a:p>
        </p:txBody>
      </p:sp>
      <p:sp>
        <p:nvSpPr>
          <p:cNvPr id="29" name="TextBox 28"/>
          <p:cNvSpPr txBox="1"/>
          <p:nvPr/>
        </p:nvSpPr>
        <p:spPr>
          <a:xfrm>
            <a:off x="1737360" y="4050792"/>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취소</a:t>
            </a:r>
          </a:p>
        </p:txBody>
      </p:sp>
      <p:sp>
        <p:nvSpPr>
          <p:cNvPr id="30" name="TextBox 29"/>
          <p:cNvSpPr txBox="1"/>
          <p:nvPr/>
        </p:nvSpPr>
        <p:spPr>
          <a:xfrm>
            <a:off x="4572000" y="4078224"/>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연차와 같은 상태 전이를 공유한다 (PENDING · CANCEL_PENDING …)</a:t>
            </a:r>
          </a:p>
        </p:txBody>
      </p:sp>
      <p:sp>
        <p:nvSpPr>
          <p:cNvPr id="31" name="TextBox 30"/>
          <p:cNvSpPr txBox="1"/>
          <p:nvPr/>
        </p:nvSpPr>
        <p:spPr>
          <a:xfrm>
            <a:off x="10607040" y="4087368"/>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2" name="Rounded Rectangle 31"/>
          <p:cNvSpPr/>
          <p:nvPr/>
        </p:nvSpPr>
        <p:spPr>
          <a:xfrm>
            <a:off x="868680" y="4526280"/>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4" y="469087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3.6</a:t>
            </a:r>
          </a:p>
        </p:txBody>
      </p:sp>
      <p:sp>
        <p:nvSpPr>
          <p:cNvPr id="34" name="TextBox 33"/>
          <p:cNvSpPr txBox="1"/>
          <p:nvPr/>
        </p:nvSpPr>
        <p:spPr>
          <a:xfrm>
            <a:off x="1737360" y="466344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이력</a:t>
            </a:r>
          </a:p>
        </p:txBody>
      </p:sp>
      <p:sp>
        <p:nvSpPr>
          <p:cNvPr id="35" name="TextBox 34"/>
          <p:cNvSpPr txBox="1"/>
          <p:nvPr/>
        </p:nvSpPr>
        <p:spPr>
          <a:xfrm>
            <a:off x="4572000" y="469087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내 신청 · 내 결재 · 전사 이력</a:t>
            </a:r>
          </a:p>
        </p:txBody>
      </p:sp>
      <p:sp>
        <p:nvSpPr>
          <p:cNvPr id="36" name="TextBox 35"/>
          <p:cNvSpPr txBox="1"/>
          <p:nvPr/>
        </p:nvSpPr>
        <p:spPr>
          <a:xfrm>
            <a:off x="10607040" y="470001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7" name="Rectangle 36"/>
          <p:cNvSpPr/>
          <p:nvPr/>
        </p:nvSpPr>
        <p:spPr>
          <a:xfrm>
            <a:off x="868680" y="5349240"/>
            <a:ext cx="45720" cy="548640"/>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 y="5349240"/>
            <a:ext cx="10469880" cy="54864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43000" y="5495544"/>
            <a:ext cx="9966960" cy="27432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복리후생 승인 결과가 연차 잔액(bonus_days)으로 흘러 들어갑니다 — 두 도메인이 만나는 유일한 지점입니다.</a:t>
            </a:r>
          </a:p>
        </p:txBody>
      </p:sp>
      <p:sp>
        <p:nvSpPr>
          <p:cNvPr id="40" name="TextBox 39"/>
          <p:cNvSpPr txBox="1"/>
          <p:nvPr/>
        </p:nvSpPr>
        <p:spPr>
          <a:xfrm>
            <a:off x="868680" y="598932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domain/welfare  |  화면: 복리후생 · 관리&gt;복리후생 정책  |  RequestStatus를 연차와 공유</a:t>
            </a:r>
          </a:p>
        </p:txBody>
      </p:sp>
      <p:sp>
        <p:nvSpPr>
          <p:cNvPr id="41" name="TextBox 40"/>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WBS 4 — CALENDAR</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4. 캘린더 · 개인 일정 · 공휴일</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API 8</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463040"/>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58191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4.1</a:t>
            </a:r>
          </a:p>
        </p:txBody>
      </p:sp>
      <p:sp>
        <p:nvSpPr>
          <p:cNvPr id="9" name="TextBox 8"/>
          <p:cNvSpPr txBox="1"/>
          <p:nvPr/>
        </p:nvSpPr>
        <p:spPr>
          <a:xfrm>
            <a:off x="1737360" y="155448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통합 캘린더</a:t>
            </a:r>
          </a:p>
        </p:txBody>
      </p:sp>
      <p:sp>
        <p:nvSpPr>
          <p:cNvPr id="10" name="TextBox 9"/>
          <p:cNvSpPr txBox="1"/>
          <p:nvPr/>
        </p:nvSpPr>
        <p:spPr>
          <a:xfrm>
            <a:off x="4572000" y="158191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연차 · 개인 일정 · 공휴일을 한 화면에서 본다</a:t>
            </a:r>
          </a:p>
        </p:txBody>
      </p:sp>
      <p:sp>
        <p:nvSpPr>
          <p:cNvPr id="11" name="TextBox 10"/>
          <p:cNvSpPr txBox="1"/>
          <p:nvPr/>
        </p:nvSpPr>
        <p:spPr>
          <a:xfrm>
            <a:off x="10607040" y="159105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2" name="Rounded Rectangle 11"/>
          <p:cNvSpPr/>
          <p:nvPr/>
        </p:nvSpPr>
        <p:spPr>
          <a:xfrm>
            <a:off x="868680" y="1975104"/>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093976"/>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4.2</a:t>
            </a:r>
          </a:p>
        </p:txBody>
      </p:sp>
      <p:sp>
        <p:nvSpPr>
          <p:cNvPr id="14" name="TextBox 13"/>
          <p:cNvSpPr txBox="1"/>
          <p:nvPr/>
        </p:nvSpPr>
        <p:spPr>
          <a:xfrm>
            <a:off x="1737360" y="2066544"/>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날짜 눌러 신청</a:t>
            </a:r>
          </a:p>
        </p:txBody>
      </p:sp>
      <p:sp>
        <p:nvSpPr>
          <p:cNvPr id="15" name="TextBox 14"/>
          <p:cNvSpPr txBox="1"/>
          <p:nvPr/>
        </p:nvSpPr>
        <p:spPr>
          <a:xfrm>
            <a:off x="4572000" y="2093976"/>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여러 날 선택 → 오른쪽 패널에서 바로 신청</a:t>
            </a:r>
          </a:p>
        </p:txBody>
      </p:sp>
      <p:sp>
        <p:nvSpPr>
          <p:cNvPr id="16" name="TextBox 15"/>
          <p:cNvSpPr txBox="1"/>
          <p:nvPr/>
        </p:nvSpPr>
        <p:spPr>
          <a:xfrm>
            <a:off x="10607040" y="2103120"/>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7" name="Rounded Rectangle 16"/>
          <p:cNvSpPr/>
          <p:nvPr/>
        </p:nvSpPr>
        <p:spPr>
          <a:xfrm>
            <a:off x="868680" y="2487168"/>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260604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4.3</a:t>
            </a:r>
          </a:p>
        </p:txBody>
      </p:sp>
      <p:sp>
        <p:nvSpPr>
          <p:cNvPr id="19" name="TextBox 18"/>
          <p:cNvSpPr txBox="1"/>
          <p:nvPr/>
        </p:nvSpPr>
        <p:spPr>
          <a:xfrm>
            <a:off x="1737360" y="257860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개인 일정</a:t>
            </a:r>
          </a:p>
        </p:txBody>
      </p:sp>
      <p:sp>
        <p:nvSpPr>
          <p:cNvPr id="20" name="TextBox 19"/>
          <p:cNvSpPr txBox="1"/>
          <p:nvPr/>
        </p:nvSpPr>
        <p:spPr>
          <a:xfrm>
            <a:off x="4572000" y="260604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외근 · 출장 · 재택 · 교육 — 결재 없고 연차도 안 깎인다</a:t>
            </a:r>
          </a:p>
        </p:txBody>
      </p:sp>
      <p:sp>
        <p:nvSpPr>
          <p:cNvPr id="21" name="TextBox 20"/>
          <p:cNvSpPr txBox="1"/>
          <p:nvPr/>
        </p:nvSpPr>
        <p:spPr>
          <a:xfrm>
            <a:off x="10607040" y="261518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2" name="Rounded Rectangle 21"/>
          <p:cNvSpPr/>
          <p:nvPr/>
        </p:nvSpPr>
        <p:spPr>
          <a:xfrm>
            <a:off x="868680" y="2999232"/>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 y="3118104"/>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4.4</a:t>
            </a:r>
          </a:p>
        </p:txBody>
      </p:sp>
      <p:sp>
        <p:nvSpPr>
          <p:cNvPr id="24" name="TextBox 23"/>
          <p:cNvSpPr txBox="1"/>
          <p:nvPr/>
        </p:nvSpPr>
        <p:spPr>
          <a:xfrm>
            <a:off x="1737360" y="3090672"/>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일정 메모</a:t>
            </a:r>
          </a:p>
        </p:txBody>
      </p:sp>
      <p:sp>
        <p:nvSpPr>
          <p:cNvPr id="25" name="TextBox 24"/>
          <p:cNvSpPr txBox="1"/>
          <p:nvPr/>
        </p:nvSpPr>
        <p:spPr>
          <a:xfrm>
            <a:off x="4572000" y="3118104"/>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본인과 총관리자에게만 응답에 담긴다</a:t>
            </a:r>
          </a:p>
        </p:txBody>
      </p:sp>
      <p:sp>
        <p:nvSpPr>
          <p:cNvPr id="26" name="TextBox 25"/>
          <p:cNvSpPr txBox="1"/>
          <p:nvPr/>
        </p:nvSpPr>
        <p:spPr>
          <a:xfrm>
            <a:off x="10607040" y="3127248"/>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7" name="Rounded Rectangle 26"/>
          <p:cNvSpPr/>
          <p:nvPr/>
        </p:nvSpPr>
        <p:spPr>
          <a:xfrm>
            <a:off x="868680" y="3511296"/>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363016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4.5</a:t>
            </a:r>
          </a:p>
        </p:txBody>
      </p:sp>
      <p:sp>
        <p:nvSpPr>
          <p:cNvPr id="29" name="TextBox 28"/>
          <p:cNvSpPr txBox="1"/>
          <p:nvPr/>
        </p:nvSpPr>
        <p:spPr>
          <a:xfrm>
            <a:off x="1737360" y="360273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공휴일 동기화</a:t>
            </a:r>
          </a:p>
        </p:txBody>
      </p:sp>
      <p:sp>
        <p:nvSpPr>
          <p:cNvPr id="30" name="TextBox 29"/>
          <p:cNvSpPr txBox="1"/>
          <p:nvPr/>
        </p:nvSpPr>
        <p:spPr>
          <a:xfrm>
            <a:off x="4572000" y="363016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공공데이터 API에서 연 단위로 가져와 저장</a:t>
            </a:r>
          </a:p>
        </p:txBody>
      </p:sp>
      <p:sp>
        <p:nvSpPr>
          <p:cNvPr id="31" name="TextBox 30"/>
          <p:cNvSpPr txBox="1"/>
          <p:nvPr/>
        </p:nvSpPr>
        <p:spPr>
          <a:xfrm>
            <a:off x="10607040" y="363931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2" name="Rounded Rectangle 31"/>
          <p:cNvSpPr/>
          <p:nvPr/>
        </p:nvSpPr>
        <p:spPr>
          <a:xfrm>
            <a:off x="868680" y="4023360"/>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4" y="414223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4.6</a:t>
            </a:r>
          </a:p>
        </p:txBody>
      </p:sp>
      <p:sp>
        <p:nvSpPr>
          <p:cNvPr id="34" name="TextBox 33"/>
          <p:cNvSpPr txBox="1"/>
          <p:nvPr/>
        </p:nvSpPr>
        <p:spPr>
          <a:xfrm>
            <a:off x="1737360" y="411480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키보드 · 모바일</a:t>
            </a:r>
          </a:p>
        </p:txBody>
      </p:sp>
      <p:sp>
        <p:nvSpPr>
          <p:cNvPr id="35" name="TextBox 34"/>
          <p:cNvSpPr txBox="1"/>
          <p:nvPr/>
        </p:nvSpPr>
        <p:spPr>
          <a:xfrm>
            <a:off x="4572000" y="414223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 → 로 월 이동 · 모바일은 하단 시트로 선택</a:t>
            </a:r>
          </a:p>
        </p:txBody>
      </p:sp>
      <p:sp>
        <p:nvSpPr>
          <p:cNvPr id="36" name="TextBox 35"/>
          <p:cNvSpPr txBox="1"/>
          <p:nvPr/>
        </p:nvSpPr>
        <p:spPr>
          <a:xfrm>
            <a:off x="10607040" y="415137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7" name="Rectangle 36"/>
          <p:cNvSpPr/>
          <p:nvPr/>
        </p:nvSpPr>
        <p:spPr>
          <a:xfrm>
            <a:off x="868680" y="4892040"/>
            <a:ext cx="45720" cy="914400"/>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 y="4892040"/>
            <a:ext cx="10469880" cy="91440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43000" y="5038344"/>
            <a:ext cx="9966960" cy="64008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개인 일정을 연차와 같은 테이블에 넣지 않은 이유 — 잔액을 안 깎고 결재도 없어서, 한 엔티티에 얹으면 신청·결재·취소 흐름마다 “이건 건너뛰기” 분기가 생깁니다. 그 분기 산재가 예전 버전의 버그 원인이었습니다.</a:t>
            </a:r>
          </a:p>
        </p:txBody>
      </p:sp>
      <p:sp>
        <p:nvSpPr>
          <p:cNvPr id="40" name="TextBox 39"/>
          <p:cNvSpPr txBox="1"/>
          <p:nvPr/>
        </p:nvSpPr>
        <p:spPr>
          <a:xfrm>
            <a:off x="868680" y="603504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domain/schedule · domain/holiday · CalendarPage.jsx</a:t>
            </a:r>
          </a:p>
        </p:txBody>
      </p:sp>
      <p:sp>
        <p:nvSpPr>
          <p:cNvPr id="41" name="TextBox 40"/>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WBS 5 — ORGANIZATION (1/2)</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5. 조직과 구성원</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API 21</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417320"/>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58191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5.1</a:t>
            </a:r>
          </a:p>
        </p:txBody>
      </p:sp>
      <p:sp>
        <p:nvSpPr>
          <p:cNvPr id="9" name="TextBox 8"/>
          <p:cNvSpPr txBox="1"/>
          <p:nvPr/>
        </p:nvSpPr>
        <p:spPr>
          <a:xfrm>
            <a:off x="1737360" y="155448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구성원 목록</a:t>
            </a:r>
          </a:p>
        </p:txBody>
      </p:sp>
      <p:sp>
        <p:nvSpPr>
          <p:cNvPr id="10" name="TextBox 9"/>
          <p:cNvSpPr txBox="1"/>
          <p:nvPr/>
        </p:nvSpPr>
        <p:spPr>
          <a:xfrm>
            <a:off x="4572000" y="158191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검색 · 부서 · 역할 필터 · 재직 / 퇴직 탭</a:t>
            </a:r>
          </a:p>
        </p:txBody>
      </p:sp>
      <p:sp>
        <p:nvSpPr>
          <p:cNvPr id="11" name="TextBox 10"/>
          <p:cNvSpPr txBox="1"/>
          <p:nvPr/>
        </p:nvSpPr>
        <p:spPr>
          <a:xfrm>
            <a:off x="10607040" y="159105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2" name="Rounded Rectangle 11"/>
          <p:cNvSpPr/>
          <p:nvPr/>
        </p:nvSpPr>
        <p:spPr>
          <a:xfrm>
            <a:off x="868680" y="2029968"/>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19456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5.2</a:t>
            </a:r>
          </a:p>
        </p:txBody>
      </p:sp>
      <p:sp>
        <p:nvSpPr>
          <p:cNvPr id="14" name="TextBox 13"/>
          <p:cNvSpPr txBox="1"/>
          <p:nvPr/>
        </p:nvSpPr>
        <p:spPr>
          <a:xfrm>
            <a:off x="1737360" y="216712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역할 변경</a:t>
            </a:r>
          </a:p>
        </p:txBody>
      </p:sp>
      <p:sp>
        <p:nvSpPr>
          <p:cNvPr id="15" name="TextBox 14"/>
          <p:cNvSpPr txBox="1"/>
          <p:nvPr/>
        </p:nvSpPr>
        <p:spPr>
          <a:xfrm>
            <a:off x="4572000" y="219456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사원 / 팀장 / 총관리자 — 마지막 관리자는 강등 못 함</a:t>
            </a:r>
          </a:p>
        </p:txBody>
      </p:sp>
      <p:sp>
        <p:nvSpPr>
          <p:cNvPr id="16" name="TextBox 15"/>
          <p:cNvSpPr txBox="1"/>
          <p:nvPr/>
        </p:nvSpPr>
        <p:spPr>
          <a:xfrm>
            <a:off x="10607040" y="220370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7" name="Rounded Rectangle 16"/>
          <p:cNvSpPr/>
          <p:nvPr/>
        </p:nvSpPr>
        <p:spPr>
          <a:xfrm>
            <a:off x="868680" y="2642616"/>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280720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5.3</a:t>
            </a:r>
          </a:p>
        </p:txBody>
      </p:sp>
      <p:sp>
        <p:nvSpPr>
          <p:cNvPr id="19" name="TextBox 18"/>
          <p:cNvSpPr txBox="1"/>
          <p:nvPr/>
        </p:nvSpPr>
        <p:spPr>
          <a:xfrm>
            <a:off x="1737360" y="277977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부서 이동</a:t>
            </a:r>
          </a:p>
        </p:txBody>
      </p:sp>
      <p:sp>
        <p:nvSpPr>
          <p:cNvPr id="20" name="TextBox 19"/>
          <p:cNvSpPr txBox="1"/>
          <p:nvPr/>
        </p:nvSpPr>
        <p:spPr>
          <a:xfrm>
            <a:off x="4572000" y="280720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팀장이면 후임을 먼저 지정해야 옮길 수 있다</a:t>
            </a:r>
          </a:p>
        </p:txBody>
      </p:sp>
      <p:sp>
        <p:nvSpPr>
          <p:cNvPr id="21" name="TextBox 20"/>
          <p:cNvSpPr txBox="1"/>
          <p:nvPr/>
        </p:nvSpPr>
        <p:spPr>
          <a:xfrm>
            <a:off x="10607040" y="281635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2" name="Rounded Rectangle 21"/>
          <p:cNvSpPr/>
          <p:nvPr/>
        </p:nvSpPr>
        <p:spPr>
          <a:xfrm>
            <a:off x="868680" y="3255264"/>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 y="3419856"/>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5.4</a:t>
            </a:r>
          </a:p>
        </p:txBody>
      </p:sp>
      <p:sp>
        <p:nvSpPr>
          <p:cNvPr id="24" name="TextBox 23"/>
          <p:cNvSpPr txBox="1"/>
          <p:nvPr/>
        </p:nvSpPr>
        <p:spPr>
          <a:xfrm>
            <a:off x="1737360" y="3392424"/>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연차 수동 보정</a:t>
            </a:r>
          </a:p>
        </p:txBody>
      </p:sp>
      <p:sp>
        <p:nvSpPr>
          <p:cNvPr id="25" name="TextBox 24"/>
          <p:cNvSpPr txBox="1"/>
          <p:nvPr/>
        </p:nvSpPr>
        <p:spPr>
          <a:xfrm>
            <a:off x="4572000" y="3419856"/>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관리자가 부여 일수를 직접 조정 (입사일 정정 등)</a:t>
            </a:r>
          </a:p>
        </p:txBody>
      </p:sp>
      <p:sp>
        <p:nvSpPr>
          <p:cNvPr id="26" name="TextBox 25"/>
          <p:cNvSpPr txBox="1"/>
          <p:nvPr/>
        </p:nvSpPr>
        <p:spPr>
          <a:xfrm>
            <a:off x="10607040" y="3429000"/>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7" name="Rounded Rectangle 26"/>
          <p:cNvSpPr/>
          <p:nvPr/>
        </p:nvSpPr>
        <p:spPr>
          <a:xfrm>
            <a:off x="868680" y="3867912"/>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4032504"/>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5.5</a:t>
            </a:r>
          </a:p>
        </p:txBody>
      </p:sp>
      <p:sp>
        <p:nvSpPr>
          <p:cNvPr id="29" name="TextBox 28"/>
          <p:cNvSpPr txBox="1"/>
          <p:nvPr/>
        </p:nvSpPr>
        <p:spPr>
          <a:xfrm>
            <a:off x="1737360" y="4005072"/>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부서 관리</a:t>
            </a:r>
          </a:p>
        </p:txBody>
      </p:sp>
      <p:sp>
        <p:nvSpPr>
          <p:cNvPr id="30" name="TextBox 29"/>
          <p:cNvSpPr txBox="1"/>
          <p:nvPr/>
        </p:nvSpPr>
        <p:spPr>
          <a:xfrm>
            <a:off x="4572000" y="4032504"/>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트리 구조 · 상위 부서 · 팀장 지정 · 비활성화</a:t>
            </a:r>
          </a:p>
        </p:txBody>
      </p:sp>
      <p:sp>
        <p:nvSpPr>
          <p:cNvPr id="31" name="TextBox 30"/>
          <p:cNvSpPr txBox="1"/>
          <p:nvPr/>
        </p:nvSpPr>
        <p:spPr>
          <a:xfrm>
            <a:off x="10607040" y="4041648"/>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2" name="Rounded Rectangle 31"/>
          <p:cNvSpPr/>
          <p:nvPr/>
        </p:nvSpPr>
        <p:spPr>
          <a:xfrm>
            <a:off x="868680" y="4480560"/>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4" y="464515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5.6</a:t>
            </a:r>
          </a:p>
        </p:txBody>
      </p:sp>
      <p:sp>
        <p:nvSpPr>
          <p:cNvPr id="34" name="TextBox 33"/>
          <p:cNvSpPr txBox="1"/>
          <p:nvPr/>
        </p:nvSpPr>
        <p:spPr>
          <a:xfrm>
            <a:off x="1737360" y="461772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미배정 부서</a:t>
            </a:r>
          </a:p>
        </p:txBody>
      </p:sp>
      <p:sp>
        <p:nvSpPr>
          <p:cNvPr id="35" name="TextBox 34"/>
          <p:cNvSpPr txBox="1"/>
          <p:nvPr/>
        </p:nvSpPr>
        <p:spPr>
          <a:xfrm>
            <a:off x="4572000" y="464515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이름 변경 · 이동 · 삭제가 막힌 시스템 기본 부서</a:t>
            </a:r>
          </a:p>
        </p:txBody>
      </p:sp>
      <p:sp>
        <p:nvSpPr>
          <p:cNvPr id="36" name="TextBox 35"/>
          <p:cNvSpPr txBox="1"/>
          <p:nvPr/>
        </p:nvSpPr>
        <p:spPr>
          <a:xfrm>
            <a:off x="10607040" y="465429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7" name="Rounded Rectangle 36"/>
          <p:cNvSpPr/>
          <p:nvPr/>
        </p:nvSpPr>
        <p:spPr>
          <a:xfrm>
            <a:off x="868680" y="5093208"/>
            <a:ext cx="10515600" cy="5486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4984" y="525780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5.7</a:t>
            </a:r>
          </a:p>
        </p:txBody>
      </p:sp>
      <p:sp>
        <p:nvSpPr>
          <p:cNvPr id="39" name="TextBox 38"/>
          <p:cNvSpPr txBox="1"/>
          <p:nvPr/>
        </p:nvSpPr>
        <p:spPr>
          <a:xfrm>
            <a:off x="1737360" y="523036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내 정보</a:t>
            </a:r>
          </a:p>
        </p:txBody>
      </p:sp>
      <p:sp>
        <p:nvSpPr>
          <p:cNvPr id="40" name="TextBox 39"/>
          <p:cNvSpPr txBox="1"/>
          <p:nvPr/>
        </p:nvSpPr>
        <p:spPr>
          <a:xfrm>
            <a:off x="4572000" y="525780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직급(과장 · 선임연구원 …)을 사원이 직접 입력</a:t>
            </a:r>
          </a:p>
        </p:txBody>
      </p:sp>
      <p:sp>
        <p:nvSpPr>
          <p:cNvPr id="41" name="TextBox 40"/>
          <p:cNvSpPr txBox="1"/>
          <p:nvPr/>
        </p:nvSpPr>
        <p:spPr>
          <a:xfrm>
            <a:off x="10607040" y="526694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42" name="TextBox 41"/>
          <p:cNvSpPr txBox="1"/>
          <p:nvPr/>
        </p:nvSpPr>
        <p:spPr>
          <a:xfrm>
            <a:off x="868680" y="598932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domain/user · domain/department  |  화면: 관리&gt;구성원 · 관리&gt;부서 · 내 정보</a:t>
            </a:r>
          </a:p>
        </p:txBody>
      </p:sp>
      <p:sp>
        <p:nvSpPr>
          <p:cNvPr id="43" name="TextBox 42"/>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WBS 5 — LIFECYCLE (2/2)</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5. 퇴직 · 데이터 파기 · 재입사</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API 21</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463040"/>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58191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5.8</a:t>
            </a:r>
          </a:p>
        </p:txBody>
      </p:sp>
      <p:sp>
        <p:nvSpPr>
          <p:cNvPr id="9" name="TextBox 8"/>
          <p:cNvSpPr txBox="1"/>
          <p:nvPr/>
        </p:nvSpPr>
        <p:spPr>
          <a:xfrm>
            <a:off x="1737360" y="155448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퇴직 처리</a:t>
            </a:r>
          </a:p>
        </p:txBody>
      </p:sp>
      <p:sp>
        <p:nvSpPr>
          <p:cNvPr id="10" name="TextBox 9"/>
          <p:cNvSpPr txBox="1"/>
          <p:nvPr/>
        </p:nvSpPr>
        <p:spPr>
          <a:xfrm>
            <a:off x="4572000" y="158191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그 즉시 로그인까지 막힌다 · 본인 계정은 처리 불가</a:t>
            </a:r>
          </a:p>
        </p:txBody>
      </p:sp>
      <p:sp>
        <p:nvSpPr>
          <p:cNvPr id="11" name="TextBox 10"/>
          <p:cNvSpPr txBox="1"/>
          <p:nvPr/>
        </p:nvSpPr>
        <p:spPr>
          <a:xfrm>
            <a:off x="10607040" y="159105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2" name="Rounded Rectangle 11"/>
          <p:cNvSpPr/>
          <p:nvPr/>
        </p:nvSpPr>
        <p:spPr>
          <a:xfrm>
            <a:off x="868680" y="1975104"/>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093976"/>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5.9</a:t>
            </a:r>
          </a:p>
        </p:txBody>
      </p:sp>
      <p:sp>
        <p:nvSpPr>
          <p:cNvPr id="14" name="TextBox 13"/>
          <p:cNvSpPr txBox="1"/>
          <p:nvPr/>
        </p:nvSpPr>
        <p:spPr>
          <a:xfrm>
            <a:off x="1737360" y="2066544"/>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퇴직 취소</a:t>
            </a:r>
          </a:p>
        </p:txBody>
      </p:sp>
      <p:sp>
        <p:nvSpPr>
          <p:cNvPr id="15" name="TextBox 14"/>
          <p:cNvSpPr txBox="1"/>
          <p:nvPr/>
        </p:nvSpPr>
        <p:spPr>
          <a:xfrm>
            <a:off x="4572000" y="2093976"/>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잘못 누른 퇴직을 되돌린다 (데이터 그대로)</a:t>
            </a:r>
          </a:p>
        </p:txBody>
      </p:sp>
      <p:sp>
        <p:nvSpPr>
          <p:cNvPr id="16" name="TextBox 15"/>
          <p:cNvSpPr txBox="1"/>
          <p:nvPr/>
        </p:nvSpPr>
        <p:spPr>
          <a:xfrm>
            <a:off x="10607040" y="2103120"/>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7" name="Rounded Rectangle 16"/>
          <p:cNvSpPr/>
          <p:nvPr/>
        </p:nvSpPr>
        <p:spPr>
          <a:xfrm>
            <a:off x="868680" y="2487168"/>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260604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5.10</a:t>
            </a:r>
          </a:p>
        </p:txBody>
      </p:sp>
      <p:sp>
        <p:nvSpPr>
          <p:cNvPr id="19" name="TextBox 18"/>
          <p:cNvSpPr txBox="1"/>
          <p:nvPr/>
        </p:nvSpPr>
        <p:spPr>
          <a:xfrm>
            <a:off x="1737360" y="257860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데이터 파기</a:t>
            </a:r>
          </a:p>
        </p:txBody>
      </p:sp>
      <p:sp>
        <p:nvSpPr>
          <p:cNvPr id="20" name="TextBox 19"/>
          <p:cNvSpPr txBox="1"/>
          <p:nvPr/>
        </p:nvSpPr>
        <p:spPr>
          <a:xfrm>
            <a:off x="4572000" y="260604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행은 남기고 이름 · 이메일 · 사유 본문을 지운다 (익명화)</a:t>
            </a:r>
          </a:p>
        </p:txBody>
      </p:sp>
      <p:sp>
        <p:nvSpPr>
          <p:cNvPr id="21" name="TextBox 20"/>
          <p:cNvSpPr txBox="1"/>
          <p:nvPr/>
        </p:nvSpPr>
        <p:spPr>
          <a:xfrm>
            <a:off x="10607040" y="261518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2" name="Rounded Rectangle 21"/>
          <p:cNvSpPr/>
          <p:nvPr/>
        </p:nvSpPr>
        <p:spPr>
          <a:xfrm>
            <a:off x="868680" y="2999232"/>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 y="3118104"/>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5.11</a:t>
            </a:r>
          </a:p>
        </p:txBody>
      </p:sp>
      <p:sp>
        <p:nvSpPr>
          <p:cNvPr id="24" name="TextBox 23"/>
          <p:cNvSpPr txBox="1"/>
          <p:nvPr/>
        </p:nvSpPr>
        <p:spPr>
          <a:xfrm>
            <a:off x="1737360" y="3090672"/>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파기 보류</a:t>
            </a:r>
          </a:p>
        </p:txBody>
      </p:sp>
      <p:sp>
        <p:nvSpPr>
          <p:cNvPr id="25" name="TextBox 24"/>
          <p:cNvSpPr txBox="1"/>
          <p:nvPr/>
        </p:nvSpPr>
        <p:spPr>
          <a:xfrm>
            <a:off x="4572000" y="3118104"/>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감사 · 분쟁 중인 사원을 파기 대상에서 제외</a:t>
            </a:r>
          </a:p>
        </p:txBody>
      </p:sp>
      <p:sp>
        <p:nvSpPr>
          <p:cNvPr id="26" name="TextBox 25"/>
          <p:cNvSpPr txBox="1"/>
          <p:nvPr/>
        </p:nvSpPr>
        <p:spPr>
          <a:xfrm>
            <a:off x="10607040" y="3127248"/>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7" name="Rounded Rectangle 26"/>
          <p:cNvSpPr/>
          <p:nvPr/>
        </p:nvSpPr>
        <p:spPr>
          <a:xfrm>
            <a:off x="868680" y="3511296"/>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363016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5.12</a:t>
            </a:r>
          </a:p>
        </p:txBody>
      </p:sp>
      <p:sp>
        <p:nvSpPr>
          <p:cNvPr id="29" name="TextBox 28"/>
          <p:cNvSpPr txBox="1"/>
          <p:nvPr/>
        </p:nvSpPr>
        <p:spPr>
          <a:xfrm>
            <a:off x="1737360" y="360273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자동 파기 모드</a:t>
            </a:r>
          </a:p>
        </p:txBody>
      </p:sp>
      <p:sp>
        <p:nvSpPr>
          <p:cNvPr id="30" name="TextBox 29"/>
          <p:cNvSpPr txBox="1"/>
          <p:nvPr/>
        </p:nvSpPr>
        <p:spPr>
          <a:xfrm>
            <a:off x="4572000" y="363016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퇴직 3년 경과 → 30일 예고 메일 → 자동 파기</a:t>
            </a:r>
          </a:p>
        </p:txBody>
      </p:sp>
      <p:sp>
        <p:nvSpPr>
          <p:cNvPr id="31" name="TextBox 30"/>
          <p:cNvSpPr txBox="1"/>
          <p:nvPr/>
        </p:nvSpPr>
        <p:spPr>
          <a:xfrm>
            <a:off x="10607040" y="363931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2" name="Rounded Rectangle 31"/>
          <p:cNvSpPr/>
          <p:nvPr/>
        </p:nvSpPr>
        <p:spPr>
          <a:xfrm>
            <a:off x="868680" y="4023360"/>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4" y="414223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5.13</a:t>
            </a:r>
          </a:p>
        </p:txBody>
      </p:sp>
      <p:sp>
        <p:nvSpPr>
          <p:cNvPr id="34" name="TextBox 33"/>
          <p:cNvSpPr txBox="1"/>
          <p:nvPr/>
        </p:nvSpPr>
        <p:spPr>
          <a:xfrm>
            <a:off x="1737360" y="411480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재입사</a:t>
            </a:r>
          </a:p>
        </p:txBody>
      </p:sp>
      <p:sp>
        <p:nvSpPr>
          <p:cNvPr id="35" name="TextBox 34"/>
          <p:cNvSpPr txBox="1"/>
          <p:nvPr/>
        </p:nvSpPr>
        <p:spPr>
          <a:xfrm>
            <a:off x="4572000" y="414223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이전 근속을 구간으로 보존하고 연차는 새로 시작</a:t>
            </a:r>
          </a:p>
        </p:txBody>
      </p:sp>
      <p:sp>
        <p:nvSpPr>
          <p:cNvPr id="36" name="TextBox 35"/>
          <p:cNvSpPr txBox="1"/>
          <p:nvPr/>
        </p:nvSpPr>
        <p:spPr>
          <a:xfrm>
            <a:off x="10607040" y="415137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7" name="Rectangle 36"/>
          <p:cNvSpPr/>
          <p:nvPr/>
        </p:nvSpPr>
        <p:spPr>
          <a:xfrm>
            <a:off x="868680" y="4892040"/>
            <a:ext cx="45720" cy="914400"/>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 y="4892040"/>
            <a:ext cx="10469880" cy="91440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43000" y="5038344"/>
            <a:ext cx="9966960" cy="64008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파기는 행 삭제가 아니라 익명화입니다. 통계와 감사 로그가 무너지지 않게 뼈대는 남기고 개인을 특정할 수 있는 값만 제거합니다 — 이름은 퇴직사원#123, 이메일은 무효 주소로 바뀌고 자유 텍스트는 비웁니다.</a:t>
            </a:r>
          </a:p>
        </p:txBody>
      </p:sp>
      <p:sp>
        <p:nvSpPr>
          <p:cNvPr id="40" name="TextBox 39"/>
          <p:cNvSpPr txBox="1"/>
          <p:nvPr/>
        </p:nvSpPr>
        <p:spPr>
          <a:xfrm>
            <a:off x="868680" y="603504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User.purge() · RetireePurgeService · docs/설계-초안/퇴직자-데이터-파기-설계</a:t>
            </a:r>
          </a:p>
        </p:txBody>
      </p:sp>
      <p:sp>
        <p:nvSpPr>
          <p:cNvPr id="41" name="TextBox 40"/>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WBS 6 — POLICY</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6. 정책 · 시스템 설정</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API 5</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417320"/>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53619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6.1</a:t>
            </a:r>
          </a:p>
        </p:txBody>
      </p:sp>
      <p:sp>
        <p:nvSpPr>
          <p:cNvPr id="9" name="TextBox 8"/>
          <p:cNvSpPr txBox="1"/>
          <p:nvPr/>
        </p:nvSpPr>
        <p:spPr>
          <a:xfrm>
            <a:off x="1737360" y="150876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연차 정책 표</a:t>
            </a:r>
          </a:p>
        </p:txBody>
      </p:sp>
      <p:sp>
        <p:nvSpPr>
          <p:cNvPr id="10" name="TextBox 9"/>
          <p:cNvSpPr txBox="1"/>
          <p:nvPr/>
        </p:nvSpPr>
        <p:spPr>
          <a:xfrm>
            <a:off x="4572000" y="153619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근속 연수 구간별 부여 일수 — 관리자가 수정</a:t>
            </a:r>
          </a:p>
        </p:txBody>
      </p:sp>
      <p:sp>
        <p:nvSpPr>
          <p:cNvPr id="11" name="TextBox 10"/>
          <p:cNvSpPr txBox="1"/>
          <p:nvPr/>
        </p:nvSpPr>
        <p:spPr>
          <a:xfrm>
            <a:off x="10607040" y="154533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2" name="Rounded Rectangle 11"/>
          <p:cNvSpPr/>
          <p:nvPr/>
        </p:nvSpPr>
        <p:spPr>
          <a:xfrm>
            <a:off x="868680" y="1938528"/>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05740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6.2</a:t>
            </a:r>
          </a:p>
        </p:txBody>
      </p:sp>
      <p:sp>
        <p:nvSpPr>
          <p:cNvPr id="14" name="TextBox 13"/>
          <p:cNvSpPr txBox="1"/>
          <p:nvPr/>
        </p:nvSpPr>
        <p:spPr>
          <a:xfrm>
            <a:off x="1737360" y="202996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시스템 설정 12키</a:t>
            </a:r>
          </a:p>
        </p:txBody>
      </p:sp>
      <p:sp>
        <p:nvSpPr>
          <p:cNvPr id="15" name="TextBox 14"/>
          <p:cNvSpPr txBox="1"/>
          <p:nvPr/>
        </p:nvSpPr>
        <p:spPr>
          <a:xfrm>
            <a:off x="4572000" y="205740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동작을 바꾸는 값들을 화면에서 조정</a:t>
            </a:r>
          </a:p>
        </p:txBody>
      </p:sp>
      <p:sp>
        <p:nvSpPr>
          <p:cNvPr id="16" name="TextBox 15"/>
          <p:cNvSpPr txBox="1"/>
          <p:nvPr/>
        </p:nvSpPr>
        <p:spPr>
          <a:xfrm>
            <a:off x="10607040" y="206654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7" name="TextBox 16"/>
          <p:cNvSpPr txBox="1"/>
          <p:nvPr/>
        </p:nvSpPr>
        <p:spPr>
          <a:xfrm>
            <a:off x="868680" y="2606040"/>
            <a:ext cx="10515600" cy="274320"/>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설정 12개 (2026-09-10 · PolicyConfigKey enum 기준)</a:t>
            </a:r>
          </a:p>
        </p:txBody>
      </p:sp>
      <p:sp>
        <p:nvSpPr>
          <p:cNvPr id="18" name="Rounded Rectangle 17"/>
          <p:cNvSpPr/>
          <p:nvPr/>
        </p:nvSpPr>
        <p:spPr>
          <a:xfrm>
            <a:off x="868680" y="2971800"/>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072384"/>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연차 당겨쓰기 허용</a:t>
            </a:r>
          </a:p>
        </p:txBody>
      </p:sp>
      <p:sp>
        <p:nvSpPr>
          <p:cNvPr id="20" name="TextBox 19"/>
          <p:cNvSpPr txBox="1"/>
          <p:nvPr/>
        </p:nvSpPr>
        <p:spPr>
          <a:xfrm>
            <a:off x="3520440" y="3090672"/>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끄면 잔여 부족 시 신청 자체가 거절</a:t>
            </a:r>
          </a:p>
        </p:txBody>
      </p:sp>
      <p:sp>
        <p:nvSpPr>
          <p:cNvPr id="21" name="Rounded Rectangle 20"/>
          <p:cNvSpPr/>
          <p:nvPr/>
        </p:nvSpPr>
        <p:spPr>
          <a:xfrm>
            <a:off x="6172200" y="2971800"/>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3072384"/>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당겨쓰기 상한</a:t>
            </a:r>
          </a:p>
        </p:txBody>
      </p:sp>
      <p:sp>
        <p:nvSpPr>
          <p:cNvPr id="23" name="TextBox 22"/>
          <p:cNvSpPr txBox="1"/>
          <p:nvPr/>
        </p:nvSpPr>
        <p:spPr>
          <a:xfrm>
            <a:off x="8823960" y="3090672"/>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기본 5일 · 최대 25일</a:t>
            </a:r>
          </a:p>
        </p:txBody>
      </p:sp>
      <p:sp>
        <p:nvSpPr>
          <p:cNvPr id="24" name="Rounded Rectangle 23"/>
          <p:cNvSpPr/>
          <p:nvPr/>
        </p:nvSpPr>
        <p:spPr>
          <a:xfrm>
            <a:off x="868680" y="3456432"/>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557016"/>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신청 1건당 날짜 수</a:t>
            </a:r>
          </a:p>
        </p:txBody>
      </p:sp>
      <p:sp>
        <p:nvSpPr>
          <p:cNvPr id="26" name="TextBox 25"/>
          <p:cNvSpPr txBox="1"/>
          <p:nvPr/>
        </p:nvSpPr>
        <p:spPr>
          <a:xfrm>
            <a:off x="3520440" y="3575304"/>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기본 30일</a:t>
            </a:r>
          </a:p>
        </p:txBody>
      </p:sp>
      <p:sp>
        <p:nvSpPr>
          <p:cNvPr id="27" name="Rounded Rectangle 26"/>
          <p:cNvSpPr/>
          <p:nvPr/>
        </p:nvSpPr>
        <p:spPr>
          <a:xfrm>
            <a:off x="6172200" y="3456432"/>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36792" y="3557016"/>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다음 회차 예약 허용</a:t>
            </a:r>
          </a:p>
        </p:txBody>
      </p:sp>
      <p:sp>
        <p:nvSpPr>
          <p:cNvPr id="29" name="TextBox 28"/>
          <p:cNvSpPr txBox="1"/>
          <p:nvPr/>
        </p:nvSpPr>
        <p:spPr>
          <a:xfrm>
            <a:off x="8823960" y="3575304"/>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기본 켜짐 · 끄면 현재 회차만</a:t>
            </a:r>
          </a:p>
        </p:txBody>
      </p:sp>
      <p:sp>
        <p:nvSpPr>
          <p:cNvPr id="30" name="Rounded Rectangle 29"/>
          <p:cNvSpPr/>
          <p:nvPr/>
        </p:nvSpPr>
        <p:spPr>
          <a:xfrm>
            <a:off x="868680" y="3941064"/>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3272" y="4041648"/>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보너스 연차 이월</a:t>
            </a:r>
          </a:p>
        </p:txBody>
      </p:sp>
      <p:sp>
        <p:nvSpPr>
          <p:cNvPr id="32" name="TextBox 31"/>
          <p:cNvSpPr txBox="1"/>
          <p:nvPr/>
        </p:nvSpPr>
        <p:spPr>
          <a:xfrm>
            <a:off x="3520440" y="4059936"/>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기본 꺼짐</a:t>
            </a:r>
          </a:p>
        </p:txBody>
      </p:sp>
      <p:sp>
        <p:nvSpPr>
          <p:cNvPr id="33" name="Rounded Rectangle 32"/>
          <p:cNvSpPr/>
          <p:nvPr/>
        </p:nvSpPr>
        <p:spPr>
          <a:xfrm>
            <a:off x="6172200" y="3941064"/>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36792" y="4041648"/>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월차 적립 상한</a:t>
            </a:r>
          </a:p>
        </p:txBody>
      </p:sp>
      <p:sp>
        <p:nvSpPr>
          <p:cNvPr id="35" name="TextBox 34"/>
          <p:cNvSpPr txBox="1"/>
          <p:nvPr/>
        </p:nvSpPr>
        <p:spPr>
          <a:xfrm>
            <a:off x="8823960" y="4059936"/>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1년 미만 사원 · 기본 11일</a:t>
            </a:r>
          </a:p>
        </p:txBody>
      </p:sp>
      <p:sp>
        <p:nvSpPr>
          <p:cNvPr id="36" name="Rounded Rectangle 35"/>
          <p:cNvSpPr/>
          <p:nvPr/>
        </p:nvSpPr>
        <p:spPr>
          <a:xfrm>
            <a:off x="868680" y="4425696"/>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3272" y="4526280"/>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온보딩 자동 승인 기간</a:t>
            </a:r>
          </a:p>
        </p:txBody>
      </p:sp>
      <p:sp>
        <p:nvSpPr>
          <p:cNvPr id="38" name="TextBox 37"/>
          <p:cNvSpPr txBox="1"/>
          <p:nvPr/>
        </p:nvSpPr>
        <p:spPr>
          <a:xfrm>
            <a:off x="3520440" y="4544568"/>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기본 90일 · 밖이면 관리자 승인</a:t>
            </a:r>
          </a:p>
        </p:txBody>
      </p:sp>
      <p:sp>
        <p:nvSpPr>
          <p:cNvPr id="39" name="Rounded Rectangle 38"/>
          <p:cNvSpPr/>
          <p:nvPr/>
        </p:nvSpPr>
        <p:spPr>
          <a:xfrm>
            <a:off x="6172200" y="4425696"/>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36792" y="4526280"/>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대기 중 입사일 수정</a:t>
            </a:r>
          </a:p>
        </p:txBody>
      </p:sp>
      <p:sp>
        <p:nvSpPr>
          <p:cNvPr id="41" name="TextBox 40"/>
          <p:cNvSpPr txBox="1"/>
          <p:nvPr/>
        </p:nvSpPr>
        <p:spPr>
          <a:xfrm>
            <a:off x="8823960" y="4544568"/>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기본 켜짐 · 1회 한정</a:t>
            </a:r>
          </a:p>
        </p:txBody>
      </p:sp>
      <p:sp>
        <p:nvSpPr>
          <p:cNvPr id="42" name="Rounded Rectangle 41"/>
          <p:cNvSpPr/>
          <p:nvPr/>
        </p:nvSpPr>
        <p:spPr>
          <a:xfrm>
            <a:off x="868680" y="4910328"/>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 y="5010912"/>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소진 안내 기준일</a:t>
            </a:r>
          </a:p>
        </p:txBody>
      </p:sp>
      <p:sp>
        <p:nvSpPr>
          <p:cNvPr id="44" name="TextBox 43"/>
          <p:cNvSpPr txBox="1"/>
          <p:nvPr/>
        </p:nvSpPr>
        <p:spPr>
          <a:xfrm>
            <a:off x="3520440" y="5029200"/>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안내 대상 판정 기준 · 기본 30일</a:t>
            </a:r>
          </a:p>
        </p:txBody>
      </p:sp>
      <p:sp>
        <p:nvSpPr>
          <p:cNvPr id="45" name="Rounded Rectangle 44"/>
          <p:cNvSpPr/>
          <p:nvPr/>
        </p:nvSpPr>
        <p:spPr>
          <a:xfrm>
            <a:off x="6172200" y="4910328"/>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36792" y="5010912"/>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자동 발송 주기</a:t>
            </a:r>
          </a:p>
        </p:txBody>
      </p:sp>
      <p:sp>
        <p:nvSpPr>
          <p:cNvPr id="47" name="TextBox 46"/>
          <p:cNvSpPr txBox="1"/>
          <p:nvPr/>
        </p:nvSpPr>
        <p:spPr>
          <a:xfrm>
            <a:off x="8823960" y="5029200"/>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NONE / D30 / D60 / D90 / QUARTER</a:t>
            </a:r>
          </a:p>
        </p:txBody>
      </p:sp>
      <p:sp>
        <p:nvSpPr>
          <p:cNvPr id="48" name="Rounded Rectangle 47"/>
          <p:cNvSpPr/>
          <p:nvPr/>
        </p:nvSpPr>
        <p:spPr>
          <a:xfrm>
            <a:off x="868680" y="5394960"/>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33272" y="5495544"/>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퇴직자 파기 모드</a:t>
            </a:r>
          </a:p>
        </p:txBody>
      </p:sp>
      <p:sp>
        <p:nvSpPr>
          <p:cNvPr id="50" name="TextBox 49"/>
          <p:cNvSpPr txBox="1"/>
          <p:nvPr/>
        </p:nvSpPr>
        <p:spPr>
          <a:xfrm>
            <a:off x="3520440" y="5513832"/>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MANUAL(기본) / AUTO</a:t>
            </a:r>
          </a:p>
        </p:txBody>
      </p:sp>
      <p:sp>
        <p:nvSpPr>
          <p:cNvPr id="51" name="Rounded Rectangle 50"/>
          <p:cNvSpPr/>
          <p:nvPr/>
        </p:nvSpPr>
        <p:spPr>
          <a:xfrm>
            <a:off x="6172200" y="5394960"/>
            <a:ext cx="5120640" cy="420624"/>
          </a:xfrm>
          <a:prstGeom prst="roundRect">
            <a:avLst>
              <a:gd name="adj" fmla="val 6000"/>
            </a:avLst>
          </a:prstGeom>
          <a:solidFill>
            <a:srgbClr val="121B2B"/>
          </a:solidFill>
          <a:ln w="635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36792" y="5495544"/>
            <a:ext cx="2377440" cy="256032"/>
          </a:xfrm>
          <a:prstGeom prst="rect">
            <a:avLst/>
          </a:prstGeom>
          <a:noFill/>
        </p:spPr>
        <p:txBody>
          <a:bodyPr wrap="square" anchor="t" lIns="0" rIns="0" tIns="0" bIns="0">
            <a:spAutoFit/>
          </a:bodyPr>
          <a:lstStyle/>
          <a:p>
            <a:pPr algn="l">
              <a:lnSpc>
                <a:spcPct val="125000"/>
              </a:lnSpc>
            </a:pPr>
            <a:r>
              <a:rPr sz="1100" b="1">
                <a:solidFill>
                  <a:srgbClr val="E8EEFA"/>
                </a:solidFill>
                <a:latin typeface="맑은 고딕"/>
              </a:rPr>
              <a:t>퇴직자 보존 기간</a:t>
            </a:r>
          </a:p>
        </p:txBody>
      </p:sp>
      <p:sp>
        <p:nvSpPr>
          <p:cNvPr id="53" name="TextBox 52"/>
          <p:cNvSpPr txBox="1"/>
          <p:nvPr/>
        </p:nvSpPr>
        <p:spPr>
          <a:xfrm>
            <a:off x="8823960" y="5513832"/>
            <a:ext cx="2331720" cy="237744"/>
          </a:xfrm>
          <a:prstGeom prst="rect">
            <a:avLst/>
          </a:prstGeom>
          <a:noFill/>
        </p:spPr>
        <p:txBody>
          <a:bodyPr wrap="square" anchor="t" lIns="0" rIns="0" tIns="0" bIns="0">
            <a:spAutoFit/>
          </a:bodyPr>
          <a:lstStyle/>
          <a:p>
            <a:pPr algn="l">
              <a:lnSpc>
                <a:spcPct val="125000"/>
              </a:lnSpc>
            </a:pPr>
            <a:r>
              <a:rPr sz="950" b="0">
                <a:solidFill>
                  <a:srgbClr val="9AABC4"/>
                </a:solidFill>
                <a:latin typeface="맑은 고딕"/>
              </a:rPr>
              <a:t>기본 3년 · 3~10년 (근로기준법 기준)</a:t>
            </a:r>
          </a:p>
        </p:txBody>
      </p:sp>
      <p:sp>
        <p:nvSpPr>
          <p:cNvPr id="54" name="TextBox 53"/>
          <p:cNvSpPr txBox="1"/>
          <p:nvPr/>
        </p:nvSpPr>
        <p:spPr>
          <a:xfrm>
            <a:off x="868680" y="598932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PolicyConfigKey enum 한 곳이 키·타입·기본값·범위·라벨을 정의 — 상수 한 줄이면 관리자 화면까지 따라온다</a:t>
            </a:r>
          </a:p>
        </p:txBody>
      </p:sp>
      <p:sp>
        <p:nvSpPr>
          <p:cNvPr id="55" name="TextBox 54"/>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WBS 7 — EMAIL</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7. 이메일 · 외부 연동</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API 13</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463040"/>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58191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7.1</a:t>
            </a:r>
          </a:p>
        </p:txBody>
      </p:sp>
      <p:sp>
        <p:nvSpPr>
          <p:cNvPr id="9" name="TextBox 8"/>
          <p:cNvSpPr txBox="1"/>
          <p:nvPr/>
        </p:nvSpPr>
        <p:spPr>
          <a:xfrm>
            <a:off x="1737360" y="155448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건별 알림</a:t>
            </a:r>
          </a:p>
        </p:txBody>
      </p:sp>
      <p:sp>
        <p:nvSpPr>
          <p:cNvPr id="10" name="TextBox 9"/>
          <p:cNvSpPr txBox="1"/>
          <p:nvPr/>
        </p:nvSpPr>
        <p:spPr>
          <a:xfrm>
            <a:off x="4572000" y="158191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신청 접수 · 결재 결과 · 소진 안내 · 파기 예고</a:t>
            </a:r>
          </a:p>
        </p:txBody>
      </p:sp>
      <p:sp>
        <p:nvSpPr>
          <p:cNvPr id="11" name="TextBox 10"/>
          <p:cNvSpPr txBox="1"/>
          <p:nvPr/>
        </p:nvSpPr>
        <p:spPr>
          <a:xfrm>
            <a:off x="10607040" y="159105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2" name="Rounded Rectangle 11"/>
          <p:cNvSpPr/>
          <p:nvPr/>
        </p:nvSpPr>
        <p:spPr>
          <a:xfrm>
            <a:off x="868680" y="1975104"/>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093976"/>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7.2</a:t>
            </a:r>
          </a:p>
        </p:txBody>
      </p:sp>
      <p:sp>
        <p:nvSpPr>
          <p:cNvPr id="14" name="TextBox 13"/>
          <p:cNvSpPr txBox="1"/>
          <p:nvPr/>
        </p:nvSpPr>
        <p:spPr>
          <a:xfrm>
            <a:off x="1737360" y="2066544"/>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발송 큐</a:t>
            </a:r>
          </a:p>
        </p:txBody>
      </p:sp>
      <p:sp>
        <p:nvSpPr>
          <p:cNvPr id="15" name="TextBox 14"/>
          <p:cNvSpPr txBox="1"/>
          <p:nvPr/>
        </p:nvSpPr>
        <p:spPr>
          <a:xfrm>
            <a:off x="4572000" y="2093976"/>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실패 자동 재시도 · 서버가 중간에 죽어도 멈춘 건을 되살린다</a:t>
            </a:r>
          </a:p>
        </p:txBody>
      </p:sp>
      <p:sp>
        <p:nvSpPr>
          <p:cNvPr id="16" name="TextBox 15"/>
          <p:cNvSpPr txBox="1"/>
          <p:nvPr/>
        </p:nvSpPr>
        <p:spPr>
          <a:xfrm>
            <a:off x="10607040" y="2103120"/>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7" name="Rounded Rectangle 16"/>
          <p:cNvSpPr/>
          <p:nvPr/>
        </p:nvSpPr>
        <p:spPr>
          <a:xfrm>
            <a:off x="868680" y="2487168"/>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260604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7.3</a:t>
            </a:r>
          </a:p>
        </p:txBody>
      </p:sp>
      <p:sp>
        <p:nvSpPr>
          <p:cNvPr id="19" name="TextBox 18"/>
          <p:cNvSpPr txBox="1"/>
          <p:nvPr/>
        </p:nvSpPr>
        <p:spPr>
          <a:xfrm>
            <a:off x="1737360" y="257860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일괄 발송</a:t>
            </a:r>
          </a:p>
        </p:txBody>
      </p:sp>
      <p:sp>
        <p:nvSpPr>
          <p:cNvPr id="20" name="TextBox 19"/>
          <p:cNvSpPr txBox="1"/>
          <p:nvPr/>
        </p:nvSpPr>
        <p:spPr>
          <a:xfrm>
            <a:off x="4572000" y="260604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대상 목록을 골라 한 번에 · 1회 한도 있음</a:t>
            </a:r>
          </a:p>
        </p:txBody>
      </p:sp>
      <p:sp>
        <p:nvSpPr>
          <p:cNvPr id="21" name="TextBox 20"/>
          <p:cNvSpPr txBox="1"/>
          <p:nvPr/>
        </p:nvSpPr>
        <p:spPr>
          <a:xfrm>
            <a:off x="10607040" y="261518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2" name="Rounded Rectangle 21"/>
          <p:cNvSpPr/>
          <p:nvPr/>
        </p:nvSpPr>
        <p:spPr>
          <a:xfrm>
            <a:off x="868680" y="2999232"/>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 y="3118104"/>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7.4</a:t>
            </a:r>
          </a:p>
        </p:txBody>
      </p:sp>
      <p:sp>
        <p:nvSpPr>
          <p:cNvPr id="24" name="TextBox 23"/>
          <p:cNvSpPr txBox="1"/>
          <p:nvPr/>
        </p:nvSpPr>
        <p:spPr>
          <a:xfrm>
            <a:off x="1737360" y="3090672"/>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양식 관리</a:t>
            </a:r>
          </a:p>
        </p:txBody>
      </p:sp>
      <p:sp>
        <p:nvSpPr>
          <p:cNvPr id="25" name="TextBox 24"/>
          <p:cNvSpPr txBox="1"/>
          <p:nvPr/>
        </p:nvSpPr>
        <p:spPr>
          <a:xfrm>
            <a:off x="4572000" y="3118104"/>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제목 · 본문 편집 + 치환 변수 미리보기</a:t>
            </a:r>
          </a:p>
        </p:txBody>
      </p:sp>
      <p:sp>
        <p:nvSpPr>
          <p:cNvPr id="26" name="TextBox 25"/>
          <p:cNvSpPr txBox="1"/>
          <p:nvPr/>
        </p:nvSpPr>
        <p:spPr>
          <a:xfrm>
            <a:off x="10607040" y="3127248"/>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7" name="Rounded Rectangle 26"/>
          <p:cNvSpPr/>
          <p:nvPr/>
        </p:nvSpPr>
        <p:spPr>
          <a:xfrm>
            <a:off x="868680" y="3511296"/>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363016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7.5</a:t>
            </a:r>
          </a:p>
        </p:txBody>
      </p:sp>
      <p:sp>
        <p:nvSpPr>
          <p:cNvPr id="29" name="TextBox 28"/>
          <p:cNvSpPr txBox="1"/>
          <p:nvPr/>
        </p:nvSpPr>
        <p:spPr>
          <a:xfrm>
            <a:off x="1737360" y="360273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발송 이력</a:t>
            </a:r>
          </a:p>
        </p:txBody>
      </p:sp>
      <p:sp>
        <p:nvSpPr>
          <p:cNvPr id="30" name="TextBox 29"/>
          <p:cNvSpPr txBox="1"/>
          <p:nvPr/>
        </p:nvSpPr>
        <p:spPr>
          <a:xfrm>
            <a:off x="4572000" y="363016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상태 · 실패 사유 · 실패 건만 재발송</a:t>
            </a:r>
          </a:p>
        </p:txBody>
      </p:sp>
      <p:sp>
        <p:nvSpPr>
          <p:cNvPr id="31" name="TextBox 30"/>
          <p:cNvSpPr txBox="1"/>
          <p:nvPr/>
        </p:nvSpPr>
        <p:spPr>
          <a:xfrm>
            <a:off x="10607040" y="363931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2" name="Rounded Rectangle 31"/>
          <p:cNvSpPr/>
          <p:nvPr/>
        </p:nvSpPr>
        <p:spPr>
          <a:xfrm>
            <a:off x="868680" y="4023360"/>
            <a:ext cx="10515600" cy="457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4" y="414223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7.6</a:t>
            </a:r>
          </a:p>
        </p:txBody>
      </p:sp>
      <p:sp>
        <p:nvSpPr>
          <p:cNvPr id="34" name="TextBox 33"/>
          <p:cNvSpPr txBox="1"/>
          <p:nvPr/>
        </p:nvSpPr>
        <p:spPr>
          <a:xfrm>
            <a:off x="1737360" y="411480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외부 연동</a:t>
            </a:r>
          </a:p>
        </p:txBody>
      </p:sp>
      <p:sp>
        <p:nvSpPr>
          <p:cNvPr id="35" name="TextBox 34"/>
          <p:cNvSpPr txBox="1"/>
          <p:nvPr/>
        </p:nvSpPr>
        <p:spPr>
          <a:xfrm>
            <a:off x="4572000" y="414223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메일 SMTP · 공휴일 API 키 등록, 연결 테스트</a:t>
            </a:r>
          </a:p>
        </p:txBody>
      </p:sp>
      <p:sp>
        <p:nvSpPr>
          <p:cNvPr id="36" name="TextBox 35"/>
          <p:cNvSpPr txBox="1"/>
          <p:nvPr/>
        </p:nvSpPr>
        <p:spPr>
          <a:xfrm>
            <a:off x="10607040" y="415137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7" name="Rectangle 36"/>
          <p:cNvSpPr/>
          <p:nvPr/>
        </p:nvSpPr>
        <p:spPr>
          <a:xfrm>
            <a:off x="868680" y="4892040"/>
            <a:ext cx="45720" cy="914400"/>
          </a:xfrm>
          <a:prstGeom prst="rect">
            <a:avLst/>
          </a:prstGeom>
          <a:solidFill>
            <a:srgbClr val="EDB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 y="4892040"/>
            <a:ext cx="10469880" cy="91440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43000" y="5038344"/>
            <a:ext cx="9966960" cy="64008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자격 증명은 저장만 되고 절대 다시 내려오지 않습니다 — 조회 응답에는 마스킹된 값만 담습니다. 관리자 화면을 여는 것만으로 앱 비밀번호가 새는 경로를 처음부터 만들지 않기 위해서입니다.</a:t>
            </a:r>
          </a:p>
        </p:txBody>
      </p:sp>
      <p:sp>
        <p:nvSpPr>
          <p:cNvPr id="40" name="TextBox 39"/>
          <p:cNvSpPr txBox="1"/>
          <p:nvPr/>
        </p:nvSpPr>
        <p:spPr>
          <a:xfrm>
            <a:off x="868680" y="603504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domain/email · domain/credential  |  전부 SYSTEM_ADMIN 전용</a:t>
            </a:r>
          </a:p>
        </p:txBody>
      </p:sp>
      <p:sp>
        <p:nvSpPr>
          <p:cNvPr id="41" name="TextBox 40"/>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WBS 8 — SCHEDULER</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8. 자동화 — 매일 00:10에 도는 5개 잡</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잡 6</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463040"/>
            <a:ext cx="1975104" cy="1600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2" y="1591056"/>
            <a:ext cx="1645920" cy="274320"/>
          </a:xfrm>
          <a:prstGeom prst="rect">
            <a:avLst/>
          </a:prstGeom>
          <a:noFill/>
        </p:spPr>
        <p:txBody>
          <a:bodyPr wrap="square" anchor="t" lIns="0" rIns="0" tIns="0" bIns="0">
            <a:spAutoFit/>
          </a:bodyPr>
          <a:lstStyle/>
          <a:p>
            <a:pPr algn="l">
              <a:lnSpc>
                <a:spcPct val="125000"/>
              </a:lnSpc>
            </a:pPr>
            <a:r>
              <a:rPr sz="1500" b="1">
                <a:solidFill>
                  <a:srgbClr val="4FB8E8"/>
                </a:solidFill>
                <a:latin typeface="맑은 고딕"/>
              </a:rPr>
              <a:t>①</a:t>
            </a:r>
          </a:p>
        </p:txBody>
      </p:sp>
      <p:sp>
        <p:nvSpPr>
          <p:cNvPr id="9" name="TextBox 8"/>
          <p:cNvSpPr txBox="1"/>
          <p:nvPr/>
        </p:nvSpPr>
        <p:spPr>
          <a:xfrm>
            <a:off x="1033272" y="1901952"/>
            <a:ext cx="1691640" cy="292608"/>
          </a:xfrm>
          <a:prstGeom prst="rect">
            <a:avLst/>
          </a:prstGeom>
          <a:noFill/>
        </p:spPr>
        <p:txBody>
          <a:bodyPr wrap="square" anchor="t" lIns="0" rIns="0" tIns="0" bIns="0">
            <a:spAutoFit/>
          </a:bodyPr>
          <a:lstStyle/>
          <a:p>
            <a:pPr algn="l">
              <a:lnSpc>
                <a:spcPct val="125000"/>
              </a:lnSpc>
            </a:pPr>
            <a:r>
              <a:rPr sz="1250" b="1">
                <a:solidFill>
                  <a:srgbClr val="E8EEFA"/>
                </a:solidFill>
                <a:latin typeface="맑은 고딕"/>
              </a:rPr>
              <a:t>기산일 리셋</a:t>
            </a:r>
          </a:p>
        </p:txBody>
      </p:sp>
      <p:sp>
        <p:nvSpPr>
          <p:cNvPr id="10" name="TextBox 9"/>
          <p:cNvSpPr txBox="1"/>
          <p:nvPr/>
        </p:nvSpPr>
        <p:spPr>
          <a:xfrm>
            <a:off x="1033272" y="2240280"/>
            <a:ext cx="1691640" cy="731520"/>
          </a:xfrm>
          <a:prstGeom prst="rect">
            <a:avLst/>
          </a:prstGeom>
          <a:noFill/>
        </p:spPr>
        <p:txBody>
          <a:bodyPr wrap="square" anchor="t" lIns="0" rIns="0" tIns="0" bIns="0">
            <a:spAutoFit/>
          </a:bodyPr>
          <a:lstStyle/>
          <a:p>
            <a:pPr algn="l">
              <a:lnSpc>
                <a:spcPct val="130000"/>
              </a:lnSpc>
            </a:pPr>
            <a:r>
              <a:rPr sz="950" b="0">
                <a:solidFill>
                  <a:srgbClr val="9AABC4"/>
                </a:solidFill>
                <a:latin typeface="맑은 고딕"/>
              </a:rPr>
              <a:t>1주년마다 연차 재부여</a:t>
            </a:r>
          </a:p>
          <a:p>
            <a:pPr algn="l">
              <a:lnSpc>
                <a:spcPct val="130000"/>
              </a:lnSpc>
            </a:pPr>
            <a:r>
              <a:rPr sz="950" b="0">
                <a:solidFill>
                  <a:srgbClr val="9AABC4"/>
                </a:solidFill>
                <a:latin typeface="맑은 고딕"/>
              </a:rPr>
              <a:t>당겨쓴 빚 상환</a:t>
            </a:r>
          </a:p>
        </p:txBody>
      </p:sp>
      <p:sp>
        <p:nvSpPr>
          <p:cNvPr id="11" name="TextBox 10"/>
          <p:cNvSpPr txBox="1"/>
          <p:nvPr/>
        </p:nvSpPr>
        <p:spPr>
          <a:xfrm>
            <a:off x="2852928" y="2103120"/>
            <a:ext cx="146304" cy="274320"/>
          </a:xfrm>
          <a:prstGeom prst="rect">
            <a:avLst/>
          </a:prstGeom>
          <a:noFill/>
        </p:spPr>
        <p:txBody>
          <a:bodyPr wrap="square" anchor="t" lIns="0" rIns="0" tIns="0" bIns="0">
            <a:spAutoFit/>
          </a:bodyPr>
          <a:lstStyle/>
          <a:p>
            <a:pPr algn="ctr">
              <a:lnSpc>
                <a:spcPct val="125000"/>
              </a:lnSpc>
            </a:pPr>
            <a:r>
              <a:rPr sz="1600" b="0">
                <a:solidFill>
                  <a:srgbClr val="6F8099"/>
                </a:solidFill>
                <a:latin typeface="맑은 고딕"/>
              </a:rPr>
              <a:t>›</a:t>
            </a:r>
          </a:p>
        </p:txBody>
      </p:sp>
      <p:sp>
        <p:nvSpPr>
          <p:cNvPr id="12" name="Rounded Rectangle 11"/>
          <p:cNvSpPr/>
          <p:nvPr/>
        </p:nvSpPr>
        <p:spPr>
          <a:xfrm>
            <a:off x="3008376" y="1463040"/>
            <a:ext cx="1975104" cy="1600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2968" y="1591056"/>
            <a:ext cx="1645920" cy="274320"/>
          </a:xfrm>
          <a:prstGeom prst="rect">
            <a:avLst/>
          </a:prstGeom>
          <a:noFill/>
        </p:spPr>
        <p:txBody>
          <a:bodyPr wrap="square" anchor="t" lIns="0" rIns="0" tIns="0" bIns="0">
            <a:spAutoFit/>
          </a:bodyPr>
          <a:lstStyle/>
          <a:p>
            <a:pPr algn="l">
              <a:lnSpc>
                <a:spcPct val="125000"/>
              </a:lnSpc>
            </a:pPr>
            <a:r>
              <a:rPr sz="1500" b="1">
                <a:solidFill>
                  <a:srgbClr val="4FB8E8"/>
                </a:solidFill>
                <a:latin typeface="맑은 고딕"/>
              </a:rPr>
              <a:t>②</a:t>
            </a:r>
          </a:p>
        </p:txBody>
      </p:sp>
      <p:sp>
        <p:nvSpPr>
          <p:cNvPr id="14" name="TextBox 13"/>
          <p:cNvSpPr txBox="1"/>
          <p:nvPr/>
        </p:nvSpPr>
        <p:spPr>
          <a:xfrm>
            <a:off x="3172968" y="1901952"/>
            <a:ext cx="1691640" cy="292608"/>
          </a:xfrm>
          <a:prstGeom prst="rect">
            <a:avLst/>
          </a:prstGeom>
          <a:noFill/>
        </p:spPr>
        <p:txBody>
          <a:bodyPr wrap="square" anchor="t" lIns="0" rIns="0" tIns="0" bIns="0">
            <a:spAutoFit/>
          </a:bodyPr>
          <a:lstStyle/>
          <a:p>
            <a:pPr algn="l">
              <a:lnSpc>
                <a:spcPct val="125000"/>
              </a:lnSpc>
            </a:pPr>
            <a:r>
              <a:rPr sz="1250" b="1">
                <a:solidFill>
                  <a:srgbClr val="E8EEFA"/>
                </a:solidFill>
                <a:latin typeface="맑은 고딕"/>
              </a:rPr>
              <a:t>월차 적립</a:t>
            </a:r>
          </a:p>
        </p:txBody>
      </p:sp>
      <p:sp>
        <p:nvSpPr>
          <p:cNvPr id="15" name="TextBox 14"/>
          <p:cNvSpPr txBox="1"/>
          <p:nvPr/>
        </p:nvSpPr>
        <p:spPr>
          <a:xfrm>
            <a:off x="3172968" y="2240280"/>
            <a:ext cx="1691640" cy="731520"/>
          </a:xfrm>
          <a:prstGeom prst="rect">
            <a:avLst/>
          </a:prstGeom>
          <a:noFill/>
        </p:spPr>
        <p:txBody>
          <a:bodyPr wrap="square" anchor="t" lIns="0" rIns="0" tIns="0" bIns="0">
            <a:spAutoFit/>
          </a:bodyPr>
          <a:lstStyle/>
          <a:p>
            <a:pPr algn="l">
              <a:lnSpc>
                <a:spcPct val="130000"/>
              </a:lnSpc>
            </a:pPr>
            <a:r>
              <a:rPr sz="950" b="0">
                <a:solidFill>
                  <a:srgbClr val="9AABC4"/>
                </a:solidFill>
                <a:latin typeface="맑은 고딕"/>
              </a:rPr>
              <a:t>1년 미만 사원에게</a:t>
            </a:r>
          </a:p>
          <a:p>
            <a:pPr algn="l">
              <a:lnSpc>
                <a:spcPct val="130000"/>
              </a:lnSpc>
            </a:pPr>
            <a:r>
              <a:rPr sz="950" b="0">
                <a:solidFill>
                  <a:srgbClr val="9AABC4"/>
                </a:solidFill>
                <a:latin typeface="맑은 고딕"/>
              </a:rPr>
              <a:t>입사일+N개월마다 1일</a:t>
            </a:r>
          </a:p>
        </p:txBody>
      </p:sp>
      <p:sp>
        <p:nvSpPr>
          <p:cNvPr id="16" name="TextBox 15"/>
          <p:cNvSpPr txBox="1"/>
          <p:nvPr/>
        </p:nvSpPr>
        <p:spPr>
          <a:xfrm>
            <a:off x="4992624" y="2103120"/>
            <a:ext cx="146304" cy="274320"/>
          </a:xfrm>
          <a:prstGeom prst="rect">
            <a:avLst/>
          </a:prstGeom>
          <a:noFill/>
        </p:spPr>
        <p:txBody>
          <a:bodyPr wrap="square" anchor="t" lIns="0" rIns="0" tIns="0" bIns="0">
            <a:spAutoFit/>
          </a:bodyPr>
          <a:lstStyle/>
          <a:p>
            <a:pPr algn="ctr">
              <a:lnSpc>
                <a:spcPct val="125000"/>
              </a:lnSpc>
            </a:pPr>
            <a:r>
              <a:rPr sz="1600" b="0">
                <a:solidFill>
                  <a:srgbClr val="6F8099"/>
                </a:solidFill>
                <a:latin typeface="맑은 고딕"/>
              </a:rPr>
              <a:t>›</a:t>
            </a:r>
          </a:p>
        </p:txBody>
      </p:sp>
      <p:sp>
        <p:nvSpPr>
          <p:cNvPr id="17" name="Rounded Rectangle 16"/>
          <p:cNvSpPr/>
          <p:nvPr/>
        </p:nvSpPr>
        <p:spPr>
          <a:xfrm>
            <a:off x="5148072" y="1463040"/>
            <a:ext cx="1975104" cy="1600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12664" y="1591056"/>
            <a:ext cx="1645920" cy="274320"/>
          </a:xfrm>
          <a:prstGeom prst="rect">
            <a:avLst/>
          </a:prstGeom>
          <a:noFill/>
        </p:spPr>
        <p:txBody>
          <a:bodyPr wrap="square" anchor="t" lIns="0" rIns="0" tIns="0" bIns="0">
            <a:spAutoFit/>
          </a:bodyPr>
          <a:lstStyle/>
          <a:p>
            <a:pPr algn="l">
              <a:lnSpc>
                <a:spcPct val="125000"/>
              </a:lnSpc>
            </a:pPr>
            <a:r>
              <a:rPr sz="1500" b="1">
                <a:solidFill>
                  <a:srgbClr val="4FB8E8"/>
                </a:solidFill>
                <a:latin typeface="맑은 고딕"/>
              </a:rPr>
              <a:t>③</a:t>
            </a:r>
          </a:p>
        </p:txBody>
      </p:sp>
      <p:sp>
        <p:nvSpPr>
          <p:cNvPr id="19" name="TextBox 18"/>
          <p:cNvSpPr txBox="1"/>
          <p:nvPr/>
        </p:nvSpPr>
        <p:spPr>
          <a:xfrm>
            <a:off x="5312664" y="1901952"/>
            <a:ext cx="1691640" cy="292608"/>
          </a:xfrm>
          <a:prstGeom prst="rect">
            <a:avLst/>
          </a:prstGeom>
          <a:noFill/>
        </p:spPr>
        <p:txBody>
          <a:bodyPr wrap="square" anchor="t" lIns="0" rIns="0" tIns="0" bIns="0">
            <a:spAutoFit/>
          </a:bodyPr>
          <a:lstStyle/>
          <a:p>
            <a:pPr algn="l">
              <a:lnSpc>
                <a:spcPct val="125000"/>
              </a:lnSpc>
            </a:pPr>
            <a:r>
              <a:rPr sz="1250" b="1">
                <a:solidFill>
                  <a:srgbClr val="E8EEFA"/>
                </a:solidFill>
                <a:latin typeface="맑은 고딕"/>
              </a:rPr>
              <a:t>생일 반차</a:t>
            </a:r>
          </a:p>
        </p:txBody>
      </p:sp>
      <p:sp>
        <p:nvSpPr>
          <p:cNvPr id="20" name="TextBox 19"/>
          <p:cNvSpPr txBox="1"/>
          <p:nvPr/>
        </p:nvSpPr>
        <p:spPr>
          <a:xfrm>
            <a:off x="5312664" y="2240280"/>
            <a:ext cx="1691640" cy="731520"/>
          </a:xfrm>
          <a:prstGeom prst="rect">
            <a:avLst/>
          </a:prstGeom>
          <a:noFill/>
        </p:spPr>
        <p:txBody>
          <a:bodyPr wrap="square" anchor="t" lIns="0" rIns="0" tIns="0" bIns="0">
            <a:spAutoFit/>
          </a:bodyPr>
          <a:lstStyle/>
          <a:p>
            <a:pPr algn="l">
              <a:lnSpc>
                <a:spcPct val="130000"/>
              </a:lnSpc>
            </a:pPr>
            <a:r>
              <a:rPr sz="950" b="0">
                <a:solidFill>
                  <a:srgbClr val="9AABC4"/>
                </a:solidFill>
                <a:latin typeface="맑은 고딕"/>
              </a:rPr>
              <a:t>생일이면 보너스</a:t>
            </a:r>
          </a:p>
          <a:p>
            <a:pPr algn="l">
              <a:lnSpc>
                <a:spcPct val="130000"/>
              </a:lnSpc>
            </a:pPr>
            <a:r>
              <a:rPr sz="950" b="0">
                <a:solidFill>
                  <a:srgbClr val="9AABC4"/>
                </a:solidFill>
                <a:latin typeface="맑은 고딕"/>
              </a:rPr>
              <a:t>0.5일 가산</a:t>
            </a:r>
          </a:p>
        </p:txBody>
      </p:sp>
      <p:sp>
        <p:nvSpPr>
          <p:cNvPr id="21" name="TextBox 20"/>
          <p:cNvSpPr txBox="1"/>
          <p:nvPr/>
        </p:nvSpPr>
        <p:spPr>
          <a:xfrm>
            <a:off x="7132320" y="2103120"/>
            <a:ext cx="146304" cy="274320"/>
          </a:xfrm>
          <a:prstGeom prst="rect">
            <a:avLst/>
          </a:prstGeom>
          <a:noFill/>
        </p:spPr>
        <p:txBody>
          <a:bodyPr wrap="square" anchor="t" lIns="0" rIns="0" tIns="0" bIns="0">
            <a:spAutoFit/>
          </a:bodyPr>
          <a:lstStyle/>
          <a:p>
            <a:pPr algn="ctr">
              <a:lnSpc>
                <a:spcPct val="125000"/>
              </a:lnSpc>
            </a:pPr>
            <a:r>
              <a:rPr sz="1600" b="0">
                <a:solidFill>
                  <a:srgbClr val="6F8099"/>
                </a:solidFill>
                <a:latin typeface="맑은 고딕"/>
              </a:rPr>
              <a:t>›</a:t>
            </a:r>
          </a:p>
        </p:txBody>
      </p:sp>
      <p:sp>
        <p:nvSpPr>
          <p:cNvPr id="22" name="Rounded Rectangle 21"/>
          <p:cNvSpPr/>
          <p:nvPr/>
        </p:nvSpPr>
        <p:spPr>
          <a:xfrm>
            <a:off x="7287768" y="1463040"/>
            <a:ext cx="1975104" cy="1600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1591056"/>
            <a:ext cx="1645920" cy="274320"/>
          </a:xfrm>
          <a:prstGeom prst="rect">
            <a:avLst/>
          </a:prstGeom>
          <a:noFill/>
        </p:spPr>
        <p:txBody>
          <a:bodyPr wrap="square" anchor="t" lIns="0" rIns="0" tIns="0" bIns="0">
            <a:spAutoFit/>
          </a:bodyPr>
          <a:lstStyle/>
          <a:p>
            <a:pPr algn="l">
              <a:lnSpc>
                <a:spcPct val="125000"/>
              </a:lnSpc>
            </a:pPr>
            <a:r>
              <a:rPr sz="1500" b="1">
                <a:solidFill>
                  <a:srgbClr val="4FB8E8"/>
                </a:solidFill>
                <a:latin typeface="맑은 고딕"/>
              </a:rPr>
              <a:t>④</a:t>
            </a:r>
          </a:p>
        </p:txBody>
      </p:sp>
      <p:sp>
        <p:nvSpPr>
          <p:cNvPr id="24" name="TextBox 23"/>
          <p:cNvSpPr txBox="1"/>
          <p:nvPr/>
        </p:nvSpPr>
        <p:spPr>
          <a:xfrm>
            <a:off x="7452360" y="1901952"/>
            <a:ext cx="1691640" cy="292608"/>
          </a:xfrm>
          <a:prstGeom prst="rect">
            <a:avLst/>
          </a:prstGeom>
          <a:noFill/>
        </p:spPr>
        <p:txBody>
          <a:bodyPr wrap="square" anchor="t" lIns="0" rIns="0" tIns="0" bIns="0">
            <a:spAutoFit/>
          </a:bodyPr>
          <a:lstStyle/>
          <a:p>
            <a:pPr algn="l">
              <a:lnSpc>
                <a:spcPct val="125000"/>
              </a:lnSpc>
            </a:pPr>
            <a:r>
              <a:rPr sz="1250" b="1">
                <a:solidFill>
                  <a:srgbClr val="E8EEFA"/>
                </a:solidFill>
                <a:latin typeface="맑은 고딕"/>
              </a:rPr>
              <a:t>소진 안내</a:t>
            </a:r>
          </a:p>
        </p:txBody>
      </p:sp>
      <p:sp>
        <p:nvSpPr>
          <p:cNvPr id="25" name="TextBox 24"/>
          <p:cNvSpPr txBox="1"/>
          <p:nvPr/>
        </p:nvSpPr>
        <p:spPr>
          <a:xfrm>
            <a:off x="7452360" y="2240280"/>
            <a:ext cx="1691640" cy="731520"/>
          </a:xfrm>
          <a:prstGeom prst="rect">
            <a:avLst/>
          </a:prstGeom>
          <a:noFill/>
        </p:spPr>
        <p:txBody>
          <a:bodyPr wrap="square" anchor="t" lIns="0" rIns="0" tIns="0" bIns="0">
            <a:spAutoFit/>
          </a:bodyPr>
          <a:lstStyle/>
          <a:p>
            <a:pPr algn="l">
              <a:lnSpc>
                <a:spcPct val="130000"/>
              </a:lnSpc>
            </a:pPr>
            <a:r>
              <a:rPr sz="950" b="0">
                <a:solidFill>
                  <a:srgbClr val="9AABC4"/>
                </a:solidFill>
                <a:latin typeface="맑은 고딕"/>
              </a:rPr>
              <a:t>잔여가 남은 사원에게</a:t>
            </a:r>
          </a:p>
          <a:p>
            <a:pPr algn="l">
              <a:lnSpc>
                <a:spcPct val="130000"/>
              </a:lnSpc>
            </a:pPr>
            <a:r>
              <a:rPr sz="950" b="0">
                <a:solidFill>
                  <a:srgbClr val="9AABC4"/>
                </a:solidFill>
                <a:latin typeface="맑은 고딕"/>
              </a:rPr>
              <a:t>안내 메일</a:t>
            </a:r>
          </a:p>
        </p:txBody>
      </p:sp>
      <p:sp>
        <p:nvSpPr>
          <p:cNvPr id="26" name="TextBox 25"/>
          <p:cNvSpPr txBox="1"/>
          <p:nvPr/>
        </p:nvSpPr>
        <p:spPr>
          <a:xfrm>
            <a:off x="9272016" y="2103120"/>
            <a:ext cx="146304" cy="274320"/>
          </a:xfrm>
          <a:prstGeom prst="rect">
            <a:avLst/>
          </a:prstGeom>
          <a:noFill/>
        </p:spPr>
        <p:txBody>
          <a:bodyPr wrap="square" anchor="t" lIns="0" rIns="0" tIns="0" bIns="0">
            <a:spAutoFit/>
          </a:bodyPr>
          <a:lstStyle/>
          <a:p>
            <a:pPr algn="ctr">
              <a:lnSpc>
                <a:spcPct val="125000"/>
              </a:lnSpc>
            </a:pPr>
            <a:r>
              <a:rPr sz="1600" b="0">
                <a:solidFill>
                  <a:srgbClr val="6F8099"/>
                </a:solidFill>
                <a:latin typeface="맑은 고딕"/>
              </a:rPr>
              <a:t>›</a:t>
            </a:r>
          </a:p>
        </p:txBody>
      </p:sp>
      <p:sp>
        <p:nvSpPr>
          <p:cNvPr id="27" name="Rounded Rectangle 26"/>
          <p:cNvSpPr/>
          <p:nvPr/>
        </p:nvSpPr>
        <p:spPr>
          <a:xfrm>
            <a:off x="9427464" y="1463040"/>
            <a:ext cx="1975104" cy="16002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92056" y="1591056"/>
            <a:ext cx="1645920" cy="274320"/>
          </a:xfrm>
          <a:prstGeom prst="rect">
            <a:avLst/>
          </a:prstGeom>
          <a:noFill/>
        </p:spPr>
        <p:txBody>
          <a:bodyPr wrap="square" anchor="t" lIns="0" rIns="0" tIns="0" bIns="0">
            <a:spAutoFit/>
          </a:bodyPr>
          <a:lstStyle/>
          <a:p>
            <a:pPr algn="l">
              <a:lnSpc>
                <a:spcPct val="125000"/>
              </a:lnSpc>
            </a:pPr>
            <a:r>
              <a:rPr sz="1500" b="1">
                <a:solidFill>
                  <a:srgbClr val="4FB8E8"/>
                </a:solidFill>
                <a:latin typeface="맑은 고딕"/>
              </a:rPr>
              <a:t>⑤</a:t>
            </a:r>
          </a:p>
        </p:txBody>
      </p:sp>
      <p:sp>
        <p:nvSpPr>
          <p:cNvPr id="29" name="TextBox 28"/>
          <p:cNvSpPr txBox="1"/>
          <p:nvPr/>
        </p:nvSpPr>
        <p:spPr>
          <a:xfrm>
            <a:off x="9592056" y="1901952"/>
            <a:ext cx="1691640" cy="292608"/>
          </a:xfrm>
          <a:prstGeom prst="rect">
            <a:avLst/>
          </a:prstGeom>
          <a:noFill/>
        </p:spPr>
        <p:txBody>
          <a:bodyPr wrap="square" anchor="t" lIns="0" rIns="0" tIns="0" bIns="0">
            <a:spAutoFit/>
          </a:bodyPr>
          <a:lstStyle/>
          <a:p>
            <a:pPr algn="l">
              <a:lnSpc>
                <a:spcPct val="125000"/>
              </a:lnSpc>
            </a:pPr>
            <a:r>
              <a:rPr sz="1250" b="1">
                <a:solidFill>
                  <a:srgbClr val="E8EEFA"/>
                </a:solidFill>
                <a:latin typeface="맑은 고딕"/>
              </a:rPr>
              <a:t>퇴직자 파기</a:t>
            </a:r>
          </a:p>
        </p:txBody>
      </p:sp>
      <p:sp>
        <p:nvSpPr>
          <p:cNvPr id="30" name="TextBox 29"/>
          <p:cNvSpPr txBox="1"/>
          <p:nvPr/>
        </p:nvSpPr>
        <p:spPr>
          <a:xfrm>
            <a:off x="9592056" y="2240280"/>
            <a:ext cx="1691640" cy="731520"/>
          </a:xfrm>
          <a:prstGeom prst="rect">
            <a:avLst/>
          </a:prstGeom>
          <a:noFill/>
        </p:spPr>
        <p:txBody>
          <a:bodyPr wrap="square" anchor="t" lIns="0" rIns="0" tIns="0" bIns="0">
            <a:spAutoFit/>
          </a:bodyPr>
          <a:lstStyle/>
          <a:p>
            <a:pPr algn="l">
              <a:lnSpc>
                <a:spcPct val="130000"/>
              </a:lnSpc>
            </a:pPr>
            <a:r>
              <a:rPr sz="950" b="0">
                <a:solidFill>
                  <a:srgbClr val="9AABC4"/>
                </a:solidFill>
                <a:latin typeface="맑은 고딕"/>
              </a:rPr>
              <a:t>자동 모드일 때</a:t>
            </a:r>
          </a:p>
          <a:p>
            <a:pPr algn="l">
              <a:lnSpc>
                <a:spcPct val="130000"/>
              </a:lnSpc>
            </a:pPr>
            <a:r>
              <a:rPr sz="950" b="0">
                <a:solidFill>
                  <a:srgbClr val="9AABC4"/>
                </a:solidFill>
                <a:latin typeface="맑은 고딕"/>
              </a:rPr>
              <a:t>예고 후 익명화</a:t>
            </a:r>
          </a:p>
        </p:txBody>
      </p:sp>
      <p:sp>
        <p:nvSpPr>
          <p:cNvPr id="31" name="Rectangle 30"/>
          <p:cNvSpPr/>
          <p:nvPr/>
        </p:nvSpPr>
        <p:spPr>
          <a:xfrm>
            <a:off x="868680" y="3246120"/>
            <a:ext cx="45720" cy="1051560"/>
          </a:xfrm>
          <a:prstGeom prst="rect">
            <a:avLst/>
          </a:prstGeom>
          <a:solidFill>
            <a:srgbClr val="EDB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14400" y="3246120"/>
            <a:ext cx="10469880" cy="105156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3000" y="3392424"/>
            <a:ext cx="9966960" cy="77724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이 순서는 취향이 아니라 데이터 의존성입니다. 리셋이 보너스 연차를 갈아 끼우므로 ③이 먼저면 생일 반차가 그날 증발하고, ②가 먼저면 1주년에 하루짜리 유령 적립이 남습니다. ④가 맨 뒤인 것도 같은 이유 — 앞 잡들이 잔액을 바꾸므로 먼저 돌면 안내 메일이 갱신 전 숫자를 적어 보냅니다.</a:t>
            </a:r>
          </a:p>
        </p:txBody>
      </p:sp>
      <p:sp>
        <p:nvSpPr>
          <p:cNvPr id="34" name="TextBox 33"/>
          <p:cNvSpPr txBox="1"/>
          <p:nvPr/>
        </p:nvSpPr>
        <p:spPr>
          <a:xfrm>
            <a:off x="868680" y="4617720"/>
            <a:ext cx="10515600" cy="1280160"/>
          </a:xfrm>
          <a:prstGeom prst="rect">
            <a:avLst/>
          </a:prstGeom>
          <a:noFill/>
        </p:spPr>
        <p:txBody>
          <a:bodyPr wrap="square" anchor="t" lIns="0" rIns="0" tIns="0" bIns="0">
            <a:spAutoFit/>
          </a:bodyPr>
          <a:lstStyle/>
          <a:p>
            <a:pPr algn="l">
              <a:lnSpc>
                <a:spcPct val="160000"/>
              </a:lnSpc>
            </a:pPr>
            <a:r>
              <a:rPr sz="1200" b="0">
                <a:solidFill>
                  <a:srgbClr val="9AABC4"/>
                </a:solidFill>
                <a:latin typeface="맑은 고딕"/>
              </a:rPr>
              <a:t>· 사원 1명 = 트랜잭션 1개. 전체를 한 트랜잭션으로 묶으면 한 사람의 충돌로 전원이 롤백됩니다</a:t>
            </a:r>
          </a:p>
          <a:p>
            <a:pPr algn="l">
              <a:lnSpc>
                <a:spcPct val="160000"/>
              </a:lnSpc>
            </a:pPr>
            <a:r>
              <a:rPr sz="1200" b="0">
                <a:solidFill>
                  <a:srgbClr val="9AABC4"/>
                </a:solidFill>
                <a:latin typeface="맑은 고딕"/>
              </a:rPr>
              <a:t>· 새해 첫날에는 공휴일 동기화 잡이 한 번 더 돕니다 (그래서 잡은 6개)</a:t>
            </a:r>
          </a:p>
          <a:p>
            <a:pPr algn="l">
              <a:lnSpc>
                <a:spcPct val="160000"/>
              </a:lnSpc>
            </a:pPr>
            <a:r>
              <a:rPr sz="1200" b="0">
                <a:solidFill>
                  <a:srgbClr val="9AABC4"/>
                </a:solidFill>
                <a:latin typeface="맑은 고딕"/>
              </a:rPr>
              <a:t>· 테스트에서는 크론이 돌지 않습니다 — @Profile(!test) 가드</a:t>
            </a:r>
          </a:p>
        </p:txBody>
      </p:sp>
      <p:sp>
        <p:nvSpPr>
          <p:cNvPr id="35" name="TextBox 34"/>
          <p:cNvSpPr txBox="1"/>
          <p:nvPr/>
        </p:nvSpPr>
        <p:spPr>
          <a:xfrm>
            <a:off x="868680" y="603504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domain/leave/scheduler · docs/09-스케줄러-설계.md</a:t>
            </a:r>
          </a:p>
        </p:txBody>
      </p:sp>
      <p:sp>
        <p:nvSpPr>
          <p:cNvPr id="36" name="TextBox 35"/>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WBS 9 — AUDIT</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9. 감사 로그와 데이터 수명주기</a:t>
            </a:r>
          </a:p>
        </p:txBody>
      </p:sp>
      <p:sp>
        <p:nvSpPr>
          <p:cNvPr id="5" name="TextBox 4"/>
          <p:cNvSpPr txBox="1"/>
          <p:nvPr/>
        </p:nvSpPr>
        <p:spPr>
          <a:xfrm>
            <a:off x="10241280" y="530352"/>
            <a:ext cx="1280160" cy="274320"/>
          </a:xfrm>
          <a:prstGeom prst="rect">
            <a:avLst/>
          </a:prstGeom>
          <a:noFill/>
        </p:spPr>
        <p:txBody>
          <a:bodyPr wrap="square" anchor="t" lIns="0" rIns="0" tIns="0" bIns="0">
            <a:spAutoFit/>
          </a:bodyPr>
          <a:lstStyle/>
          <a:p>
            <a:pPr algn="r">
              <a:lnSpc>
                <a:spcPct val="125000"/>
              </a:lnSpc>
            </a:pPr>
            <a:r>
              <a:rPr sz="1100" b="0">
                <a:solidFill>
                  <a:srgbClr val="6F8099"/>
                </a:solidFill>
                <a:latin typeface="Consolas"/>
              </a:rPr>
              <a:t>API 5</a:t>
            </a:r>
          </a:p>
        </p:txBody>
      </p:sp>
      <p:sp>
        <p:nvSpPr>
          <p:cNvPr id="6" name="TextBox 5"/>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7" name="Rounded Rectangle 6"/>
          <p:cNvSpPr/>
          <p:nvPr/>
        </p:nvSpPr>
        <p:spPr>
          <a:xfrm>
            <a:off x="868680" y="1463040"/>
            <a:ext cx="10515600" cy="475488"/>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591056"/>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9.1</a:t>
            </a:r>
          </a:p>
        </p:txBody>
      </p:sp>
      <p:sp>
        <p:nvSpPr>
          <p:cNvPr id="9" name="TextBox 8"/>
          <p:cNvSpPr txBox="1"/>
          <p:nvPr/>
        </p:nvSpPr>
        <p:spPr>
          <a:xfrm>
            <a:off x="1737360" y="1563624"/>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관리자 감사 로그</a:t>
            </a:r>
          </a:p>
        </p:txBody>
      </p:sp>
      <p:sp>
        <p:nvSpPr>
          <p:cNvPr id="10" name="TextBox 9"/>
          <p:cNvSpPr txBox="1"/>
          <p:nvPr/>
        </p:nvSpPr>
        <p:spPr>
          <a:xfrm>
            <a:off x="4572000" y="1591056"/>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누가 · 언제 · 누구에게 · 무엇을 했는지 전부 남긴다</a:t>
            </a:r>
          </a:p>
        </p:txBody>
      </p:sp>
      <p:sp>
        <p:nvSpPr>
          <p:cNvPr id="11" name="TextBox 10"/>
          <p:cNvSpPr txBox="1"/>
          <p:nvPr/>
        </p:nvSpPr>
        <p:spPr>
          <a:xfrm>
            <a:off x="10607040" y="1600200"/>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2" name="Rounded Rectangle 11"/>
          <p:cNvSpPr/>
          <p:nvPr/>
        </p:nvSpPr>
        <p:spPr>
          <a:xfrm>
            <a:off x="868680" y="1993392"/>
            <a:ext cx="10515600" cy="475488"/>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2121408"/>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9.2</a:t>
            </a:r>
          </a:p>
        </p:txBody>
      </p:sp>
      <p:sp>
        <p:nvSpPr>
          <p:cNvPr id="14" name="TextBox 13"/>
          <p:cNvSpPr txBox="1"/>
          <p:nvPr/>
        </p:nvSpPr>
        <p:spPr>
          <a:xfrm>
            <a:off x="1737360" y="2093976"/>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액션 필터</a:t>
            </a:r>
          </a:p>
        </p:txBody>
      </p:sp>
      <p:sp>
        <p:nvSpPr>
          <p:cNvPr id="15" name="TextBox 14"/>
          <p:cNvSpPr txBox="1"/>
          <p:nvPr/>
        </p:nvSpPr>
        <p:spPr>
          <a:xfrm>
            <a:off x="4572000" y="2121408"/>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역할 변경 · 퇴직 · 파기 등 행위 종류로 검색</a:t>
            </a:r>
          </a:p>
        </p:txBody>
      </p:sp>
      <p:sp>
        <p:nvSpPr>
          <p:cNvPr id="16" name="TextBox 15"/>
          <p:cNvSpPr txBox="1"/>
          <p:nvPr/>
        </p:nvSpPr>
        <p:spPr>
          <a:xfrm>
            <a:off x="10607040" y="2130552"/>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17" name="Rounded Rectangle 16"/>
          <p:cNvSpPr/>
          <p:nvPr/>
        </p:nvSpPr>
        <p:spPr>
          <a:xfrm>
            <a:off x="868680" y="2523744"/>
            <a:ext cx="10515600" cy="475488"/>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2651760"/>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9.3</a:t>
            </a:r>
          </a:p>
        </p:txBody>
      </p:sp>
      <p:sp>
        <p:nvSpPr>
          <p:cNvPr id="19" name="TextBox 18"/>
          <p:cNvSpPr txBox="1"/>
          <p:nvPr/>
        </p:nvSpPr>
        <p:spPr>
          <a:xfrm>
            <a:off x="1737360" y="2624328"/>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연차 리셋 이력</a:t>
            </a:r>
          </a:p>
        </p:txBody>
      </p:sp>
      <p:sp>
        <p:nvSpPr>
          <p:cNvPr id="20" name="TextBox 19"/>
          <p:cNvSpPr txBox="1"/>
          <p:nvPr/>
        </p:nvSpPr>
        <p:spPr>
          <a:xfrm>
            <a:off x="4572000" y="2651760"/>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기산일마다 이월 · 상환 스냅샷을 남긴다</a:t>
            </a:r>
          </a:p>
        </p:txBody>
      </p:sp>
      <p:sp>
        <p:nvSpPr>
          <p:cNvPr id="21" name="TextBox 20"/>
          <p:cNvSpPr txBox="1"/>
          <p:nvPr/>
        </p:nvSpPr>
        <p:spPr>
          <a:xfrm>
            <a:off x="10607040" y="2660904"/>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2" name="Rounded Rectangle 21"/>
          <p:cNvSpPr/>
          <p:nvPr/>
        </p:nvSpPr>
        <p:spPr>
          <a:xfrm>
            <a:off x="868680" y="3054096"/>
            <a:ext cx="10515600" cy="475488"/>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 y="3182112"/>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9.4</a:t>
            </a:r>
          </a:p>
        </p:txBody>
      </p:sp>
      <p:sp>
        <p:nvSpPr>
          <p:cNvPr id="24" name="TextBox 23"/>
          <p:cNvSpPr txBox="1"/>
          <p:nvPr/>
        </p:nvSpPr>
        <p:spPr>
          <a:xfrm>
            <a:off x="1737360" y="3154680"/>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파기 기록의 예외</a:t>
            </a:r>
          </a:p>
        </p:txBody>
      </p:sp>
      <p:sp>
        <p:nvSpPr>
          <p:cNvPr id="25" name="TextBox 24"/>
          <p:cNvSpPr txBox="1"/>
          <p:nvPr/>
        </p:nvSpPr>
        <p:spPr>
          <a:xfrm>
            <a:off x="4572000" y="3182112"/>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파기해도 감사 로그 행은 남긴다 — 단 이름은 담기지 않는다</a:t>
            </a:r>
          </a:p>
        </p:txBody>
      </p:sp>
      <p:sp>
        <p:nvSpPr>
          <p:cNvPr id="26" name="TextBox 25"/>
          <p:cNvSpPr txBox="1"/>
          <p:nvPr/>
        </p:nvSpPr>
        <p:spPr>
          <a:xfrm>
            <a:off x="10607040" y="3191256"/>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27" name="Rounded Rectangle 26"/>
          <p:cNvSpPr/>
          <p:nvPr/>
        </p:nvSpPr>
        <p:spPr>
          <a:xfrm>
            <a:off x="868680" y="3584448"/>
            <a:ext cx="10515600" cy="475488"/>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3712464"/>
            <a:ext cx="658368"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9.5</a:t>
            </a:r>
          </a:p>
        </p:txBody>
      </p:sp>
      <p:sp>
        <p:nvSpPr>
          <p:cNvPr id="29" name="TextBox 28"/>
          <p:cNvSpPr txBox="1"/>
          <p:nvPr/>
        </p:nvSpPr>
        <p:spPr>
          <a:xfrm>
            <a:off x="1737360" y="3685032"/>
            <a:ext cx="2743200" cy="292608"/>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근속 구간</a:t>
            </a:r>
          </a:p>
        </p:txBody>
      </p:sp>
      <p:sp>
        <p:nvSpPr>
          <p:cNvPr id="30" name="TextBox 29"/>
          <p:cNvSpPr txBox="1"/>
          <p:nvPr/>
        </p:nvSpPr>
        <p:spPr>
          <a:xfrm>
            <a:off x="4572000" y="3712464"/>
            <a:ext cx="5943600" cy="274320"/>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재입사 사원의 이전 근무 기간을 별도 테이블로 보존</a:t>
            </a:r>
          </a:p>
        </p:txBody>
      </p:sp>
      <p:sp>
        <p:nvSpPr>
          <p:cNvPr id="31" name="TextBox 30"/>
          <p:cNvSpPr txBox="1"/>
          <p:nvPr/>
        </p:nvSpPr>
        <p:spPr>
          <a:xfrm>
            <a:off x="10607040" y="3721608"/>
            <a:ext cx="640080" cy="256032"/>
          </a:xfrm>
          <a:prstGeom prst="rect">
            <a:avLst/>
          </a:prstGeom>
          <a:noFill/>
        </p:spPr>
        <p:txBody>
          <a:bodyPr wrap="square" anchor="t" lIns="0" rIns="0" tIns="0" bIns="0">
            <a:spAutoFit/>
          </a:bodyPr>
          <a:lstStyle/>
          <a:p>
            <a:pPr algn="r">
              <a:lnSpc>
                <a:spcPct val="125000"/>
              </a:lnSpc>
            </a:pPr>
            <a:r>
              <a:rPr sz="1000" b="1">
                <a:solidFill>
                  <a:srgbClr val="4FD39C"/>
                </a:solidFill>
                <a:latin typeface="Consolas"/>
              </a:rPr>
              <a:t>완료</a:t>
            </a:r>
          </a:p>
        </p:txBody>
      </p:sp>
      <p:sp>
        <p:nvSpPr>
          <p:cNvPr id="32" name="Rectangle 31"/>
          <p:cNvSpPr/>
          <p:nvPr/>
        </p:nvSpPr>
        <p:spPr>
          <a:xfrm>
            <a:off x="868680" y="4389120"/>
            <a:ext cx="45720" cy="914400"/>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4400" y="4389120"/>
            <a:ext cx="10469880" cy="91440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43000" y="4535424"/>
            <a:ext cx="9966960" cy="64008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감사 로그를 파기 대상에서 뺀 것은 의도된 예외입니다. 언제 무엇을 파기했는지까지 지우면 파기 자체를 증명할 수 없습니다. 대신 로그 본문에 이름을 넣지 않아 로그만으로 개인을 특정하지 못하게 했습니다.</a:t>
            </a:r>
          </a:p>
        </p:txBody>
      </p:sp>
      <p:sp>
        <p:nvSpPr>
          <p:cNvPr id="35" name="TextBox 34"/>
          <p:cNvSpPr txBox="1"/>
          <p:nvPr/>
        </p:nvSpPr>
        <p:spPr>
          <a:xfrm>
            <a:off x="868680" y="566928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domain/audit · employment_periods · LeaveResetHistory</a:t>
            </a:r>
          </a:p>
        </p:txBody>
      </p:sp>
      <p:sp>
        <p:nvSpPr>
          <p:cNvPr id="36" name="TextBox 35"/>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DESIGN DECISIONS</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여기부터는 “왜 이렇게 만들었는가”</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TextBox 5"/>
          <p:cNvSpPr txBox="1"/>
          <p:nvPr/>
        </p:nvSpPr>
        <p:spPr>
          <a:xfrm>
            <a:off x="868680" y="1417320"/>
            <a:ext cx="10515600" cy="822960"/>
          </a:xfrm>
          <a:prstGeom prst="rect">
            <a:avLst/>
          </a:prstGeom>
          <a:noFill/>
        </p:spPr>
        <p:txBody>
          <a:bodyPr wrap="square" anchor="t" lIns="0" rIns="0" tIns="0" bIns="0">
            <a:spAutoFit/>
          </a:bodyPr>
          <a:lstStyle/>
          <a:p>
            <a:pPr algn="l">
              <a:lnSpc>
                <a:spcPct val="150000"/>
              </a:lnSpc>
            </a:pPr>
            <a:r>
              <a:rPr sz="1400" b="0">
                <a:solidFill>
                  <a:srgbClr val="9AABC4"/>
                </a:solidFill>
                <a:latin typeface="맑은 고딕"/>
              </a:rPr>
              <a:t>기능 목록만 보면 놓치는 것들이 있습니다. 코드를 고칠 때 반드시 알아야 하는, 그리고 한 번씩 실제로 사고가 났던 결정 다섯 가지입니다.</a:t>
            </a:r>
          </a:p>
        </p:txBody>
      </p:sp>
      <p:sp>
        <p:nvSpPr>
          <p:cNvPr id="7" name="Rounded Rectangle 6"/>
          <p:cNvSpPr/>
          <p:nvPr/>
        </p:nvSpPr>
        <p:spPr>
          <a:xfrm>
            <a:off x="868680" y="2468880"/>
            <a:ext cx="10515600" cy="603504"/>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633472"/>
            <a:ext cx="457200" cy="274320"/>
          </a:xfrm>
          <a:prstGeom prst="rect">
            <a:avLst/>
          </a:prstGeom>
          <a:noFill/>
        </p:spPr>
        <p:txBody>
          <a:bodyPr wrap="square" anchor="t" lIns="0" rIns="0" tIns="0" bIns="0">
            <a:spAutoFit/>
          </a:bodyPr>
          <a:lstStyle/>
          <a:p>
            <a:pPr algn="l">
              <a:lnSpc>
                <a:spcPct val="125000"/>
              </a:lnSpc>
            </a:pPr>
            <a:r>
              <a:rPr sz="1400" b="1">
                <a:solidFill>
                  <a:srgbClr val="4FB8E8"/>
                </a:solidFill>
                <a:latin typeface="Consolas"/>
              </a:rPr>
              <a:t>A</a:t>
            </a:r>
          </a:p>
        </p:txBody>
      </p:sp>
      <p:sp>
        <p:nvSpPr>
          <p:cNvPr id="9" name="TextBox 8"/>
          <p:cNvSpPr txBox="1"/>
          <p:nvPr/>
        </p:nvSpPr>
        <p:spPr>
          <a:xfrm>
            <a:off x="1691640" y="2624328"/>
            <a:ext cx="237744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회차 창</a:t>
            </a:r>
          </a:p>
        </p:txBody>
      </p:sp>
      <p:sp>
        <p:nvSpPr>
          <p:cNvPr id="10" name="TextBox 9"/>
          <p:cNvSpPr txBox="1"/>
          <p:nvPr/>
        </p:nvSpPr>
        <p:spPr>
          <a:xfrm>
            <a:off x="4206240" y="2651760"/>
            <a:ext cx="6766560" cy="274320"/>
          </a:xfrm>
          <a:prstGeom prst="rect">
            <a:avLst/>
          </a:prstGeom>
          <a:noFill/>
        </p:spPr>
        <p:txBody>
          <a:bodyPr wrap="square" anchor="t" lIns="0" rIns="0" tIns="0" bIns="0">
            <a:spAutoFit/>
          </a:bodyPr>
          <a:lstStyle/>
          <a:p>
            <a:pPr algn="l">
              <a:lnSpc>
                <a:spcPct val="125000"/>
              </a:lnSpc>
            </a:pPr>
            <a:r>
              <a:rPr sz="1200" b="0">
                <a:solidFill>
                  <a:srgbClr val="9AABC4"/>
                </a:solidFill>
                <a:latin typeface="맑은 고딕"/>
              </a:rPr>
              <a:t>연차를 언제 깎을지 — 날짜가 속한 회차로 판단한다</a:t>
            </a:r>
          </a:p>
        </p:txBody>
      </p:sp>
      <p:sp>
        <p:nvSpPr>
          <p:cNvPr id="11" name="Rounded Rectangle 10"/>
          <p:cNvSpPr/>
          <p:nvPr/>
        </p:nvSpPr>
        <p:spPr>
          <a:xfrm>
            <a:off x="868680" y="3163824"/>
            <a:ext cx="10515600" cy="603504"/>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328416"/>
            <a:ext cx="457200" cy="274320"/>
          </a:xfrm>
          <a:prstGeom prst="rect">
            <a:avLst/>
          </a:prstGeom>
          <a:noFill/>
        </p:spPr>
        <p:txBody>
          <a:bodyPr wrap="square" anchor="t" lIns="0" rIns="0" tIns="0" bIns="0">
            <a:spAutoFit/>
          </a:bodyPr>
          <a:lstStyle/>
          <a:p>
            <a:pPr algn="l">
              <a:lnSpc>
                <a:spcPct val="125000"/>
              </a:lnSpc>
            </a:pPr>
            <a:r>
              <a:rPr sz="1400" b="1">
                <a:solidFill>
                  <a:srgbClr val="4FB8E8"/>
                </a:solidFill>
                <a:latin typeface="Consolas"/>
              </a:rPr>
              <a:t>B</a:t>
            </a:r>
          </a:p>
        </p:txBody>
      </p:sp>
      <p:sp>
        <p:nvSpPr>
          <p:cNvPr id="13" name="TextBox 12"/>
          <p:cNvSpPr txBox="1"/>
          <p:nvPr/>
        </p:nvSpPr>
        <p:spPr>
          <a:xfrm>
            <a:off x="1691640" y="3319272"/>
            <a:ext cx="237744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파생 필드</a:t>
            </a:r>
          </a:p>
        </p:txBody>
      </p:sp>
      <p:sp>
        <p:nvSpPr>
          <p:cNvPr id="14" name="TextBox 13"/>
          <p:cNvSpPr txBox="1"/>
          <p:nvPr/>
        </p:nvSpPr>
        <p:spPr>
          <a:xfrm>
            <a:off x="4206240" y="3346704"/>
            <a:ext cx="6766560" cy="274320"/>
          </a:xfrm>
          <a:prstGeom prst="rect">
            <a:avLst/>
          </a:prstGeom>
          <a:noFill/>
        </p:spPr>
        <p:txBody>
          <a:bodyPr wrap="square" anchor="t" lIns="0" rIns="0" tIns="0" bIns="0">
            <a:spAutoFit/>
          </a:bodyPr>
          <a:lstStyle/>
          <a:p>
            <a:pPr algn="l">
              <a:lnSpc>
                <a:spcPct val="125000"/>
              </a:lnSpc>
            </a:pPr>
            <a:r>
              <a:rPr sz="1200" b="0">
                <a:solidFill>
                  <a:srgbClr val="9AABC4"/>
                </a:solidFill>
                <a:latin typeface="맑은 고딕"/>
              </a:rPr>
              <a:t>당겨쓴 일수는 저장하는 값이 아니라 계산되는 값이다</a:t>
            </a:r>
          </a:p>
        </p:txBody>
      </p:sp>
      <p:sp>
        <p:nvSpPr>
          <p:cNvPr id="15" name="Rounded Rectangle 14"/>
          <p:cNvSpPr/>
          <p:nvPr/>
        </p:nvSpPr>
        <p:spPr>
          <a:xfrm>
            <a:off x="868680" y="3858768"/>
            <a:ext cx="10515600" cy="603504"/>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023360"/>
            <a:ext cx="457200" cy="274320"/>
          </a:xfrm>
          <a:prstGeom prst="rect">
            <a:avLst/>
          </a:prstGeom>
          <a:noFill/>
        </p:spPr>
        <p:txBody>
          <a:bodyPr wrap="square" anchor="t" lIns="0" rIns="0" tIns="0" bIns="0">
            <a:spAutoFit/>
          </a:bodyPr>
          <a:lstStyle/>
          <a:p>
            <a:pPr algn="l">
              <a:lnSpc>
                <a:spcPct val="125000"/>
              </a:lnSpc>
            </a:pPr>
            <a:r>
              <a:rPr sz="1400" b="1">
                <a:solidFill>
                  <a:srgbClr val="4FB8E8"/>
                </a:solidFill>
                <a:latin typeface="Consolas"/>
              </a:rPr>
              <a:t>C</a:t>
            </a:r>
          </a:p>
        </p:txBody>
      </p:sp>
      <p:sp>
        <p:nvSpPr>
          <p:cNvPr id="17" name="TextBox 16"/>
          <p:cNvSpPr txBox="1"/>
          <p:nvPr/>
        </p:nvSpPr>
        <p:spPr>
          <a:xfrm>
            <a:off x="1691640" y="4014216"/>
            <a:ext cx="237744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스케줄러 경계</a:t>
            </a:r>
          </a:p>
        </p:txBody>
      </p:sp>
      <p:sp>
        <p:nvSpPr>
          <p:cNvPr id="18" name="TextBox 17"/>
          <p:cNvSpPr txBox="1"/>
          <p:nvPr/>
        </p:nvSpPr>
        <p:spPr>
          <a:xfrm>
            <a:off x="4206240" y="4041648"/>
            <a:ext cx="6766560" cy="274320"/>
          </a:xfrm>
          <a:prstGeom prst="rect">
            <a:avLst/>
          </a:prstGeom>
          <a:noFill/>
        </p:spPr>
        <p:txBody>
          <a:bodyPr wrap="square" anchor="t" lIns="0" rIns="0" tIns="0" bIns="0">
            <a:spAutoFit/>
          </a:bodyPr>
          <a:lstStyle/>
          <a:p>
            <a:pPr algn="l">
              <a:lnSpc>
                <a:spcPct val="125000"/>
              </a:lnSpc>
            </a:pPr>
            <a:r>
              <a:rPr sz="1200" b="0">
                <a:solidFill>
                  <a:srgbClr val="9AABC4"/>
                </a:solidFill>
                <a:latin typeface="맑은 고딕"/>
              </a:rPr>
              <a:t>순서와 트랜잭션 단위가 곧 데이터 정합성이다</a:t>
            </a:r>
          </a:p>
        </p:txBody>
      </p:sp>
      <p:sp>
        <p:nvSpPr>
          <p:cNvPr id="19" name="Rounded Rectangle 18"/>
          <p:cNvSpPr/>
          <p:nvPr/>
        </p:nvSpPr>
        <p:spPr>
          <a:xfrm>
            <a:off x="868680" y="4553712"/>
            <a:ext cx="10515600" cy="603504"/>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718304"/>
            <a:ext cx="457200" cy="274320"/>
          </a:xfrm>
          <a:prstGeom prst="rect">
            <a:avLst/>
          </a:prstGeom>
          <a:noFill/>
        </p:spPr>
        <p:txBody>
          <a:bodyPr wrap="square" anchor="t" lIns="0" rIns="0" tIns="0" bIns="0">
            <a:spAutoFit/>
          </a:bodyPr>
          <a:lstStyle/>
          <a:p>
            <a:pPr algn="l">
              <a:lnSpc>
                <a:spcPct val="125000"/>
              </a:lnSpc>
            </a:pPr>
            <a:r>
              <a:rPr sz="1400" b="1">
                <a:solidFill>
                  <a:srgbClr val="4FB8E8"/>
                </a:solidFill>
                <a:latin typeface="Consolas"/>
              </a:rPr>
              <a:t>D</a:t>
            </a:r>
          </a:p>
        </p:txBody>
      </p:sp>
      <p:sp>
        <p:nvSpPr>
          <p:cNvPr id="21" name="TextBox 20"/>
          <p:cNvSpPr txBox="1"/>
          <p:nvPr/>
        </p:nvSpPr>
        <p:spPr>
          <a:xfrm>
            <a:off x="1691640" y="4709160"/>
            <a:ext cx="237744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스키마 함정</a:t>
            </a:r>
          </a:p>
        </p:txBody>
      </p:sp>
      <p:sp>
        <p:nvSpPr>
          <p:cNvPr id="22" name="TextBox 21"/>
          <p:cNvSpPr txBox="1"/>
          <p:nvPr/>
        </p:nvSpPr>
        <p:spPr>
          <a:xfrm>
            <a:off x="4206240" y="4736592"/>
            <a:ext cx="6766560" cy="274320"/>
          </a:xfrm>
          <a:prstGeom prst="rect">
            <a:avLst/>
          </a:prstGeom>
          <a:noFill/>
        </p:spPr>
        <p:txBody>
          <a:bodyPr wrap="square" anchor="t" lIns="0" rIns="0" tIns="0" bIns="0">
            <a:spAutoFit/>
          </a:bodyPr>
          <a:lstStyle/>
          <a:p>
            <a:pPr algn="l">
              <a:lnSpc>
                <a:spcPct val="125000"/>
              </a:lnSpc>
            </a:pPr>
            <a:r>
              <a:rPr sz="1200" b="0">
                <a:solidFill>
                  <a:srgbClr val="9AABC4"/>
                </a:solidFill>
                <a:latin typeface="맑은 고딕"/>
              </a:rPr>
              <a:t>테스트가 절대 못 잡고 기동도 막지 못하는 변경이 있다</a:t>
            </a:r>
          </a:p>
        </p:txBody>
      </p:sp>
      <p:sp>
        <p:nvSpPr>
          <p:cNvPr id="23" name="Rounded Rectangle 22"/>
          <p:cNvSpPr/>
          <p:nvPr/>
        </p:nvSpPr>
        <p:spPr>
          <a:xfrm>
            <a:off x="868680" y="5248656"/>
            <a:ext cx="10515600" cy="603504"/>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413248"/>
            <a:ext cx="457200" cy="274320"/>
          </a:xfrm>
          <a:prstGeom prst="rect">
            <a:avLst/>
          </a:prstGeom>
          <a:noFill/>
        </p:spPr>
        <p:txBody>
          <a:bodyPr wrap="square" anchor="t" lIns="0" rIns="0" tIns="0" bIns="0">
            <a:spAutoFit/>
          </a:bodyPr>
          <a:lstStyle/>
          <a:p>
            <a:pPr algn="l">
              <a:lnSpc>
                <a:spcPct val="125000"/>
              </a:lnSpc>
            </a:pPr>
            <a:r>
              <a:rPr sz="1400" b="1">
                <a:solidFill>
                  <a:srgbClr val="4FB8E8"/>
                </a:solidFill>
                <a:latin typeface="Consolas"/>
              </a:rPr>
              <a:t>E</a:t>
            </a:r>
          </a:p>
        </p:txBody>
      </p:sp>
      <p:sp>
        <p:nvSpPr>
          <p:cNvPr id="25" name="TextBox 24"/>
          <p:cNvSpPr txBox="1"/>
          <p:nvPr/>
        </p:nvSpPr>
        <p:spPr>
          <a:xfrm>
            <a:off x="1691640" y="5404104"/>
            <a:ext cx="237744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보안 판단</a:t>
            </a:r>
          </a:p>
        </p:txBody>
      </p:sp>
      <p:sp>
        <p:nvSpPr>
          <p:cNvPr id="26" name="TextBox 25"/>
          <p:cNvSpPr txBox="1"/>
          <p:nvPr/>
        </p:nvSpPr>
        <p:spPr>
          <a:xfrm>
            <a:off x="4206240" y="5431536"/>
            <a:ext cx="6766560" cy="274320"/>
          </a:xfrm>
          <a:prstGeom prst="rect">
            <a:avLst/>
          </a:prstGeom>
          <a:noFill/>
        </p:spPr>
        <p:txBody>
          <a:bodyPr wrap="square" anchor="t" lIns="0" rIns="0" tIns="0" bIns="0">
            <a:spAutoFit/>
          </a:bodyPr>
          <a:lstStyle/>
          <a:p>
            <a:pPr algn="l">
              <a:lnSpc>
                <a:spcPct val="125000"/>
              </a:lnSpc>
            </a:pPr>
            <a:r>
              <a:rPr sz="1200" b="0">
                <a:solidFill>
                  <a:srgbClr val="9AABC4"/>
                </a:solidFill>
                <a:latin typeface="맑은 고딕"/>
              </a:rPr>
              <a:t>막을 것과 열어 둘 것을 나눈 기준</a:t>
            </a:r>
          </a:p>
        </p:txBody>
      </p:sp>
      <p:sp>
        <p:nvSpPr>
          <p:cNvPr id="27" name="TextBox 26"/>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DECISION A</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A. 회차 창 — 미래 날짜를 지금 잔액에서 깎지 않는다</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TextBox 5"/>
          <p:cNvSpPr txBox="1"/>
          <p:nvPr/>
        </p:nvSpPr>
        <p:spPr>
          <a:xfrm>
            <a:off x="868680" y="1325880"/>
            <a:ext cx="10515600" cy="320040"/>
          </a:xfrm>
          <a:prstGeom prst="rect">
            <a:avLst/>
          </a:prstGeom>
          <a:noFill/>
        </p:spPr>
        <p:txBody>
          <a:bodyPr wrap="square" anchor="t" lIns="0" rIns="0" tIns="0" bIns="0">
            <a:spAutoFit/>
          </a:bodyPr>
          <a:lstStyle/>
          <a:p>
            <a:pPr algn="l">
              <a:lnSpc>
                <a:spcPct val="125000"/>
              </a:lnSpc>
            </a:pPr>
            <a:r>
              <a:rPr sz="1300" b="0">
                <a:solidFill>
                  <a:srgbClr val="9AABC4"/>
                </a:solidFill>
                <a:latin typeface="맑은 고딕"/>
              </a:rPr>
              <a:t>연차는 회사 기준 연도가 아니라 사원마다 다른 “입사 기념일(기산일)”을 기준으로 부여됩니다.</a:t>
            </a:r>
          </a:p>
        </p:txBody>
      </p:sp>
      <p:sp>
        <p:nvSpPr>
          <p:cNvPr id="7" name="Rounded Rectangle 6"/>
          <p:cNvSpPr/>
          <p:nvPr/>
        </p:nvSpPr>
        <p:spPr>
          <a:xfrm>
            <a:off x="914400" y="2148840"/>
            <a:ext cx="4206240" cy="566928"/>
          </a:xfrm>
          <a:prstGeom prst="roundRect">
            <a:avLst>
              <a:gd name="adj" fmla="val 6000"/>
            </a:avLst>
          </a:prstGeom>
          <a:solidFill>
            <a:srgbClr val="143344"/>
          </a:solidFill>
          <a:ln w="12700">
            <a:solidFill>
              <a:srgbClr val="4F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95144"/>
            <a:ext cx="3840480" cy="274320"/>
          </a:xfrm>
          <a:prstGeom prst="rect">
            <a:avLst/>
          </a:prstGeom>
          <a:noFill/>
        </p:spPr>
        <p:txBody>
          <a:bodyPr wrap="square" anchor="t" lIns="0" rIns="0" tIns="0" bIns="0">
            <a:spAutoFit/>
          </a:bodyPr>
          <a:lstStyle/>
          <a:p>
            <a:pPr algn="l">
              <a:lnSpc>
                <a:spcPct val="125000"/>
              </a:lnSpc>
            </a:pPr>
            <a:r>
              <a:rPr sz="1200" b="1">
                <a:solidFill>
                  <a:srgbClr val="4FB8E8"/>
                </a:solidFill>
                <a:latin typeface="Consolas"/>
              </a:rPr>
              <a:t>현재 회차  [2026-03-01,  2027-03-01)</a:t>
            </a:r>
          </a:p>
        </p:txBody>
      </p:sp>
      <p:sp>
        <p:nvSpPr>
          <p:cNvPr id="9" name="Rounded Rectangle 8"/>
          <p:cNvSpPr/>
          <p:nvPr/>
        </p:nvSpPr>
        <p:spPr>
          <a:xfrm>
            <a:off x="5257800" y="2148840"/>
            <a:ext cx="4206240" cy="566928"/>
          </a:xfrm>
          <a:prstGeom prst="roundRect">
            <a:avLst>
              <a:gd name="adj" fmla="val 6000"/>
            </a:avLst>
          </a:prstGeom>
          <a:solidFill>
            <a:srgbClr val="121B2B"/>
          </a:solidFill>
          <a:ln w="1270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40680" y="2295144"/>
            <a:ext cx="3840480" cy="274320"/>
          </a:xfrm>
          <a:prstGeom prst="rect">
            <a:avLst/>
          </a:prstGeom>
          <a:noFill/>
        </p:spPr>
        <p:txBody>
          <a:bodyPr wrap="square" anchor="t" lIns="0" rIns="0" tIns="0" bIns="0">
            <a:spAutoFit/>
          </a:bodyPr>
          <a:lstStyle/>
          <a:p>
            <a:pPr algn="l">
              <a:lnSpc>
                <a:spcPct val="125000"/>
              </a:lnSpc>
            </a:pPr>
            <a:r>
              <a:rPr sz="1200" b="0">
                <a:solidFill>
                  <a:srgbClr val="9AABC4"/>
                </a:solidFill>
                <a:latin typeface="Consolas"/>
              </a:rPr>
              <a:t>다음 회차  [2027-03-01,  2028-03-01)</a:t>
            </a:r>
          </a:p>
        </p:txBody>
      </p:sp>
      <p:sp>
        <p:nvSpPr>
          <p:cNvPr id="11" name="Rounded Rectangle 10"/>
          <p:cNvSpPr/>
          <p:nvPr/>
        </p:nvSpPr>
        <p:spPr>
          <a:xfrm>
            <a:off x="9601200" y="2148840"/>
            <a:ext cx="1783080" cy="566928"/>
          </a:xfrm>
          <a:prstGeom prst="roundRect">
            <a:avLst>
              <a:gd name="adj" fmla="val 6000"/>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0" y="2295144"/>
            <a:ext cx="1463040" cy="274320"/>
          </a:xfrm>
          <a:prstGeom prst="rect">
            <a:avLst/>
          </a:prstGeom>
          <a:noFill/>
        </p:spPr>
        <p:txBody>
          <a:bodyPr wrap="square" anchor="t" lIns="0" rIns="0" tIns="0" bIns="0">
            <a:spAutoFit/>
          </a:bodyPr>
          <a:lstStyle/>
          <a:p>
            <a:pPr algn="l">
              <a:lnSpc>
                <a:spcPct val="125000"/>
              </a:lnSpc>
            </a:pPr>
            <a:r>
              <a:rPr sz="1100" b="0">
                <a:solidFill>
                  <a:srgbClr val="F2707A"/>
                </a:solidFill>
                <a:latin typeface="Consolas"/>
              </a:rPr>
              <a:t>그 이후 = 거절</a:t>
            </a:r>
          </a:p>
        </p:txBody>
      </p:sp>
      <p:sp>
        <p:nvSpPr>
          <p:cNvPr id="13" name="Rounded Rectangle 12"/>
          <p:cNvSpPr/>
          <p:nvPr/>
        </p:nvSpPr>
        <p:spPr>
          <a:xfrm>
            <a:off x="868680" y="3017520"/>
            <a:ext cx="10515600" cy="548640"/>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163824"/>
            <a:ext cx="3017520" cy="274320"/>
          </a:xfrm>
          <a:prstGeom prst="rect">
            <a:avLst/>
          </a:prstGeom>
          <a:noFill/>
        </p:spPr>
        <p:txBody>
          <a:bodyPr wrap="square" anchor="t" lIns="0" rIns="0" tIns="0" bIns="0">
            <a:spAutoFit/>
          </a:bodyPr>
          <a:lstStyle/>
          <a:p>
            <a:pPr algn="l">
              <a:lnSpc>
                <a:spcPct val="125000"/>
              </a:lnSpc>
            </a:pPr>
            <a:r>
              <a:rPr sz="1200" b="1">
                <a:solidFill>
                  <a:srgbClr val="E8EEFA"/>
                </a:solidFill>
                <a:latin typeface="Consolas"/>
              </a:rPr>
              <a:t>2026-11-20 하루 신청</a:t>
            </a:r>
          </a:p>
        </p:txBody>
      </p:sp>
      <p:sp>
        <p:nvSpPr>
          <p:cNvPr id="15" name="TextBox 14"/>
          <p:cNvSpPr txBox="1"/>
          <p:nvPr/>
        </p:nvSpPr>
        <p:spPr>
          <a:xfrm>
            <a:off x="4297680" y="3172968"/>
            <a:ext cx="6858000" cy="274320"/>
          </a:xfrm>
          <a:prstGeom prst="rect">
            <a:avLst/>
          </a:prstGeom>
          <a:noFill/>
        </p:spPr>
        <p:txBody>
          <a:bodyPr wrap="square" anchor="t" lIns="0" rIns="0" tIns="0" bIns="0">
            <a:spAutoFit/>
          </a:bodyPr>
          <a:lstStyle/>
          <a:p>
            <a:pPr algn="l">
              <a:lnSpc>
                <a:spcPct val="125000"/>
              </a:lnSpc>
            </a:pPr>
            <a:r>
              <a:rPr sz="1200" b="0">
                <a:solidFill>
                  <a:srgbClr val="4FD39C"/>
                </a:solidFill>
                <a:latin typeface="맑은 고딕"/>
              </a:rPr>
              <a:t>현재 회차 창 안 → use_days 즉시 −1</a:t>
            </a:r>
          </a:p>
        </p:txBody>
      </p:sp>
      <p:sp>
        <p:nvSpPr>
          <p:cNvPr id="16" name="Rounded Rectangle 15"/>
          <p:cNvSpPr/>
          <p:nvPr/>
        </p:nvSpPr>
        <p:spPr>
          <a:xfrm>
            <a:off x="868680" y="3639312"/>
            <a:ext cx="10515600" cy="548640"/>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785616"/>
            <a:ext cx="3017520" cy="274320"/>
          </a:xfrm>
          <a:prstGeom prst="rect">
            <a:avLst/>
          </a:prstGeom>
          <a:noFill/>
        </p:spPr>
        <p:txBody>
          <a:bodyPr wrap="square" anchor="t" lIns="0" rIns="0" tIns="0" bIns="0">
            <a:spAutoFit/>
          </a:bodyPr>
          <a:lstStyle/>
          <a:p>
            <a:pPr algn="l">
              <a:lnSpc>
                <a:spcPct val="125000"/>
              </a:lnSpc>
            </a:pPr>
            <a:r>
              <a:rPr sz="1200" b="1">
                <a:solidFill>
                  <a:srgbClr val="E8EEFA"/>
                </a:solidFill>
                <a:latin typeface="Consolas"/>
              </a:rPr>
              <a:t>2027-05-10 하루 신청</a:t>
            </a:r>
          </a:p>
        </p:txBody>
      </p:sp>
      <p:sp>
        <p:nvSpPr>
          <p:cNvPr id="18" name="TextBox 17"/>
          <p:cNvSpPr txBox="1"/>
          <p:nvPr/>
        </p:nvSpPr>
        <p:spPr>
          <a:xfrm>
            <a:off x="4297680" y="3794760"/>
            <a:ext cx="6858000" cy="274320"/>
          </a:xfrm>
          <a:prstGeom prst="rect">
            <a:avLst/>
          </a:prstGeom>
          <a:noFill/>
        </p:spPr>
        <p:txBody>
          <a:bodyPr wrap="square" anchor="t" lIns="0" rIns="0" tIns="0" bIns="0">
            <a:spAutoFit/>
          </a:bodyPr>
          <a:lstStyle/>
          <a:p>
            <a:pPr algn="l">
              <a:lnSpc>
                <a:spcPct val="125000"/>
              </a:lnSpc>
            </a:pPr>
            <a:r>
              <a:rPr sz="1200" b="0">
                <a:solidFill>
                  <a:srgbClr val="4FB8E8"/>
                </a:solidFill>
                <a:latin typeface="맑은 고딕"/>
              </a:rPr>
              <a:t>다음 회차 → 지금 잔액은 그대로, 예약분으로만 집계</a:t>
            </a:r>
          </a:p>
        </p:txBody>
      </p:sp>
      <p:sp>
        <p:nvSpPr>
          <p:cNvPr id="19" name="Rounded Rectangle 18"/>
          <p:cNvSpPr/>
          <p:nvPr/>
        </p:nvSpPr>
        <p:spPr>
          <a:xfrm>
            <a:off x="868680" y="4261104"/>
            <a:ext cx="10515600" cy="548640"/>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3017520" cy="274320"/>
          </a:xfrm>
          <a:prstGeom prst="rect">
            <a:avLst/>
          </a:prstGeom>
          <a:noFill/>
        </p:spPr>
        <p:txBody>
          <a:bodyPr wrap="square" anchor="t" lIns="0" rIns="0" tIns="0" bIns="0">
            <a:spAutoFit/>
          </a:bodyPr>
          <a:lstStyle/>
          <a:p>
            <a:pPr algn="l">
              <a:lnSpc>
                <a:spcPct val="125000"/>
              </a:lnSpc>
            </a:pPr>
            <a:r>
              <a:rPr sz="1200" b="1">
                <a:solidFill>
                  <a:srgbClr val="E8EEFA"/>
                </a:solidFill>
                <a:latin typeface="Consolas"/>
              </a:rPr>
              <a:t>2028-02-01 신청</a:t>
            </a:r>
          </a:p>
        </p:txBody>
      </p:sp>
      <p:sp>
        <p:nvSpPr>
          <p:cNvPr id="21" name="TextBox 20"/>
          <p:cNvSpPr txBox="1"/>
          <p:nvPr/>
        </p:nvSpPr>
        <p:spPr>
          <a:xfrm>
            <a:off x="4297680" y="4416552"/>
            <a:ext cx="6858000" cy="274320"/>
          </a:xfrm>
          <a:prstGeom prst="rect">
            <a:avLst/>
          </a:prstGeom>
          <a:noFill/>
        </p:spPr>
        <p:txBody>
          <a:bodyPr wrap="square" anchor="t" lIns="0" rIns="0" tIns="0" bIns="0">
            <a:spAutoFit/>
          </a:bodyPr>
          <a:lstStyle/>
          <a:p>
            <a:pPr algn="l">
              <a:lnSpc>
                <a:spcPct val="125000"/>
              </a:lnSpc>
            </a:pPr>
            <a:r>
              <a:rPr sz="1200" b="0">
                <a:solidFill>
                  <a:srgbClr val="F2707A"/>
                </a:solidFill>
                <a:latin typeface="맑은 고딕"/>
              </a:rPr>
              <a:t>다음 1회차를 넘어감 → 거절 (LEAVE_DATE_TOO_FAR)</a:t>
            </a:r>
          </a:p>
        </p:txBody>
      </p:sp>
      <p:sp>
        <p:nvSpPr>
          <p:cNvPr id="22" name="Rectangle 21"/>
          <p:cNvSpPr/>
          <p:nvPr/>
        </p:nvSpPr>
        <p:spPr>
          <a:xfrm>
            <a:off x="868680" y="4983480"/>
            <a:ext cx="45720" cy="822960"/>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400" y="4983480"/>
            <a:ext cx="10469880" cy="82296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5129784"/>
            <a:ext cx="9966960" cy="54864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왜 나눴나 — 다음 기산일 이후의 날짜는 아직 부여되지도 않은 연차입니다. 그걸 지금 잔액에서 깎으면 올해 쓸 수 있는 날이 부당하게 줄고, 기산일이 지나면 같은 날이 두 번 깎이는 형태로 어긋납니다. 그래서 신청·복구·리셋 이월이 전부 같은 “회차 창” 하나를 기준으로 판단합니다.</a:t>
            </a:r>
          </a:p>
        </p:txBody>
      </p:sp>
      <p:sp>
        <p:nvSpPr>
          <p:cNvPr id="25" name="TextBox 24"/>
          <p:cNvSpPr txBox="1"/>
          <p:nvPr/>
        </p:nvSpPr>
        <p:spPr>
          <a:xfrm>
            <a:off x="868680" y="598932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불변식: use_days = 살아 있는 신청 중 현재 회차 창 안의 날짜 합</a:t>
            </a:r>
          </a:p>
        </p:txBody>
      </p:sp>
      <p:sp>
        <p:nvSpPr>
          <p:cNvPr id="26" name="TextBox 25"/>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DECISION B</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B. 당겨쓴 일수는 “저장”이 아니라 “계산”이다</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Rounded Rectangle 5"/>
          <p:cNvSpPr/>
          <p:nvPr/>
        </p:nvSpPr>
        <p:spPr>
          <a:xfrm>
            <a:off x="868680" y="1371600"/>
            <a:ext cx="10515600" cy="685800"/>
          </a:xfrm>
          <a:prstGeom prst="roundRect">
            <a:avLst>
              <a:gd name="adj" fmla="val 6000"/>
            </a:avLst>
          </a:prstGeom>
          <a:solidFill>
            <a:srgbClr val="182438"/>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554480"/>
            <a:ext cx="10058400" cy="365760"/>
          </a:xfrm>
          <a:prstGeom prst="rect">
            <a:avLst/>
          </a:prstGeom>
          <a:noFill/>
        </p:spPr>
        <p:txBody>
          <a:bodyPr wrap="square" anchor="t" lIns="0" rIns="0" tIns="0" bIns="0">
            <a:spAutoFit/>
          </a:bodyPr>
          <a:lstStyle/>
          <a:p>
            <a:pPr algn="l">
              <a:lnSpc>
                <a:spcPct val="125000"/>
              </a:lnSpc>
            </a:pPr>
            <a:r>
              <a:rPr sz="1600" b="1">
                <a:solidFill>
                  <a:srgbClr val="4FB8E8"/>
                </a:solidFill>
                <a:latin typeface="Consolas"/>
              </a:rPr>
              <a:t>advance_days = max(0,  use_days − base_days − bonus_days)</a:t>
            </a:r>
          </a:p>
        </p:txBody>
      </p:sp>
      <p:sp>
        <p:nvSpPr>
          <p:cNvPr id="8" name="TextBox 7"/>
          <p:cNvSpPr txBox="1"/>
          <p:nvPr/>
        </p:nvSpPr>
        <p:spPr>
          <a:xfrm>
            <a:off x="868680" y="2286000"/>
            <a:ext cx="10515600" cy="1463040"/>
          </a:xfrm>
          <a:prstGeom prst="rect">
            <a:avLst/>
          </a:prstGeom>
          <a:noFill/>
        </p:spPr>
        <p:txBody>
          <a:bodyPr wrap="square" anchor="t" lIns="0" rIns="0" tIns="0" bIns="0">
            <a:spAutoFit/>
          </a:bodyPr>
          <a:lstStyle/>
          <a:p>
            <a:pPr algn="l">
              <a:lnSpc>
                <a:spcPct val="150000"/>
              </a:lnSpc>
            </a:pPr>
            <a:r>
              <a:rPr sz="1400" b="1">
                <a:solidFill>
                  <a:srgbClr val="EDB44F"/>
                </a:solidFill>
                <a:latin typeface="맑은 고딕"/>
              </a:rPr>
              <a:t>겪은 문제</a:t>
            </a:r>
          </a:p>
          <a:p>
            <a:pPr algn="l">
              <a:lnSpc>
                <a:spcPct val="150000"/>
              </a:lnSpc>
            </a:pPr>
            <a:r>
              <a:rPr sz="1250" b="0">
                <a:solidFill>
                  <a:srgbClr val="9AABC4"/>
                </a:solidFill>
                <a:latin typeface="맑은 고딕"/>
              </a:rPr>
              <a:t>당겨쓴 일수를 여러 곳에서 각자 더하고 빼다 보니, 어떤 경로로 취소하느냐에 따라 값이 달라졌습니다. 화면마다 다른 숫자가 나오는 전형적인 형태입니다.</a:t>
            </a:r>
          </a:p>
        </p:txBody>
      </p:sp>
      <p:sp>
        <p:nvSpPr>
          <p:cNvPr id="9" name="TextBox 8"/>
          <p:cNvSpPr txBox="1"/>
          <p:nvPr/>
        </p:nvSpPr>
        <p:spPr>
          <a:xfrm>
            <a:off x="868680" y="3657600"/>
            <a:ext cx="10515600" cy="1828800"/>
          </a:xfrm>
          <a:prstGeom prst="rect">
            <a:avLst/>
          </a:prstGeom>
          <a:noFill/>
        </p:spPr>
        <p:txBody>
          <a:bodyPr wrap="square" anchor="t" lIns="0" rIns="0" tIns="0" bIns="0">
            <a:spAutoFit/>
          </a:bodyPr>
          <a:lstStyle/>
          <a:p>
            <a:pPr algn="l">
              <a:lnSpc>
                <a:spcPct val="150000"/>
              </a:lnSpc>
            </a:pPr>
            <a:r>
              <a:rPr sz="1400" b="1">
                <a:solidFill>
                  <a:srgbClr val="4FD39C"/>
                </a:solidFill>
                <a:latin typeface="맑은 고딕"/>
              </a:rPr>
              <a:t>고친 방식</a:t>
            </a:r>
          </a:p>
          <a:p>
            <a:pPr algn="l">
              <a:lnSpc>
                <a:spcPct val="150000"/>
              </a:lnSpc>
            </a:pPr>
            <a:r>
              <a:rPr sz="1250" b="0">
                <a:solidFill>
                  <a:srgbClr val="9AABC4"/>
                </a:solidFill>
                <a:latin typeface="맑은 고딕"/>
              </a:rPr>
              <a:t>· 이 필드에 값을 쓰는 코드는 User.syncAdvanceDays() 하나뿐입니다</a:t>
            </a:r>
          </a:p>
          <a:p>
            <a:pPr algn="l">
              <a:lnSpc>
                <a:spcPct val="150000"/>
              </a:lnSpc>
            </a:pPr>
            <a:r>
              <a:rPr sz="1250" b="0">
                <a:solidFill>
                  <a:srgbClr val="9AABC4"/>
                </a:solidFill>
                <a:latin typeface="맑은 고딕"/>
              </a:rPr>
              <a:t>· 잔액 3필드를 바꾸는 도메인 메서드 6개가 마지막에 반드시 그걸 부릅니다 (리셋도 예외 없이)</a:t>
            </a:r>
          </a:p>
          <a:p>
            <a:pPr algn="l">
              <a:lnSpc>
                <a:spcPct val="150000"/>
              </a:lnSpc>
            </a:pPr>
            <a:r>
              <a:rPr sz="1250" b="0">
                <a:solidFill>
                  <a:srgbClr val="9AABC4"/>
                </a:solidFill>
                <a:latin typeface="맑은 고딕"/>
              </a:rPr>
              <a:t>· 저장 직전 @PrePersist/@PreUpdate가 한 번 더 재계산합니다 — 그물이지 대체재는 아닙니다</a:t>
            </a:r>
          </a:p>
          <a:p>
            <a:pPr algn="l">
              <a:lnSpc>
                <a:spcPct val="150000"/>
              </a:lnSpc>
            </a:pPr>
            <a:r>
              <a:rPr sz="1250" b="0">
                <a:solidFill>
                  <a:srgbClr val="9AABC4"/>
                </a:solidFill>
                <a:latin typeface="맑은 고딕"/>
              </a:rPr>
              <a:t>· 채무 계산식도 User.carryOverDebt 한 곳뿐 — 이력이 자기 식을 갖고 있던 게 실제 결함이었습니다</a:t>
            </a:r>
          </a:p>
        </p:txBody>
      </p:sp>
      <p:sp>
        <p:nvSpPr>
          <p:cNvPr id="10" name="TextBox 9"/>
          <p:cNvSpPr txBox="1"/>
          <p:nvPr/>
        </p:nvSpPr>
        <p:spPr>
          <a:xfrm>
            <a:off x="868680" y="598932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같은 원칙: 다음 회차 예약분도 필드로 두지 않고 leave_dates에서 집계한다</a:t>
            </a:r>
          </a:p>
        </p:txBody>
      </p:sp>
      <p:sp>
        <p:nvSpPr>
          <p:cNvPr id="11" name="TextBox 10"/>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DECISION C</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C. 스케줄러에서 순서와 트랜잭션이 곧 정합성</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Rounded Rectangle 5"/>
          <p:cNvSpPr/>
          <p:nvPr/>
        </p:nvSpPr>
        <p:spPr>
          <a:xfrm>
            <a:off x="868680" y="1463040"/>
            <a:ext cx="3337560" cy="19202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45920"/>
            <a:ext cx="2926080" cy="274320"/>
          </a:xfrm>
          <a:prstGeom prst="rect">
            <a:avLst/>
          </a:prstGeom>
          <a:noFill/>
        </p:spPr>
        <p:txBody>
          <a:bodyPr wrap="square" anchor="t" lIns="0" rIns="0" tIns="0" bIns="0">
            <a:spAutoFit/>
          </a:bodyPr>
          <a:lstStyle/>
          <a:p>
            <a:pPr algn="l">
              <a:lnSpc>
                <a:spcPct val="125000"/>
              </a:lnSpc>
            </a:pPr>
            <a:r>
              <a:rPr sz="1100" b="0">
                <a:solidFill>
                  <a:srgbClr val="6F8099"/>
                </a:solidFill>
                <a:latin typeface="Consolas"/>
              </a:rPr>
              <a:t>실행 순서</a:t>
            </a:r>
          </a:p>
        </p:txBody>
      </p:sp>
      <p:sp>
        <p:nvSpPr>
          <p:cNvPr id="8" name="TextBox 7"/>
          <p:cNvSpPr txBox="1"/>
          <p:nvPr/>
        </p:nvSpPr>
        <p:spPr>
          <a:xfrm>
            <a:off x="1097280" y="1938528"/>
            <a:ext cx="2926080" cy="457200"/>
          </a:xfrm>
          <a:prstGeom prst="rect">
            <a:avLst/>
          </a:prstGeom>
          <a:noFill/>
        </p:spPr>
        <p:txBody>
          <a:bodyPr wrap="square" anchor="t" lIns="0" rIns="0" tIns="0" bIns="0">
            <a:spAutoFit/>
          </a:bodyPr>
          <a:lstStyle/>
          <a:p>
            <a:pPr algn="l">
              <a:lnSpc>
                <a:spcPct val="125000"/>
              </a:lnSpc>
            </a:pPr>
            <a:r>
              <a:rPr sz="1300" b="1">
                <a:solidFill>
                  <a:srgbClr val="4FB8E8"/>
                </a:solidFill>
                <a:latin typeface="맑은 고딕"/>
              </a:rPr>
              <a:t>리셋 → 월차 → 생일 → 안내 → 파기</a:t>
            </a:r>
          </a:p>
        </p:txBody>
      </p:sp>
      <p:sp>
        <p:nvSpPr>
          <p:cNvPr id="9" name="TextBox 8"/>
          <p:cNvSpPr txBox="1"/>
          <p:nvPr/>
        </p:nvSpPr>
        <p:spPr>
          <a:xfrm>
            <a:off x="1097280" y="2514600"/>
            <a:ext cx="2926080" cy="777240"/>
          </a:xfrm>
          <a:prstGeom prst="rect">
            <a:avLst/>
          </a:prstGeom>
          <a:noFill/>
        </p:spPr>
        <p:txBody>
          <a:bodyPr wrap="square" anchor="t" lIns="0" rIns="0" tIns="0" bIns="0">
            <a:spAutoFit/>
          </a:bodyPr>
          <a:lstStyle/>
          <a:p>
            <a:pPr algn="l">
              <a:lnSpc>
                <a:spcPct val="135000"/>
              </a:lnSpc>
            </a:pPr>
            <a:r>
              <a:rPr sz="1050" b="0">
                <a:solidFill>
                  <a:srgbClr val="9AABC4"/>
                </a:solidFill>
                <a:latin typeface="맑은 고딕"/>
              </a:rPr>
              <a:t>바꾸면 생일 반차가 증발하거나</a:t>
            </a:r>
          </a:p>
          <a:p>
            <a:pPr algn="l">
              <a:lnSpc>
                <a:spcPct val="135000"/>
              </a:lnSpc>
            </a:pPr>
            <a:r>
              <a:rPr sz="1050" b="0">
                <a:solidFill>
                  <a:srgbClr val="9AABC4"/>
                </a:solidFill>
                <a:latin typeface="맑은 고딕"/>
              </a:rPr>
              <a:t>1주년에 유령 적립이 남는다</a:t>
            </a:r>
          </a:p>
        </p:txBody>
      </p:sp>
      <p:sp>
        <p:nvSpPr>
          <p:cNvPr id="10" name="Rounded Rectangle 9"/>
          <p:cNvSpPr/>
          <p:nvPr/>
        </p:nvSpPr>
        <p:spPr>
          <a:xfrm>
            <a:off x="4434840" y="1463040"/>
            <a:ext cx="3337560" cy="19202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645920"/>
            <a:ext cx="2926080" cy="274320"/>
          </a:xfrm>
          <a:prstGeom prst="rect">
            <a:avLst/>
          </a:prstGeom>
          <a:noFill/>
        </p:spPr>
        <p:txBody>
          <a:bodyPr wrap="square" anchor="t" lIns="0" rIns="0" tIns="0" bIns="0">
            <a:spAutoFit/>
          </a:bodyPr>
          <a:lstStyle/>
          <a:p>
            <a:pPr algn="l">
              <a:lnSpc>
                <a:spcPct val="125000"/>
              </a:lnSpc>
            </a:pPr>
            <a:r>
              <a:rPr sz="1100" b="0">
                <a:solidFill>
                  <a:srgbClr val="6F8099"/>
                </a:solidFill>
                <a:latin typeface="Consolas"/>
              </a:rPr>
              <a:t>트랜잭션 단위</a:t>
            </a:r>
          </a:p>
        </p:txBody>
      </p:sp>
      <p:sp>
        <p:nvSpPr>
          <p:cNvPr id="12" name="TextBox 11"/>
          <p:cNvSpPr txBox="1"/>
          <p:nvPr/>
        </p:nvSpPr>
        <p:spPr>
          <a:xfrm>
            <a:off x="4663440" y="1938528"/>
            <a:ext cx="2926080" cy="457200"/>
          </a:xfrm>
          <a:prstGeom prst="rect">
            <a:avLst/>
          </a:prstGeom>
          <a:noFill/>
        </p:spPr>
        <p:txBody>
          <a:bodyPr wrap="square" anchor="t" lIns="0" rIns="0" tIns="0" bIns="0">
            <a:spAutoFit/>
          </a:bodyPr>
          <a:lstStyle/>
          <a:p>
            <a:pPr algn="l">
              <a:lnSpc>
                <a:spcPct val="125000"/>
              </a:lnSpc>
            </a:pPr>
            <a:r>
              <a:rPr sz="1300" b="1">
                <a:solidFill>
                  <a:srgbClr val="4FB8E8"/>
                </a:solidFill>
                <a:latin typeface="맑은 고딕"/>
              </a:rPr>
              <a:t>사원 1명 = 1트랜잭션</a:t>
            </a:r>
          </a:p>
        </p:txBody>
      </p:sp>
      <p:sp>
        <p:nvSpPr>
          <p:cNvPr id="13" name="TextBox 12"/>
          <p:cNvSpPr txBox="1"/>
          <p:nvPr/>
        </p:nvSpPr>
        <p:spPr>
          <a:xfrm>
            <a:off x="4663440" y="2514600"/>
            <a:ext cx="2926080" cy="777240"/>
          </a:xfrm>
          <a:prstGeom prst="rect">
            <a:avLst/>
          </a:prstGeom>
          <a:noFill/>
        </p:spPr>
        <p:txBody>
          <a:bodyPr wrap="square" anchor="t" lIns="0" rIns="0" tIns="0" bIns="0">
            <a:spAutoFit/>
          </a:bodyPr>
          <a:lstStyle/>
          <a:p>
            <a:pPr algn="l">
              <a:lnSpc>
                <a:spcPct val="135000"/>
              </a:lnSpc>
            </a:pPr>
            <a:r>
              <a:rPr sz="1050" b="0">
                <a:solidFill>
                  <a:srgbClr val="9AABC4"/>
                </a:solidFill>
                <a:latin typeface="맑은 고딕"/>
              </a:rPr>
              <a:t>낙관적 락이 있어 한 덩어리로 묶으면</a:t>
            </a:r>
          </a:p>
          <a:p>
            <a:pPr algn="l">
              <a:lnSpc>
                <a:spcPct val="135000"/>
              </a:lnSpc>
            </a:pPr>
            <a:r>
              <a:rPr sz="1050" b="0">
                <a:solidFill>
                  <a:srgbClr val="9AABC4"/>
                </a:solidFill>
                <a:latin typeface="맑은 고딕"/>
              </a:rPr>
              <a:t>1명 충돌에 전원 롤백</a:t>
            </a:r>
          </a:p>
        </p:txBody>
      </p:sp>
      <p:sp>
        <p:nvSpPr>
          <p:cNvPr id="14" name="Rounded Rectangle 13"/>
          <p:cNvSpPr/>
          <p:nvPr/>
        </p:nvSpPr>
        <p:spPr>
          <a:xfrm>
            <a:off x="8001000" y="1463040"/>
            <a:ext cx="3337560" cy="19202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645920"/>
            <a:ext cx="2926080" cy="274320"/>
          </a:xfrm>
          <a:prstGeom prst="rect">
            <a:avLst/>
          </a:prstGeom>
          <a:noFill/>
        </p:spPr>
        <p:txBody>
          <a:bodyPr wrap="square" anchor="t" lIns="0" rIns="0" tIns="0" bIns="0">
            <a:spAutoFit/>
          </a:bodyPr>
          <a:lstStyle/>
          <a:p>
            <a:pPr algn="l">
              <a:lnSpc>
                <a:spcPct val="125000"/>
              </a:lnSpc>
            </a:pPr>
            <a:r>
              <a:rPr sz="1100" b="0">
                <a:solidFill>
                  <a:srgbClr val="6F8099"/>
                </a:solidFill>
                <a:latin typeface="Consolas"/>
              </a:rPr>
              <a:t>루프의 위치</a:t>
            </a:r>
          </a:p>
        </p:txBody>
      </p:sp>
      <p:sp>
        <p:nvSpPr>
          <p:cNvPr id="16" name="TextBox 15"/>
          <p:cNvSpPr txBox="1"/>
          <p:nvPr/>
        </p:nvSpPr>
        <p:spPr>
          <a:xfrm>
            <a:off x="8229600" y="1938528"/>
            <a:ext cx="2926080" cy="457200"/>
          </a:xfrm>
          <a:prstGeom prst="rect">
            <a:avLst/>
          </a:prstGeom>
          <a:noFill/>
        </p:spPr>
        <p:txBody>
          <a:bodyPr wrap="square" anchor="t" lIns="0" rIns="0" tIns="0" bIns="0">
            <a:spAutoFit/>
          </a:bodyPr>
          <a:lstStyle/>
          <a:p>
            <a:pPr algn="l">
              <a:lnSpc>
                <a:spcPct val="125000"/>
              </a:lnSpc>
            </a:pPr>
            <a:r>
              <a:rPr sz="1300" b="1">
                <a:solidFill>
                  <a:srgbClr val="4FB8E8"/>
                </a:solidFill>
                <a:latin typeface="맑은 고딕"/>
              </a:rPr>
              <a:t>진입점에서 사원별로 돈다</a:t>
            </a:r>
          </a:p>
        </p:txBody>
      </p:sp>
      <p:sp>
        <p:nvSpPr>
          <p:cNvPr id="17" name="TextBox 16"/>
          <p:cNvSpPr txBox="1"/>
          <p:nvPr/>
        </p:nvSpPr>
        <p:spPr>
          <a:xfrm>
            <a:off x="8229600" y="2514600"/>
            <a:ext cx="2926080" cy="777240"/>
          </a:xfrm>
          <a:prstGeom prst="rect">
            <a:avLst/>
          </a:prstGeom>
          <a:noFill/>
        </p:spPr>
        <p:txBody>
          <a:bodyPr wrap="square" anchor="t" lIns="0" rIns="0" tIns="0" bIns="0">
            <a:spAutoFit/>
          </a:bodyPr>
          <a:lstStyle/>
          <a:p>
            <a:pPr algn="l">
              <a:lnSpc>
                <a:spcPct val="135000"/>
              </a:lnSpc>
            </a:pPr>
            <a:r>
              <a:rPr sz="1050" b="0">
                <a:solidFill>
                  <a:srgbClr val="9AABC4"/>
                </a:solidFill>
                <a:latin typeface="맑은 고딕"/>
              </a:rPr>
              <a:t>서비스가 자기 메서드를 부르면</a:t>
            </a:r>
          </a:p>
          <a:p>
            <a:pPr algn="l">
              <a:lnSpc>
                <a:spcPct val="135000"/>
              </a:lnSpc>
            </a:pPr>
            <a:r>
              <a:rPr sz="1050" b="0">
                <a:solidFill>
                  <a:srgbClr val="9AABC4"/>
                </a:solidFill>
                <a:latin typeface="맑은 고딕"/>
              </a:rPr>
              <a:t>프록시를 안 타 경계가 안 생긴다</a:t>
            </a:r>
          </a:p>
        </p:txBody>
      </p:sp>
      <p:sp>
        <p:nvSpPr>
          <p:cNvPr id="18" name="TextBox 17"/>
          <p:cNvSpPr txBox="1"/>
          <p:nvPr/>
        </p:nvSpPr>
        <p:spPr>
          <a:xfrm>
            <a:off x="868680" y="3657600"/>
            <a:ext cx="10515600" cy="2011680"/>
          </a:xfrm>
          <a:prstGeom prst="rect">
            <a:avLst/>
          </a:prstGeom>
          <a:noFill/>
        </p:spPr>
        <p:txBody>
          <a:bodyPr wrap="square" anchor="t" lIns="0" rIns="0" tIns="0" bIns="0">
            <a:spAutoFit/>
          </a:bodyPr>
          <a:lstStyle/>
          <a:p>
            <a:pPr algn="l">
              <a:lnSpc>
                <a:spcPct val="145000"/>
              </a:lnSpc>
            </a:pPr>
            <a:r>
              <a:rPr sz="1400" b="1">
                <a:solidFill>
                  <a:srgbClr val="EDB44F"/>
                </a:solidFill>
                <a:latin typeface="맑은 고딕"/>
              </a:rPr>
              <a:t>작지만 값비쌌던 두 가지</a:t>
            </a:r>
          </a:p>
          <a:p>
            <a:pPr algn="l">
              <a:lnSpc>
                <a:spcPct val="145000"/>
              </a:lnSpc>
            </a:pPr>
            <a:r>
              <a:rPr sz="1200" b="0">
                <a:solidFill>
                  <a:srgbClr val="9AABC4"/>
                </a:solidFill>
                <a:latin typeface="맑은 고딕"/>
              </a:rPr>
              <a:t>· 월차 지급일은 직전 지급일 +1개월이 아니라 “입사일 + N개월”로 계산합니다. 한 달씩 더하면 말일 클램프가 누적돼(1/31 → 2/28 → 3/28) 지급일이 앞당겨집니다</a:t>
            </a:r>
          </a:p>
          <a:p>
            <a:pPr algn="l">
              <a:lnSpc>
                <a:spcPct val="145000"/>
              </a:lnSpc>
            </a:pPr>
            <a:r>
              <a:rPr sz="1200" b="0">
                <a:solidFill>
                  <a:srgbClr val="9AABC4"/>
                </a:solidFill>
                <a:latin typeface="맑은 고딕"/>
              </a:rPr>
              <a:t>· 지급 횟수는 날짜에서 역산하지 않고 카운터로 셉니다. 역산하면 1/31과 2/28 사이가 “0개월”이라 매달 다시 지급됩니다</a:t>
            </a:r>
          </a:p>
          <a:p>
            <a:pPr algn="l">
              <a:lnSpc>
                <a:spcPct val="145000"/>
              </a:lnSpc>
            </a:pPr>
            <a:r>
              <a:rPr sz="1200" b="0">
                <a:solidFill>
                  <a:srgbClr val="9AABC4"/>
                </a:solidFill>
                <a:latin typeface="맑은 고딕"/>
              </a:rPr>
              <a:t>· 리셋의 이월 집계는 회차마다 그 회차 기산일로 다시 셉니다. 마지막 기준으로 한 번에 계산하면 1차 연도 귀속분이 한 회차 일찍 빠집니다</a:t>
            </a:r>
          </a:p>
        </p:txBody>
      </p:sp>
      <p:sp>
        <p:nvSpPr>
          <p:cNvPr id="19" name="TextBox 18"/>
          <p:cNvSpPr txBox="1"/>
          <p:nvPr/>
        </p:nvSpPr>
        <p:spPr>
          <a:xfrm>
            <a:off x="868680" y="598932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docs/09-스케줄러-설계.md — 검산 포함</a:t>
            </a:r>
          </a:p>
        </p:txBody>
      </p:sp>
      <p:sp>
        <p:nvSpPr>
          <p:cNvPr id="20" name="TextBox 19"/>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DECISION D</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D. 테스트가 절대 못 잡는 변경이 있다</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TextBox 5"/>
          <p:cNvSpPr txBox="1"/>
          <p:nvPr/>
        </p:nvSpPr>
        <p:spPr>
          <a:xfrm>
            <a:off x="868680" y="1325880"/>
            <a:ext cx="10515600" cy="320040"/>
          </a:xfrm>
          <a:prstGeom prst="rect">
            <a:avLst/>
          </a:prstGeom>
          <a:noFill/>
        </p:spPr>
        <p:txBody>
          <a:bodyPr wrap="square" anchor="t" lIns="0" rIns="0" tIns="0" bIns="0">
            <a:spAutoFit/>
          </a:bodyPr>
          <a:lstStyle/>
          <a:p>
            <a:pPr algn="l">
              <a:lnSpc>
                <a:spcPct val="125000"/>
              </a:lnSpc>
            </a:pPr>
            <a:r>
              <a:rPr sz="1300" b="0">
                <a:solidFill>
                  <a:srgbClr val="9AABC4"/>
                </a:solidFill>
                <a:latin typeface="맑은 고딕"/>
              </a:rPr>
              <a:t>enum에 상수 한 줄을 추가하는 것도 스키마 변경입니다. 이건 실제로 두 번 겪었습니다.</a:t>
            </a:r>
          </a:p>
        </p:txBody>
      </p:sp>
      <p:sp>
        <p:nvSpPr>
          <p:cNvPr id="7" name="Rounded Rectangle 6"/>
          <p:cNvSpPr/>
          <p:nvPr/>
        </p:nvSpPr>
        <p:spPr>
          <a:xfrm>
            <a:off x="868680" y="1874519"/>
            <a:ext cx="10515600" cy="603504"/>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48255"/>
            <a:ext cx="2926080" cy="274320"/>
          </a:xfrm>
          <a:prstGeom prst="rect">
            <a:avLst/>
          </a:prstGeom>
          <a:noFill/>
        </p:spPr>
        <p:txBody>
          <a:bodyPr wrap="square" anchor="t" lIns="0" rIns="0" tIns="0" bIns="0">
            <a:spAutoFit/>
          </a:bodyPr>
          <a:lstStyle/>
          <a:p>
            <a:pPr algn="l">
              <a:lnSpc>
                <a:spcPct val="125000"/>
              </a:lnSpc>
            </a:pPr>
            <a:r>
              <a:rPr sz="1250" b="1">
                <a:solidFill>
                  <a:srgbClr val="F2707A"/>
                </a:solidFill>
                <a:latin typeface="맑은 고딕"/>
              </a:rPr>
              <a:t>왜 테스트가 못 잡나</a:t>
            </a:r>
          </a:p>
        </p:txBody>
      </p:sp>
      <p:sp>
        <p:nvSpPr>
          <p:cNvPr id="9" name="TextBox 8"/>
          <p:cNvSpPr txBox="1"/>
          <p:nvPr/>
        </p:nvSpPr>
        <p:spPr>
          <a:xfrm>
            <a:off x="4206240" y="2057399"/>
            <a:ext cx="6858000" cy="274320"/>
          </a:xfrm>
          <a:prstGeom prst="rect">
            <a:avLst/>
          </a:prstGeom>
          <a:noFill/>
        </p:spPr>
        <p:txBody>
          <a:bodyPr wrap="square" anchor="t" lIns="0" rIns="0" tIns="0" bIns="0">
            <a:spAutoFit/>
          </a:bodyPr>
          <a:lstStyle/>
          <a:p>
            <a:pPr algn="l">
              <a:lnSpc>
                <a:spcPct val="125000"/>
              </a:lnSpc>
            </a:pPr>
            <a:r>
              <a:rPr sz="1150" b="0">
                <a:solidFill>
                  <a:srgbClr val="9AABC4"/>
                </a:solidFill>
                <a:latin typeface="맑은 고딕"/>
              </a:rPr>
              <a:t>테스트 DB(H2)는 매번 엔티티에서 스키마를 새로 만들어 새 값이 항상 들어 있다</a:t>
            </a:r>
          </a:p>
        </p:txBody>
      </p:sp>
      <p:sp>
        <p:nvSpPr>
          <p:cNvPr id="10" name="Rounded Rectangle 9"/>
          <p:cNvSpPr/>
          <p:nvPr/>
        </p:nvSpPr>
        <p:spPr>
          <a:xfrm>
            <a:off x="868680" y="2560319"/>
            <a:ext cx="10515600" cy="603504"/>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734055"/>
            <a:ext cx="2926080" cy="274320"/>
          </a:xfrm>
          <a:prstGeom prst="rect">
            <a:avLst/>
          </a:prstGeom>
          <a:noFill/>
        </p:spPr>
        <p:txBody>
          <a:bodyPr wrap="square" anchor="t" lIns="0" rIns="0" tIns="0" bIns="0">
            <a:spAutoFit/>
          </a:bodyPr>
          <a:lstStyle/>
          <a:p>
            <a:pPr algn="l">
              <a:lnSpc>
                <a:spcPct val="125000"/>
              </a:lnSpc>
            </a:pPr>
            <a:r>
              <a:rPr sz="1250" b="1">
                <a:solidFill>
                  <a:srgbClr val="F2707A"/>
                </a:solidFill>
                <a:latin typeface="맑은 고딕"/>
              </a:rPr>
              <a:t>왜 기동도 안 막나</a:t>
            </a:r>
          </a:p>
        </p:txBody>
      </p:sp>
      <p:sp>
        <p:nvSpPr>
          <p:cNvPr id="12" name="TextBox 11"/>
          <p:cNvSpPr txBox="1"/>
          <p:nvPr/>
        </p:nvSpPr>
        <p:spPr>
          <a:xfrm>
            <a:off x="4206240" y="2743199"/>
            <a:ext cx="6858000" cy="274320"/>
          </a:xfrm>
          <a:prstGeom prst="rect">
            <a:avLst/>
          </a:prstGeom>
          <a:noFill/>
        </p:spPr>
        <p:txBody>
          <a:bodyPr wrap="square" anchor="t" lIns="0" rIns="0" tIns="0" bIns="0">
            <a:spAutoFit/>
          </a:bodyPr>
          <a:lstStyle/>
          <a:p>
            <a:pPr algn="l">
              <a:lnSpc>
                <a:spcPct val="125000"/>
              </a:lnSpc>
            </a:pPr>
            <a:r>
              <a:rPr sz="1150" b="0">
                <a:solidFill>
                  <a:srgbClr val="9AABC4"/>
                </a:solidFill>
                <a:latin typeface="맑은 고딕"/>
              </a:rPr>
              <a:t>운영의 스키마 검증은 ENUM 값 목록까지 보지 않는다 — 기동은 정상</a:t>
            </a:r>
          </a:p>
        </p:txBody>
      </p:sp>
      <p:sp>
        <p:nvSpPr>
          <p:cNvPr id="13" name="Rounded Rectangle 12"/>
          <p:cNvSpPr/>
          <p:nvPr/>
        </p:nvSpPr>
        <p:spPr>
          <a:xfrm>
            <a:off x="868680" y="3246119"/>
            <a:ext cx="10515600" cy="603504"/>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419855"/>
            <a:ext cx="2926080" cy="274320"/>
          </a:xfrm>
          <a:prstGeom prst="rect">
            <a:avLst/>
          </a:prstGeom>
          <a:noFill/>
        </p:spPr>
        <p:txBody>
          <a:bodyPr wrap="square" anchor="t" lIns="0" rIns="0" tIns="0" bIns="0">
            <a:spAutoFit/>
          </a:bodyPr>
          <a:lstStyle/>
          <a:p>
            <a:pPr algn="l">
              <a:lnSpc>
                <a:spcPct val="125000"/>
              </a:lnSpc>
            </a:pPr>
            <a:r>
              <a:rPr sz="1250" b="1">
                <a:solidFill>
                  <a:srgbClr val="F2707A"/>
                </a:solidFill>
                <a:latin typeface="맑은 고딕"/>
              </a:rPr>
              <a:t>그래서 어디서 터지나</a:t>
            </a:r>
          </a:p>
        </p:txBody>
      </p:sp>
      <p:sp>
        <p:nvSpPr>
          <p:cNvPr id="15" name="TextBox 14"/>
          <p:cNvSpPr txBox="1"/>
          <p:nvPr/>
        </p:nvSpPr>
        <p:spPr>
          <a:xfrm>
            <a:off x="4206240" y="3428999"/>
            <a:ext cx="6858000" cy="274320"/>
          </a:xfrm>
          <a:prstGeom prst="rect">
            <a:avLst/>
          </a:prstGeom>
          <a:noFill/>
        </p:spPr>
        <p:txBody>
          <a:bodyPr wrap="square" anchor="t" lIns="0" rIns="0" tIns="0" bIns="0">
            <a:spAutoFit/>
          </a:bodyPr>
          <a:lstStyle/>
          <a:p>
            <a:pPr algn="l">
              <a:lnSpc>
                <a:spcPct val="125000"/>
              </a:lnSpc>
            </a:pPr>
            <a:r>
              <a:rPr sz="1150" b="0">
                <a:solidFill>
                  <a:srgbClr val="9AABC4"/>
                </a:solidFill>
                <a:latin typeface="맑은 고딕"/>
              </a:rPr>
              <a:t>그 값을 처음 저장하는 사용자 요청에서 500. 컬럼 누락보다 조용하다</a:t>
            </a:r>
          </a:p>
        </p:txBody>
      </p:sp>
      <p:sp>
        <p:nvSpPr>
          <p:cNvPr id="16" name="Rounded Rectangle 15"/>
          <p:cNvSpPr/>
          <p:nvPr/>
        </p:nvSpPr>
        <p:spPr>
          <a:xfrm>
            <a:off x="868680" y="3931919"/>
            <a:ext cx="10515600" cy="603504"/>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105655"/>
            <a:ext cx="2926080" cy="274320"/>
          </a:xfrm>
          <a:prstGeom prst="rect">
            <a:avLst/>
          </a:prstGeom>
          <a:noFill/>
        </p:spPr>
        <p:txBody>
          <a:bodyPr wrap="square" anchor="t" lIns="0" rIns="0" tIns="0" bIns="0">
            <a:spAutoFit/>
          </a:bodyPr>
          <a:lstStyle/>
          <a:p>
            <a:pPr algn="l">
              <a:lnSpc>
                <a:spcPct val="125000"/>
              </a:lnSpc>
            </a:pPr>
            <a:r>
              <a:rPr sz="1250" b="1">
                <a:solidFill>
                  <a:srgbClr val="EDB44F"/>
                </a:solidFill>
                <a:latin typeface="맑은 고딕"/>
              </a:rPr>
              <a:t>실제로 먼저 터진 것</a:t>
            </a:r>
          </a:p>
        </p:txBody>
      </p:sp>
      <p:sp>
        <p:nvSpPr>
          <p:cNvPr id="18" name="TextBox 17"/>
          <p:cNvSpPr txBox="1"/>
          <p:nvPr/>
        </p:nvSpPr>
        <p:spPr>
          <a:xfrm>
            <a:off x="4206240" y="4114799"/>
            <a:ext cx="6858000" cy="274320"/>
          </a:xfrm>
          <a:prstGeom prst="rect">
            <a:avLst/>
          </a:prstGeom>
          <a:noFill/>
        </p:spPr>
        <p:txBody>
          <a:bodyPr wrap="square" anchor="t" lIns="0" rIns="0" tIns="0" bIns="0">
            <a:spAutoFit/>
          </a:bodyPr>
          <a:lstStyle/>
          <a:p>
            <a:pPr algn="l">
              <a:lnSpc>
                <a:spcPct val="125000"/>
              </a:lnSpc>
            </a:pPr>
            <a:r>
              <a:rPr sz="1150" b="0">
                <a:solidFill>
                  <a:srgbClr val="9AABC4"/>
                </a:solidFill>
                <a:latin typeface="맑은 고딕"/>
              </a:rPr>
              <a:t>ENUM보다 NOT NULL 해제 누락이 먼저였다 (파기 시 사유 본문 비우기)</a:t>
            </a:r>
          </a:p>
        </p:txBody>
      </p:sp>
      <p:sp>
        <p:nvSpPr>
          <p:cNvPr id="19" name="Rounded Rectangle 18"/>
          <p:cNvSpPr/>
          <p:nvPr/>
        </p:nvSpPr>
        <p:spPr>
          <a:xfrm>
            <a:off x="868680" y="4617719"/>
            <a:ext cx="10515600" cy="603504"/>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791455"/>
            <a:ext cx="2926080" cy="274320"/>
          </a:xfrm>
          <a:prstGeom prst="rect">
            <a:avLst/>
          </a:prstGeom>
          <a:noFill/>
        </p:spPr>
        <p:txBody>
          <a:bodyPr wrap="square" anchor="t" lIns="0" rIns="0" tIns="0" bIns="0">
            <a:spAutoFit/>
          </a:bodyPr>
          <a:lstStyle/>
          <a:p>
            <a:pPr algn="l">
              <a:lnSpc>
                <a:spcPct val="125000"/>
              </a:lnSpc>
            </a:pPr>
            <a:r>
              <a:rPr sz="1250" b="1">
                <a:solidFill>
                  <a:srgbClr val="4FD39C"/>
                </a:solidFill>
                <a:latin typeface="맑은 고딕"/>
              </a:rPr>
              <a:t>깔아 둔 그물</a:t>
            </a:r>
          </a:p>
        </p:txBody>
      </p:sp>
      <p:sp>
        <p:nvSpPr>
          <p:cNvPr id="21" name="TextBox 20"/>
          <p:cNvSpPr txBox="1"/>
          <p:nvPr/>
        </p:nvSpPr>
        <p:spPr>
          <a:xfrm>
            <a:off x="4206240" y="4800599"/>
            <a:ext cx="6858000" cy="274320"/>
          </a:xfrm>
          <a:prstGeom prst="rect">
            <a:avLst/>
          </a:prstGeom>
          <a:noFill/>
        </p:spPr>
        <p:txBody>
          <a:bodyPr wrap="square" anchor="t" lIns="0" rIns="0" tIns="0" bIns="0">
            <a:spAutoFit/>
          </a:bodyPr>
          <a:lstStyle/>
          <a:p>
            <a:pPr algn="l">
              <a:lnSpc>
                <a:spcPct val="125000"/>
              </a:lnSpc>
            </a:pPr>
            <a:r>
              <a:rPr sz="1150" b="0">
                <a:solidFill>
                  <a:srgbClr val="9AABC4"/>
                </a:solidFill>
                <a:latin typeface="맑은 고딕"/>
              </a:rPr>
              <a:t>SchemaEnumConsistencyTest가 코드와 schema.sql을 전수 대조해 먼저 깨뜨린다</a:t>
            </a:r>
          </a:p>
        </p:txBody>
      </p:sp>
      <p:sp>
        <p:nvSpPr>
          <p:cNvPr id="22" name="Rectangle 21"/>
          <p:cNvSpPr/>
          <p:nvPr/>
        </p:nvSpPr>
        <p:spPr>
          <a:xfrm>
            <a:off x="868680" y="5394960"/>
            <a:ext cx="45720" cy="731520"/>
          </a:xfrm>
          <a:prstGeom prst="rect">
            <a:avLst/>
          </a:prstGeom>
          <a:solidFill>
            <a:srgbClr val="EDB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400" y="5394960"/>
            <a:ext cx="10469880" cy="73152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5541264"/>
            <a:ext cx="9966960" cy="45720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엔티티를 바꾸면 두 가지를 함께 해야 합니다 — 빈 DB용 schema.sql과, 이미 데이터가 있는 DB용 backfill SQL. 하나만 하면 배포가 기동에서 멈추는데, 그건 의도된 동작입니다.</a:t>
            </a:r>
          </a:p>
        </p:txBody>
      </p:sp>
      <p:sp>
        <p:nvSpPr>
          <p:cNvPr id="25" name="TextBox 24"/>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DECISION E</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E. 막을 것과 열어 둘 것을 나눈 기준</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Rounded Rectangle 5"/>
          <p:cNvSpPr/>
          <p:nvPr/>
        </p:nvSpPr>
        <p:spPr>
          <a:xfrm>
            <a:off x="868680" y="1463040"/>
            <a:ext cx="10515600" cy="658368"/>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554480"/>
            <a:ext cx="10058400" cy="256032"/>
          </a:xfrm>
          <a:prstGeom prst="rect">
            <a:avLst/>
          </a:prstGeom>
          <a:noFill/>
        </p:spPr>
        <p:txBody>
          <a:bodyPr wrap="square" anchor="t" lIns="0" rIns="0" tIns="0" bIns="0">
            <a:spAutoFit/>
          </a:bodyPr>
          <a:lstStyle/>
          <a:p>
            <a:pPr algn="l">
              <a:lnSpc>
                <a:spcPct val="125000"/>
              </a:lnSpc>
            </a:pPr>
            <a:r>
              <a:rPr sz="1250" b="1">
                <a:solidFill>
                  <a:srgbClr val="E8EEFA"/>
                </a:solidFill>
                <a:latin typeface="맑은 고딕"/>
              </a:rPr>
              <a:t>본인은 본인을 결재할 수 없다</a:t>
            </a:r>
          </a:p>
        </p:txBody>
      </p:sp>
      <p:sp>
        <p:nvSpPr>
          <p:cNvPr id="8" name="TextBox 7"/>
          <p:cNvSpPr txBox="1"/>
          <p:nvPr/>
        </p:nvSpPr>
        <p:spPr>
          <a:xfrm>
            <a:off x="1097280" y="1828800"/>
            <a:ext cx="1005840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총관리자만 예외입니다 — 그 위에 결재선이 없어 막으면 자기 연차를 처리할 사람이 없습니다.</a:t>
            </a:r>
          </a:p>
        </p:txBody>
      </p:sp>
      <p:sp>
        <p:nvSpPr>
          <p:cNvPr id="9" name="Rounded Rectangle 8"/>
          <p:cNvSpPr/>
          <p:nvPr/>
        </p:nvSpPr>
        <p:spPr>
          <a:xfrm>
            <a:off x="868680" y="2194560"/>
            <a:ext cx="10515600" cy="658368"/>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286000"/>
            <a:ext cx="10058400" cy="256032"/>
          </a:xfrm>
          <a:prstGeom prst="rect">
            <a:avLst/>
          </a:prstGeom>
          <a:noFill/>
        </p:spPr>
        <p:txBody>
          <a:bodyPr wrap="square" anchor="t" lIns="0" rIns="0" tIns="0" bIns="0">
            <a:spAutoFit/>
          </a:bodyPr>
          <a:lstStyle/>
          <a:p>
            <a:pPr algn="l">
              <a:lnSpc>
                <a:spcPct val="125000"/>
              </a:lnSpc>
            </a:pPr>
            <a:r>
              <a:rPr sz="1250" b="1">
                <a:solidFill>
                  <a:srgbClr val="E8EEFA"/>
                </a:solidFill>
                <a:latin typeface="맑은 고딕"/>
              </a:rPr>
              <a:t>본인 계정은 퇴직 처리 불가</a:t>
            </a:r>
          </a:p>
        </p:txBody>
      </p:sp>
      <p:sp>
        <p:nvSpPr>
          <p:cNvPr id="11" name="TextBox 10"/>
          <p:cNvSpPr txBox="1"/>
          <p:nvPr/>
        </p:nvSpPr>
        <p:spPr>
          <a:xfrm>
            <a:off x="1097280" y="2560320"/>
            <a:ext cx="1005840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퇴직은 즉시 로그인까지 막혀 스스로 되돌릴 수 없습니다 — 역할 자가 강등보다 나쁩니다.</a:t>
            </a:r>
          </a:p>
        </p:txBody>
      </p:sp>
      <p:sp>
        <p:nvSpPr>
          <p:cNvPr id="12" name="Rounded Rectangle 11"/>
          <p:cNvSpPr/>
          <p:nvPr/>
        </p:nvSpPr>
        <p:spPr>
          <a:xfrm>
            <a:off x="868680" y="2926080"/>
            <a:ext cx="10515600" cy="658368"/>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017520"/>
            <a:ext cx="10058400" cy="256032"/>
          </a:xfrm>
          <a:prstGeom prst="rect">
            <a:avLst/>
          </a:prstGeom>
          <a:noFill/>
        </p:spPr>
        <p:txBody>
          <a:bodyPr wrap="square" anchor="t" lIns="0" rIns="0" tIns="0" bIns="0">
            <a:spAutoFit/>
          </a:bodyPr>
          <a:lstStyle/>
          <a:p>
            <a:pPr algn="l">
              <a:lnSpc>
                <a:spcPct val="125000"/>
              </a:lnSpc>
            </a:pPr>
            <a:r>
              <a:rPr sz="1250" b="1">
                <a:solidFill>
                  <a:srgbClr val="E8EEFA"/>
                </a:solidFill>
                <a:latin typeface="맑은 고딕"/>
              </a:rPr>
              <a:t>팀장인 사원은 부서를 못 옮긴다</a:t>
            </a:r>
          </a:p>
        </p:txBody>
      </p:sp>
      <p:sp>
        <p:nvSpPr>
          <p:cNvPr id="14" name="TextBox 13"/>
          <p:cNvSpPr txBox="1"/>
          <p:nvPr/>
        </p:nvSpPr>
        <p:spPr>
          <a:xfrm>
            <a:off x="1097280" y="3291840"/>
            <a:ext cx="1005840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후임 팀장을 먼저 지정하게 막습니다. 자동으로 팀장 자리를 비우면 그 부서의 결재가 조용히 멈춥니다.</a:t>
            </a:r>
          </a:p>
        </p:txBody>
      </p:sp>
      <p:sp>
        <p:nvSpPr>
          <p:cNvPr id="15" name="Rounded Rectangle 14"/>
          <p:cNvSpPr/>
          <p:nvPr/>
        </p:nvSpPr>
        <p:spPr>
          <a:xfrm>
            <a:off x="868680" y="3657600"/>
            <a:ext cx="10515600" cy="658368"/>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749040"/>
            <a:ext cx="10058400" cy="256032"/>
          </a:xfrm>
          <a:prstGeom prst="rect">
            <a:avLst/>
          </a:prstGeom>
          <a:noFill/>
        </p:spPr>
        <p:txBody>
          <a:bodyPr wrap="square" anchor="t" lIns="0" rIns="0" tIns="0" bIns="0">
            <a:spAutoFit/>
          </a:bodyPr>
          <a:lstStyle/>
          <a:p>
            <a:pPr algn="l">
              <a:lnSpc>
                <a:spcPct val="125000"/>
              </a:lnSpc>
            </a:pPr>
            <a:r>
              <a:rPr sz="1250" b="1">
                <a:solidFill>
                  <a:srgbClr val="E8EEFA"/>
                </a:solidFill>
                <a:latin typeface="맑은 고딕"/>
              </a:rPr>
              <a:t>마지막 관리자는 강등 불가</a:t>
            </a:r>
          </a:p>
        </p:txBody>
      </p:sp>
      <p:sp>
        <p:nvSpPr>
          <p:cNvPr id="17" name="TextBox 16"/>
          <p:cNvSpPr txBox="1"/>
          <p:nvPr/>
        </p:nvSpPr>
        <p:spPr>
          <a:xfrm>
            <a:off x="1097280" y="4023360"/>
            <a:ext cx="1005840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아무도 관리 화면에 못 들어가는 상태를 만들지 않습니다.</a:t>
            </a:r>
          </a:p>
        </p:txBody>
      </p:sp>
      <p:sp>
        <p:nvSpPr>
          <p:cNvPr id="18" name="Rounded Rectangle 17"/>
          <p:cNvSpPr/>
          <p:nvPr/>
        </p:nvSpPr>
        <p:spPr>
          <a:xfrm>
            <a:off x="868680" y="4389120"/>
            <a:ext cx="10515600" cy="658368"/>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480560"/>
            <a:ext cx="10058400" cy="256032"/>
          </a:xfrm>
          <a:prstGeom prst="rect">
            <a:avLst/>
          </a:prstGeom>
          <a:noFill/>
        </p:spPr>
        <p:txBody>
          <a:bodyPr wrap="square" anchor="t" lIns="0" rIns="0" tIns="0" bIns="0">
            <a:spAutoFit/>
          </a:bodyPr>
          <a:lstStyle/>
          <a:p>
            <a:pPr algn="l">
              <a:lnSpc>
                <a:spcPct val="125000"/>
              </a:lnSpc>
            </a:pPr>
            <a:r>
              <a:rPr sz="1250" b="1">
                <a:solidFill>
                  <a:srgbClr val="E8EEFA"/>
                </a:solidFill>
                <a:latin typeface="맑은 고딕"/>
              </a:rPr>
              <a:t>시크릿은 쓰기 전용</a:t>
            </a:r>
          </a:p>
        </p:txBody>
      </p:sp>
      <p:sp>
        <p:nvSpPr>
          <p:cNvPr id="20" name="TextBox 19"/>
          <p:cNvSpPr txBox="1"/>
          <p:nvPr/>
        </p:nvSpPr>
        <p:spPr>
          <a:xfrm>
            <a:off x="1097280" y="4754880"/>
            <a:ext cx="1005840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SMTP 비밀번호·API 키는 어떤 조회 경로로도 원문이 내려가지 않습니다.</a:t>
            </a:r>
          </a:p>
        </p:txBody>
      </p:sp>
      <p:sp>
        <p:nvSpPr>
          <p:cNvPr id="21" name="Rounded Rectangle 20"/>
          <p:cNvSpPr/>
          <p:nvPr/>
        </p:nvSpPr>
        <p:spPr>
          <a:xfrm>
            <a:off x="868680" y="5120640"/>
            <a:ext cx="10515600" cy="658368"/>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5212080"/>
            <a:ext cx="10058400" cy="256032"/>
          </a:xfrm>
          <a:prstGeom prst="rect">
            <a:avLst/>
          </a:prstGeom>
          <a:noFill/>
        </p:spPr>
        <p:txBody>
          <a:bodyPr wrap="square" anchor="t" lIns="0" rIns="0" tIns="0" bIns="0">
            <a:spAutoFit/>
          </a:bodyPr>
          <a:lstStyle/>
          <a:p>
            <a:pPr algn="l">
              <a:lnSpc>
                <a:spcPct val="125000"/>
              </a:lnSpc>
            </a:pPr>
            <a:r>
              <a:rPr sz="1250" b="1">
                <a:solidFill>
                  <a:srgbClr val="E8EEFA"/>
                </a:solidFill>
                <a:latin typeface="맑은 고딕"/>
              </a:rPr>
              <a:t>시연 데이터는 로컬 전용</a:t>
            </a:r>
          </a:p>
        </p:txBody>
      </p:sp>
      <p:sp>
        <p:nvSpPr>
          <p:cNvPr id="23" name="TextBox 22"/>
          <p:cNvSpPr txBox="1"/>
          <p:nvPr/>
        </p:nvSpPr>
        <p:spPr>
          <a:xfrm>
            <a:off x="1097280" y="5486400"/>
            <a:ext cx="1005840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프로필 가드를 넓히면 시연 계정이 운영 DB에서 실제 사원과 섞입니다.</a:t>
            </a:r>
          </a:p>
        </p:txBody>
      </p:sp>
      <p:sp>
        <p:nvSpPr>
          <p:cNvPr id="24" name="TextBox 23"/>
          <p:cNvSpPr txBox="1"/>
          <p:nvPr/>
        </p:nvSpPr>
        <p:spPr>
          <a:xfrm>
            <a:off x="868680" y="594360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선택의 공통 기준 — 되돌릴 수 없는 상태를 사용자가 혼자 만들 수 있으면 막는다</a:t>
            </a:r>
          </a:p>
        </p:txBody>
      </p:sp>
      <p:sp>
        <p:nvSpPr>
          <p:cNvPr id="25" name="TextBox 24"/>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VERIFICATION</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어디까지 확인했나</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Rounded Rectangle 5"/>
          <p:cNvSpPr/>
          <p:nvPr/>
        </p:nvSpPr>
        <p:spPr>
          <a:xfrm>
            <a:off x="868680" y="150876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167335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백엔드 테스트</a:t>
            </a:r>
          </a:p>
        </p:txBody>
      </p:sp>
      <p:sp>
        <p:nvSpPr>
          <p:cNvPr id="8" name="TextBox 7"/>
          <p:cNvSpPr txBox="1"/>
          <p:nvPr/>
        </p:nvSpPr>
        <p:spPr>
          <a:xfrm>
            <a:off x="1069848" y="192938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500</a:t>
            </a:r>
          </a:p>
        </p:txBody>
      </p:sp>
      <p:sp>
        <p:nvSpPr>
          <p:cNvPr id="9" name="TextBox 8"/>
          <p:cNvSpPr txBox="1"/>
          <p:nvPr/>
        </p:nvSpPr>
        <p:spPr>
          <a:xfrm>
            <a:off x="1069848" y="240487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서비스 · 스케줄러 · 스키마 대조</a:t>
            </a:r>
          </a:p>
        </p:txBody>
      </p:sp>
      <p:sp>
        <p:nvSpPr>
          <p:cNvPr id="10" name="Rounded Rectangle 9"/>
          <p:cNvSpPr/>
          <p:nvPr/>
        </p:nvSpPr>
        <p:spPr>
          <a:xfrm>
            <a:off x="3538728" y="150876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39896" y="167335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프론트 테스트</a:t>
            </a:r>
          </a:p>
        </p:txBody>
      </p:sp>
      <p:sp>
        <p:nvSpPr>
          <p:cNvPr id="12" name="TextBox 11"/>
          <p:cNvSpPr txBox="1"/>
          <p:nvPr/>
        </p:nvSpPr>
        <p:spPr>
          <a:xfrm>
            <a:off x="3739896" y="192938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332</a:t>
            </a:r>
          </a:p>
        </p:txBody>
      </p:sp>
      <p:sp>
        <p:nvSpPr>
          <p:cNvPr id="13" name="TextBox 12"/>
          <p:cNvSpPr txBox="1"/>
          <p:nvPr/>
        </p:nvSpPr>
        <p:spPr>
          <a:xfrm>
            <a:off x="3739896" y="240487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41개 파일</a:t>
            </a:r>
          </a:p>
        </p:txBody>
      </p:sp>
      <p:sp>
        <p:nvSpPr>
          <p:cNvPr id="14" name="Rounded Rectangle 13"/>
          <p:cNvSpPr/>
          <p:nvPr/>
        </p:nvSpPr>
        <p:spPr>
          <a:xfrm>
            <a:off x="6208776" y="150876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67335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정적 검사</a:t>
            </a:r>
          </a:p>
        </p:txBody>
      </p:sp>
      <p:sp>
        <p:nvSpPr>
          <p:cNvPr id="16" name="TextBox 15"/>
          <p:cNvSpPr txBox="1"/>
          <p:nvPr/>
        </p:nvSpPr>
        <p:spPr>
          <a:xfrm>
            <a:off x="6409944" y="192938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0</a:t>
            </a:r>
          </a:p>
        </p:txBody>
      </p:sp>
      <p:sp>
        <p:nvSpPr>
          <p:cNvPr id="17" name="TextBox 16"/>
          <p:cNvSpPr txBox="1"/>
          <p:nvPr/>
        </p:nvSpPr>
        <p:spPr>
          <a:xfrm>
            <a:off x="6409944" y="240487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lint 경고 · 빌드 정상</a:t>
            </a:r>
          </a:p>
        </p:txBody>
      </p:sp>
      <p:sp>
        <p:nvSpPr>
          <p:cNvPr id="18" name="Rounded Rectangle 17"/>
          <p:cNvSpPr/>
          <p:nvPr/>
        </p:nvSpPr>
        <p:spPr>
          <a:xfrm>
            <a:off x="8878824" y="1508760"/>
            <a:ext cx="2505456" cy="123444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9992" y="1673352"/>
            <a:ext cx="2139696" cy="22860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브라우저 QA</a:t>
            </a:r>
          </a:p>
        </p:txBody>
      </p:sp>
      <p:sp>
        <p:nvSpPr>
          <p:cNvPr id="20" name="TextBox 19"/>
          <p:cNvSpPr txBox="1"/>
          <p:nvPr/>
        </p:nvSpPr>
        <p:spPr>
          <a:xfrm>
            <a:off x="9079992" y="1929384"/>
            <a:ext cx="2139696" cy="411480"/>
          </a:xfrm>
          <a:prstGeom prst="rect">
            <a:avLst/>
          </a:prstGeom>
          <a:noFill/>
        </p:spPr>
        <p:txBody>
          <a:bodyPr wrap="square" anchor="t" lIns="0" rIns="0" tIns="0" bIns="0">
            <a:spAutoFit/>
          </a:bodyPr>
          <a:lstStyle/>
          <a:p>
            <a:pPr algn="l">
              <a:lnSpc>
                <a:spcPct val="125000"/>
              </a:lnSpc>
            </a:pPr>
            <a:r>
              <a:rPr sz="2600" b="1">
                <a:solidFill>
                  <a:srgbClr val="4FB8E8"/>
                </a:solidFill>
                <a:latin typeface="맑은 고딕"/>
              </a:rPr>
              <a:t>22</a:t>
            </a:r>
          </a:p>
        </p:txBody>
      </p:sp>
      <p:sp>
        <p:nvSpPr>
          <p:cNvPr id="21" name="TextBox 20"/>
          <p:cNvSpPr txBox="1"/>
          <p:nvPr/>
        </p:nvSpPr>
        <p:spPr>
          <a:xfrm>
            <a:off x="9079992" y="2404872"/>
            <a:ext cx="2139696" cy="228600"/>
          </a:xfrm>
          <a:prstGeom prst="rect">
            <a:avLst/>
          </a:prstGeom>
          <a:noFill/>
        </p:spPr>
        <p:txBody>
          <a:bodyPr wrap="square" anchor="t" lIns="0" rIns="0" tIns="0" bIns="0">
            <a:spAutoFit/>
          </a:bodyPr>
          <a:lstStyle/>
          <a:p>
            <a:pPr algn="l">
              <a:lnSpc>
                <a:spcPct val="125000"/>
              </a:lnSpc>
            </a:pPr>
            <a:r>
              <a:rPr sz="1000" b="0">
                <a:solidFill>
                  <a:srgbClr val="9AABC4"/>
                </a:solidFill>
                <a:latin typeface="맑은 고딕"/>
              </a:rPr>
              <a:t>화면 캡처로 기록</a:t>
            </a:r>
          </a:p>
        </p:txBody>
      </p:sp>
      <p:sp>
        <p:nvSpPr>
          <p:cNvPr id="22" name="TextBox 21"/>
          <p:cNvSpPr txBox="1"/>
          <p:nvPr/>
        </p:nvSpPr>
        <p:spPr>
          <a:xfrm>
            <a:off x="868680" y="3017520"/>
            <a:ext cx="10515600" cy="320040"/>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브라우저로 직접 돌려서 잡은 것 (2026-09-09)</a:t>
            </a:r>
          </a:p>
        </p:txBody>
      </p:sp>
      <p:sp>
        <p:nvSpPr>
          <p:cNvPr id="23" name="Rounded Rectangle 22"/>
          <p:cNvSpPr/>
          <p:nvPr/>
        </p:nvSpPr>
        <p:spPr>
          <a:xfrm>
            <a:off x="868680" y="3429000"/>
            <a:ext cx="10515600" cy="457200"/>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3547872"/>
            <a:ext cx="54864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B-1</a:t>
            </a:r>
          </a:p>
        </p:txBody>
      </p:sp>
      <p:sp>
        <p:nvSpPr>
          <p:cNvPr id="25" name="TextBox 24"/>
          <p:cNvSpPr txBox="1"/>
          <p:nvPr/>
        </p:nvSpPr>
        <p:spPr>
          <a:xfrm>
            <a:off x="1737360" y="3538728"/>
            <a:ext cx="4754880" cy="256032"/>
          </a:xfrm>
          <a:prstGeom prst="rect">
            <a:avLst/>
          </a:prstGeom>
          <a:noFill/>
        </p:spPr>
        <p:txBody>
          <a:bodyPr wrap="square" anchor="t" lIns="0" rIns="0" tIns="0" bIns="0">
            <a:spAutoFit/>
          </a:bodyPr>
          <a:lstStyle/>
          <a:p>
            <a:pPr algn="l">
              <a:lnSpc>
                <a:spcPct val="125000"/>
              </a:lnSpc>
            </a:pPr>
            <a:r>
              <a:rPr sz="1150" b="0">
                <a:solidFill>
                  <a:srgbClr val="E8EEFA"/>
                </a:solidFill>
                <a:latin typeface="맑은 고딕"/>
              </a:rPr>
              <a:t>주말·공휴일을 고른 채로 신청 버튼이 눌렸다</a:t>
            </a:r>
          </a:p>
        </p:txBody>
      </p:sp>
      <p:sp>
        <p:nvSpPr>
          <p:cNvPr id="26" name="TextBox 25"/>
          <p:cNvSpPr txBox="1"/>
          <p:nvPr/>
        </p:nvSpPr>
        <p:spPr>
          <a:xfrm>
            <a:off x="6675120" y="3547872"/>
            <a:ext cx="3931920" cy="256032"/>
          </a:xfrm>
          <a:prstGeom prst="rect">
            <a:avLst/>
          </a:prstGeom>
          <a:noFill/>
        </p:spPr>
        <p:txBody>
          <a:bodyPr wrap="square" anchor="t" lIns="0" rIns="0" tIns="0" bIns="0">
            <a:spAutoFit/>
          </a:bodyPr>
          <a:lstStyle/>
          <a:p>
            <a:pPr algn="l">
              <a:lnSpc>
                <a:spcPct val="125000"/>
              </a:lnSpc>
            </a:pPr>
            <a:r>
              <a:rPr sz="1100" b="0">
                <a:solidFill>
                  <a:srgbClr val="4FD39C"/>
                </a:solidFill>
                <a:latin typeface="맑은 고딕"/>
              </a:rPr>
              <a:t>선택 단계에서 막도록 수정</a:t>
            </a:r>
          </a:p>
        </p:txBody>
      </p:sp>
      <p:sp>
        <p:nvSpPr>
          <p:cNvPr id="27" name="Rounded Rectangle 26"/>
          <p:cNvSpPr/>
          <p:nvPr/>
        </p:nvSpPr>
        <p:spPr>
          <a:xfrm>
            <a:off x="868680" y="3941064"/>
            <a:ext cx="10515600" cy="457200"/>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4059936"/>
            <a:ext cx="54864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B-2</a:t>
            </a:r>
          </a:p>
        </p:txBody>
      </p:sp>
      <p:sp>
        <p:nvSpPr>
          <p:cNvPr id="29" name="TextBox 28"/>
          <p:cNvSpPr txBox="1"/>
          <p:nvPr/>
        </p:nvSpPr>
        <p:spPr>
          <a:xfrm>
            <a:off x="1737360" y="4050792"/>
            <a:ext cx="4754880" cy="256032"/>
          </a:xfrm>
          <a:prstGeom prst="rect">
            <a:avLst/>
          </a:prstGeom>
          <a:noFill/>
        </p:spPr>
        <p:txBody>
          <a:bodyPr wrap="square" anchor="t" lIns="0" rIns="0" tIns="0" bIns="0">
            <a:spAutoFit/>
          </a:bodyPr>
          <a:lstStyle/>
          <a:p>
            <a:pPr algn="l">
              <a:lnSpc>
                <a:spcPct val="125000"/>
              </a:lnSpc>
            </a:pPr>
            <a:r>
              <a:rPr sz="1150" b="0">
                <a:solidFill>
                  <a:srgbClr val="E8EEFA"/>
                </a:solidFill>
                <a:latin typeface="맑은 고딕"/>
              </a:rPr>
              <a:t>퇴직 탭에서 가로 스크롤 시 관리 버튼이 가려졌다</a:t>
            </a:r>
          </a:p>
        </p:txBody>
      </p:sp>
      <p:sp>
        <p:nvSpPr>
          <p:cNvPr id="30" name="TextBox 29"/>
          <p:cNvSpPr txBox="1"/>
          <p:nvPr/>
        </p:nvSpPr>
        <p:spPr>
          <a:xfrm>
            <a:off x="6675120" y="4059936"/>
            <a:ext cx="3931920" cy="256032"/>
          </a:xfrm>
          <a:prstGeom prst="rect">
            <a:avLst/>
          </a:prstGeom>
          <a:noFill/>
        </p:spPr>
        <p:txBody>
          <a:bodyPr wrap="square" anchor="t" lIns="0" rIns="0" tIns="0" bIns="0">
            <a:spAutoFit/>
          </a:bodyPr>
          <a:lstStyle/>
          <a:p>
            <a:pPr algn="l">
              <a:lnSpc>
                <a:spcPct val="125000"/>
              </a:lnSpc>
            </a:pPr>
            <a:r>
              <a:rPr sz="1100" b="0">
                <a:solidFill>
                  <a:srgbClr val="4FD39C"/>
                </a:solidFill>
                <a:latin typeface="맑은 고딕"/>
              </a:rPr>
              <a:t>관리 열 고정</a:t>
            </a:r>
          </a:p>
        </p:txBody>
      </p:sp>
      <p:sp>
        <p:nvSpPr>
          <p:cNvPr id="31" name="Rounded Rectangle 30"/>
          <p:cNvSpPr/>
          <p:nvPr/>
        </p:nvSpPr>
        <p:spPr>
          <a:xfrm>
            <a:off x="868680" y="4453128"/>
            <a:ext cx="10515600" cy="457200"/>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4572000"/>
            <a:ext cx="54864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B-3</a:t>
            </a:r>
          </a:p>
        </p:txBody>
      </p:sp>
      <p:sp>
        <p:nvSpPr>
          <p:cNvPr id="33" name="TextBox 32"/>
          <p:cNvSpPr txBox="1"/>
          <p:nvPr/>
        </p:nvSpPr>
        <p:spPr>
          <a:xfrm>
            <a:off x="1737360" y="4562856"/>
            <a:ext cx="4754880" cy="256032"/>
          </a:xfrm>
          <a:prstGeom prst="rect">
            <a:avLst/>
          </a:prstGeom>
          <a:noFill/>
        </p:spPr>
        <p:txBody>
          <a:bodyPr wrap="square" anchor="t" lIns="0" rIns="0" tIns="0" bIns="0">
            <a:spAutoFit/>
          </a:bodyPr>
          <a:lstStyle/>
          <a:p>
            <a:pPr algn="l">
              <a:lnSpc>
                <a:spcPct val="125000"/>
              </a:lnSpc>
            </a:pPr>
            <a:r>
              <a:rPr sz="1150" b="0">
                <a:solidFill>
                  <a:srgbClr val="E8EEFA"/>
                </a:solidFill>
                <a:latin typeface="맑은 고딕"/>
              </a:rPr>
              <a:t>재입사 모달에 직급 변경 결과가 안 보였다</a:t>
            </a:r>
          </a:p>
        </p:txBody>
      </p:sp>
      <p:sp>
        <p:nvSpPr>
          <p:cNvPr id="34" name="TextBox 33"/>
          <p:cNvSpPr txBox="1"/>
          <p:nvPr/>
        </p:nvSpPr>
        <p:spPr>
          <a:xfrm>
            <a:off x="6675120" y="4572000"/>
            <a:ext cx="3931920" cy="256032"/>
          </a:xfrm>
          <a:prstGeom prst="rect">
            <a:avLst/>
          </a:prstGeom>
          <a:noFill/>
        </p:spPr>
        <p:txBody>
          <a:bodyPr wrap="square" anchor="t" lIns="0" rIns="0" tIns="0" bIns="0">
            <a:spAutoFit/>
          </a:bodyPr>
          <a:lstStyle/>
          <a:p>
            <a:pPr algn="l">
              <a:lnSpc>
                <a:spcPct val="125000"/>
              </a:lnSpc>
            </a:pPr>
            <a:r>
              <a:rPr sz="1100" b="0">
                <a:solidFill>
                  <a:srgbClr val="4FD39C"/>
                </a:solidFill>
                <a:latin typeface="맑은 고딕"/>
              </a:rPr>
              <a:t>변화 있는 항목만 노출</a:t>
            </a:r>
          </a:p>
        </p:txBody>
      </p:sp>
      <p:sp>
        <p:nvSpPr>
          <p:cNvPr id="35" name="Rounded Rectangle 34"/>
          <p:cNvSpPr/>
          <p:nvPr/>
        </p:nvSpPr>
        <p:spPr>
          <a:xfrm>
            <a:off x="868680" y="4965192"/>
            <a:ext cx="10515600" cy="457200"/>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084064"/>
            <a:ext cx="54864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B-4</a:t>
            </a:r>
          </a:p>
        </p:txBody>
      </p:sp>
      <p:sp>
        <p:nvSpPr>
          <p:cNvPr id="37" name="TextBox 36"/>
          <p:cNvSpPr txBox="1"/>
          <p:nvPr/>
        </p:nvSpPr>
        <p:spPr>
          <a:xfrm>
            <a:off x="1737360" y="5074920"/>
            <a:ext cx="4754880" cy="256032"/>
          </a:xfrm>
          <a:prstGeom prst="rect">
            <a:avLst/>
          </a:prstGeom>
          <a:noFill/>
        </p:spPr>
        <p:txBody>
          <a:bodyPr wrap="square" anchor="t" lIns="0" rIns="0" tIns="0" bIns="0">
            <a:spAutoFit/>
          </a:bodyPr>
          <a:lstStyle/>
          <a:p>
            <a:pPr algn="l">
              <a:lnSpc>
                <a:spcPct val="125000"/>
              </a:lnSpc>
            </a:pPr>
            <a:r>
              <a:rPr sz="1150" b="0">
                <a:solidFill>
                  <a:srgbClr val="E8EEFA"/>
                </a:solidFill>
                <a:latin typeface="맑은 고딕"/>
              </a:rPr>
              <a:t>캘린더에서 키보드로 월 이동이 안 됐다</a:t>
            </a:r>
          </a:p>
        </p:txBody>
      </p:sp>
      <p:sp>
        <p:nvSpPr>
          <p:cNvPr id="38" name="TextBox 37"/>
          <p:cNvSpPr txBox="1"/>
          <p:nvPr/>
        </p:nvSpPr>
        <p:spPr>
          <a:xfrm>
            <a:off x="6675120" y="5084064"/>
            <a:ext cx="3931920" cy="256032"/>
          </a:xfrm>
          <a:prstGeom prst="rect">
            <a:avLst/>
          </a:prstGeom>
          <a:noFill/>
        </p:spPr>
        <p:txBody>
          <a:bodyPr wrap="square" anchor="t" lIns="0" rIns="0" tIns="0" bIns="0">
            <a:spAutoFit/>
          </a:bodyPr>
          <a:lstStyle/>
          <a:p>
            <a:pPr algn="l">
              <a:lnSpc>
                <a:spcPct val="125000"/>
              </a:lnSpc>
            </a:pPr>
            <a:r>
              <a:rPr sz="1100" b="0">
                <a:solidFill>
                  <a:srgbClr val="4FD39C"/>
                </a:solidFill>
                <a:latin typeface="맑은 고딕"/>
              </a:rPr>
              <a:t>← → PageUp/Down · Home 지원</a:t>
            </a:r>
          </a:p>
        </p:txBody>
      </p:sp>
      <p:sp>
        <p:nvSpPr>
          <p:cNvPr id="39" name="Rounded Rectangle 38"/>
          <p:cNvSpPr/>
          <p:nvPr/>
        </p:nvSpPr>
        <p:spPr>
          <a:xfrm>
            <a:off x="868680" y="5477256"/>
            <a:ext cx="10515600" cy="457200"/>
          </a:xfrm>
          <a:prstGeom prst="roundRect">
            <a:avLst>
              <a:gd name="adj" fmla="val 6000"/>
            </a:avLst>
          </a:prstGeom>
          <a:solidFill>
            <a:srgbClr val="121B2B"/>
          </a:solidFill>
          <a:ln w="762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97280" y="5596128"/>
            <a:ext cx="54864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B-5</a:t>
            </a:r>
          </a:p>
        </p:txBody>
      </p:sp>
      <p:sp>
        <p:nvSpPr>
          <p:cNvPr id="41" name="TextBox 40"/>
          <p:cNvSpPr txBox="1"/>
          <p:nvPr/>
        </p:nvSpPr>
        <p:spPr>
          <a:xfrm>
            <a:off x="1737360" y="5586984"/>
            <a:ext cx="4754880" cy="256032"/>
          </a:xfrm>
          <a:prstGeom prst="rect">
            <a:avLst/>
          </a:prstGeom>
          <a:noFill/>
        </p:spPr>
        <p:txBody>
          <a:bodyPr wrap="square" anchor="t" lIns="0" rIns="0" tIns="0" bIns="0">
            <a:spAutoFit/>
          </a:bodyPr>
          <a:lstStyle/>
          <a:p>
            <a:pPr algn="l">
              <a:lnSpc>
                <a:spcPct val="125000"/>
              </a:lnSpc>
            </a:pPr>
            <a:r>
              <a:rPr sz="1150" b="0">
                <a:solidFill>
                  <a:srgbClr val="E8EEFA"/>
                </a:solidFill>
                <a:latin typeface="맑은 고딕"/>
              </a:rPr>
              <a:t>모바일에서 여러 날 선택이 어려웠다</a:t>
            </a:r>
          </a:p>
        </p:txBody>
      </p:sp>
      <p:sp>
        <p:nvSpPr>
          <p:cNvPr id="42" name="TextBox 41"/>
          <p:cNvSpPr txBox="1"/>
          <p:nvPr/>
        </p:nvSpPr>
        <p:spPr>
          <a:xfrm>
            <a:off x="6675120" y="5596128"/>
            <a:ext cx="3931920" cy="256032"/>
          </a:xfrm>
          <a:prstGeom prst="rect">
            <a:avLst/>
          </a:prstGeom>
          <a:noFill/>
        </p:spPr>
        <p:txBody>
          <a:bodyPr wrap="square" anchor="t" lIns="0" rIns="0" tIns="0" bIns="0">
            <a:spAutoFit/>
          </a:bodyPr>
          <a:lstStyle/>
          <a:p>
            <a:pPr algn="l">
              <a:lnSpc>
                <a:spcPct val="125000"/>
              </a:lnSpc>
            </a:pPr>
            <a:r>
              <a:rPr sz="1100" b="0">
                <a:solidFill>
                  <a:srgbClr val="4FD39C"/>
                </a:solidFill>
                <a:latin typeface="맑은 고딕"/>
              </a:rPr>
              <a:t>하단 시트 + 적용 버튼</a:t>
            </a:r>
          </a:p>
        </p:txBody>
      </p:sp>
      <p:sp>
        <p:nvSpPr>
          <p:cNvPr id="43" name="TextBox 42"/>
          <p:cNvSpPr txBox="1"/>
          <p:nvPr/>
        </p:nvSpPr>
        <p:spPr>
          <a:xfrm>
            <a:off x="868680" y="5989320"/>
            <a:ext cx="10515600" cy="274320"/>
          </a:xfrm>
          <a:prstGeom prst="rect">
            <a:avLst/>
          </a:prstGeom>
          <a:noFill/>
        </p:spPr>
        <p:txBody>
          <a:bodyPr wrap="square" anchor="t" lIns="0" rIns="0" tIns="0" bIns="0">
            <a:spAutoFit/>
          </a:bodyPr>
          <a:lstStyle/>
          <a:p>
            <a:pPr algn="l">
              <a:lnSpc>
                <a:spcPct val="125000"/>
              </a:lnSpc>
            </a:pPr>
            <a:r>
              <a:rPr sz="950" b="0">
                <a:solidFill>
                  <a:srgbClr val="6F8099"/>
                </a:solidFill>
                <a:latin typeface="Consolas"/>
              </a:rPr>
              <a:t>docs/13-QA-체크리스트.md · docs/설계-초안/사용자-QA-마무리-2026-09-08.md + 캡처 22장</a:t>
            </a:r>
          </a:p>
        </p:txBody>
      </p:sp>
      <p:sp>
        <p:nvSpPr>
          <p:cNvPr id="44" name="TextBox 43"/>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OPEN ITEMS</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남은 작업 — 그래서 미완성본입니다</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Rounded Rectangle 5"/>
          <p:cNvSpPr/>
          <p:nvPr/>
        </p:nvSpPr>
        <p:spPr>
          <a:xfrm>
            <a:off x="868680" y="1508760"/>
            <a:ext cx="10515600" cy="621792"/>
          </a:xfrm>
          <a:prstGeom prst="roundRect">
            <a:avLst>
              <a:gd name="adj" fmla="val 6000"/>
            </a:avLst>
          </a:prstGeom>
          <a:solidFill>
            <a:srgbClr val="121B2B"/>
          </a:solidFill>
          <a:ln w="889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00200"/>
            <a:ext cx="3108960" cy="256032"/>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관리자 문의</a:t>
            </a:r>
          </a:p>
        </p:txBody>
      </p:sp>
      <p:sp>
        <p:nvSpPr>
          <p:cNvPr id="8" name="TextBox 7"/>
          <p:cNvSpPr txBox="1"/>
          <p:nvPr/>
        </p:nvSpPr>
        <p:spPr>
          <a:xfrm>
            <a:off x="1097280" y="1856232"/>
            <a:ext cx="566928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사원이 관리자에게 문의를 보내는 창구</a:t>
            </a:r>
          </a:p>
        </p:txBody>
      </p:sp>
      <p:sp>
        <p:nvSpPr>
          <p:cNvPr id="9" name="TextBox 8"/>
          <p:cNvSpPr txBox="1"/>
          <p:nvPr/>
        </p:nvSpPr>
        <p:spPr>
          <a:xfrm>
            <a:off x="7132320" y="1709928"/>
            <a:ext cx="2743200" cy="256032"/>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설계 전 · 기능 미착수</a:t>
            </a:r>
          </a:p>
        </p:txBody>
      </p:sp>
      <p:sp>
        <p:nvSpPr>
          <p:cNvPr id="10" name="TextBox 9"/>
          <p:cNvSpPr txBox="1"/>
          <p:nvPr/>
        </p:nvSpPr>
        <p:spPr>
          <a:xfrm>
            <a:off x="10561320" y="1709928"/>
            <a:ext cx="640080" cy="256032"/>
          </a:xfrm>
          <a:prstGeom prst="rect">
            <a:avLst/>
          </a:prstGeom>
          <a:noFill/>
        </p:spPr>
        <p:txBody>
          <a:bodyPr wrap="square" anchor="t" lIns="0" rIns="0" tIns="0" bIns="0">
            <a:spAutoFit/>
          </a:bodyPr>
          <a:lstStyle/>
          <a:p>
            <a:pPr algn="r">
              <a:lnSpc>
                <a:spcPct val="125000"/>
              </a:lnSpc>
            </a:pPr>
            <a:r>
              <a:rPr sz="1000" b="1">
                <a:solidFill>
                  <a:srgbClr val="F2707A"/>
                </a:solidFill>
                <a:latin typeface="Consolas"/>
              </a:rPr>
              <a:t>예정</a:t>
            </a:r>
          </a:p>
        </p:txBody>
      </p:sp>
      <p:sp>
        <p:nvSpPr>
          <p:cNvPr id="11" name="Rounded Rectangle 10"/>
          <p:cNvSpPr/>
          <p:nvPr/>
        </p:nvSpPr>
        <p:spPr>
          <a:xfrm>
            <a:off x="868680" y="2185416"/>
            <a:ext cx="10515600" cy="621792"/>
          </a:xfrm>
          <a:prstGeom prst="roundRect">
            <a:avLst>
              <a:gd name="adj" fmla="val 6000"/>
            </a:avLst>
          </a:prstGeom>
          <a:solidFill>
            <a:srgbClr val="121B2B"/>
          </a:solidFill>
          <a:ln w="889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276856"/>
            <a:ext cx="3108960" cy="256032"/>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트랜잭션 경계 정리</a:t>
            </a:r>
          </a:p>
        </p:txBody>
      </p:sp>
      <p:sp>
        <p:nvSpPr>
          <p:cNvPr id="13" name="TextBox 12"/>
          <p:cNvSpPr txBox="1"/>
          <p:nvPr/>
        </p:nvSpPr>
        <p:spPr>
          <a:xfrm>
            <a:off x="1097280" y="2532888"/>
            <a:ext cx="566928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일부 관리자 작업의 경계·스키마 재검토 (SEC-9)</a:t>
            </a:r>
          </a:p>
        </p:txBody>
      </p:sp>
      <p:sp>
        <p:nvSpPr>
          <p:cNvPr id="14" name="TextBox 13"/>
          <p:cNvSpPr txBox="1"/>
          <p:nvPr/>
        </p:nvSpPr>
        <p:spPr>
          <a:xfrm>
            <a:off x="7132320" y="2386584"/>
            <a:ext cx="2743200" cy="256032"/>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설계 필요</a:t>
            </a:r>
          </a:p>
        </p:txBody>
      </p:sp>
      <p:sp>
        <p:nvSpPr>
          <p:cNvPr id="15" name="TextBox 14"/>
          <p:cNvSpPr txBox="1"/>
          <p:nvPr/>
        </p:nvSpPr>
        <p:spPr>
          <a:xfrm>
            <a:off x="10561320" y="2386584"/>
            <a:ext cx="640080" cy="256032"/>
          </a:xfrm>
          <a:prstGeom prst="rect">
            <a:avLst/>
          </a:prstGeom>
          <a:noFill/>
        </p:spPr>
        <p:txBody>
          <a:bodyPr wrap="square" anchor="t" lIns="0" rIns="0" tIns="0" bIns="0">
            <a:spAutoFit/>
          </a:bodyPr>
          <a:lstStyle/>
          <a:p>
            <a:pPr algn="r">
              <a:lnSpc>
                <a:spcPct val="125000"/>
              </a:lnSpc>
            </a:pPr>
            <a:r>
              <a:rPr sz="1000" b="1">
                <a:solidFill>
                  <a:srgbClr val="F2707A"/>
                </a:solidFill>
                <a:latin typeface="Consolas"/>
              </a:rPr>
              <a:t>예정</a:t>
            </a:r>
          </a:p>
        </p:txBody>
      </p:sp>
      <p:sp>
        <p:nvSpPr>
          <p:cNvPr id="16" name="Rounded Rectangle 15"/>
          <p:cNvSpPr/>
          <p:nvPr/>
        </p:nvSpPr>
        <p:spPr>
          <a:xfrm>
            <a:off x="868680" y="2862072"/>
            <a:ext cx="10515600" cy="621792"/>
          </a:xfrm>
          <a:prstGeom prst="roundRect">
            <a:avLst>
              <a:gd name="adj" fmla="val 6000"/>
            </a:avLst>
          </a:prstGeom>
          <a:solidFill>
            <a:srgbClr val="121B2B"/>
          </a:solidFill>
          <a:ln w="889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2953512"/>
            <a:ext cx="3108960" cy="256032"/>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운영 스키마 반영</a:t>
            </a:r>
          </a:p>
        </p:txBody>
      </p:sp>
      <p:sp>
        <p:nvSpPr>
          <p:cNvPr id="18" name="TextBox 17"/>
          <p:cNvSpPr txBox="1"/>
          <p:nvPr/>
        </p:nvSpPr>
        <p:spPr>
          <a:xfrm>
            <a:off x="1097280" y="3209544"/>
            <a:ext cx="566928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backfill SQL 18개를 운영 DB에 순서대로 적용</a:t>
            </a:r>
          </a:p>
        </p:txBody>
      </p:sp>
      <p:sp>
        <p:nvSpPr>
          <p:cNvPr id="19" name="TextBox 18"/>
          <p:cNvSpPr txBox="1"/>
          <p:nvPr/>
        </p:nvSpPr>
        <p:spPr>
          <a:xfrm>
            <a:off x="7132320" y="3063240"/>
            <a:ext cx="2743200" cy="256032"/>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배포 시 사람이 확인</a:t>
            </a:r>
          </a:p>
        </p:txBody>
      </p:sp>
      <p:sp>
        <p:nvSpPr>
          <p:cNvPr id="20" name="TextBox 19"/>
          <p:cNvSpPr txBox="1"/>
          <p:nvPr/>
        </p:nvSpPr>
        <p:spPr>
          <a:xfrm>
            <a:off x="10561320" y="3063240"/>
            <a:ext cx="640080" cy="256032"/>
          </a:xfrm>
          <a:prstGeom prst="rect">
            <a:avLst/>
          </a:prstGeom>
          <a:noFill/>
        </p:spPr>
        <p:txBody>
          <a:bodyPr wrap="square" anchor="t" lIns="0" rIns="0" tIns="0" bIns="0">
            <a:spAutoFit/>
          </a:bodyPr>
          <a:lstStyle/>
          <a:p>
            <a:pPr algn="r">
              <a:lnSpc>
                <a:spcPct val="125000"/>
              </a:lnSpc>
            </a:pPr>
            <a:r>
              <a:rPr sz="1000" b="1">
                <a:solidFill>
                  <a:srgbClr val="EDB44F"/>
                </a:solidFill>
                <a:latin typeface="Consolas"/>
              </a:rPr>
              <a:t>부분</a:t>
            </a:r>
          </a:p>
        </p:txBody>
      </p:sp>
      <p:sp>
        <p:nvSpPr>
          <p:cNvPr id="21" name="Rounded Rectangle 20"/>
          <p:cNvSpPr/>
          <p:nvPr/>
        </p:nvSpPr>
        <p:spPr>
          <a:xfrm>
            <a:off x="868680" y="3538728"/>
            <a:ext cx="10515600" cy="621792"/>
          </a:xfrm>
          <a:prstGeom prst="roundRect">
            <a:avLst>
              <a:gd name="adj" fmla="val 6000"/>
            </a:avLst>
          </a:prstGeom>
          <a:solidFill>
            <a:srgbClr val="121B2B"/>
          </a:solidFill>
          <a:ln w="889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3630168"/>
            <a:ext cx="3108960" cy="256032"/>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마이그레이션 도구</a:t>
            </a:r>
          </a:p>
        </p:txBody>
      </p:sp>
      <p:sp>
        <p:nvSpPr>
          <p:cNvPr id="23" name="TextBox 22"/>
          <p:cNvSpPr txBox="1"/>
          <p:nvPr/>
        </p:nvSpPr>
        <p:spPr>
          <a:xfrm>
            <a:off x="1097280" y="3886200"/>
            <a:ext cx="566928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지금은 손으로 SQL 관리 — Flyway 도입 필요</a:t>
            </a:r>
          </a:p>
        </p:txBody>
      </p:sp>
      <p:sp>
        <p:nvSpPr>
          <p:cNvPr id="24" name="TextBox 23"/>
          <p:cNvSpPr txBox="1"/>
          <p:nvPr/>
        </p:nvSpPr>
        <p:spPr>
          <a:xfrm>
            <a:off x="7132320" y="3739896"/>
            <a:ext cx="2743200" cy="256032"/>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운영 전환 조건</a:t>
            </a:r>
          </a:p>
        </p:txBody>
      </p:sp>
      <p:sp>
        <p:nvSpPr>
          <p:cNvPr id="25" name="TextBox 24"/>
          <p:cNvSpPr txBox="1"/>
          <p:nvPr/>
        </p:nvSpPr>
        <p:spPr>
          <a:xfrm>
            <a:off x="10561320" y="3739896"/>
            <a:ext cx="640080" cy="256032"/>
          </a:xfrm>
          <a:prstGeom prst="rect">
            <a:avLst/>
          </a:prstGeom>
          <a:noFill/>
        </p:spPr>
        <p:txBody>
          <a:bodyPr wrap="square" anchor="t" lIns="0" rIns="0" tIns="0" bIns="0">
            <a:spAutoFit/>
          </a:bodyPr>
          <a:lstStyle/>
          <a:p>
            <a:pPr algn="r">
              <a:lnSpc>
                <a:spcPct val="125000"/>
              </a:lnSpc>
            </a:pPr>
            <a:r>
              <a:rPr sz="1000" b="1">
                <a:solidFill>
                  <a:srgbClr val="F2707A"/>
                </a:solidFill>
                <a:latin typeface="Consolas"/>
              </a:rPr>
              <a:t>예정</a:t>
            </a:r>
          </a:p>
        </p:txBody>
      </p:sp>
      <p:sp>
        <p:nvSpPr>
          <p:cNvPr id="26" name="Rounded Rectangle 25"/>
          <p:cNvSpPr/>
          <p:nvPr/>
        </p:nvSpPr>
        <p:spPr>
          <a:xfrm>
            <a:off x="868680" y="4215384"/>
            <a:ext cx="10515600" cy="621792"/>
          </a:xfrm>
          <a:prstGeom prst="roundRect">
            <a:avLst>
              <a:gd name="adj" fmla="val 6000"/>
            </a:avLst>
          </a:prstGeom>
          <a:solidFill>
            <a:srgbClr val="121B2B"/>
          </a:solidFill>
          <a:ln w="889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4306824"/>
            <a:ext cx="3108960" cy="256032"/>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사람이 하는 QA</a:t>
            </a:r>
          </a:p>
        </p:txBody>
      </p:sp>
      <p:sp>
        <p:nvSpPr>
          <p:cNvPr id="28" name="TextBox 27"/>
          <p:cNvSpPr txBox="1"/>
          <p:nvPr/>
        </p:nvSpPr>
        <p:spPr>
          <a:xfrm>
            <a:off x="1097280" y="4562856"/>
            <a:ext cx="566928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권한·렌더·배포 설정 등 자동 테스트가 못 잡는 항목</a:t>
            </a:r>
          </a:p>
        </p:txBody>
      </p:sp>
      <p:sp>
        <p:nvSpPr>
          <p:cNvPr id="29" name="TextBox 28"/>
          <p:cNvSpPr txBox="1"/>
          <p:nvPr/>
        </p:nvSpPr>
        <p:spPr>
          <a:xfrm>
            <a:off x="7132320" y="4416552"/>
            <a:ext cx="2743200" cy="256032"/>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체크리스트로 관리</a:t>
            </a:r>
          </a:p>
        </p:txBody>
      </p:sp>
      <p:sp>
        <p:nvSpPr>
          <p:cNvPr id="30" name="TextBox 29"/>
          <p:cNvSpPr txBox="1"/>
          <p:nvPr/>
        </p:nvSpPr>
        <p:spPr>
          <a:xfrm>
            <a:off x="10561320" y="4416552"/>
            <a:ext cx="640080" cy="256032"/>
          </a:xfrm>
          <a:prstGeom prst="rect">
            <a:avLst/>
          </a:prstGeom>
          <a:noFill/>
        </p:spPr>
        <p:txBody>
          <a:bodyPr wrap="square" anchor="t" lIns="0" rIns="0" tIns="0" bIns="0">
            <a:spAutoFit/>
          </a:bodyPr>
          <a:lstStyle/>
          <a:p>
            <a:pPr algn="r">
              <a:lnSpc>
                <a:spcPct val="125000"/>
              </a:lnSpc>
            </a:pPr>
            <a:r>
              <a:rPr sz="1000" b="1">
                <a:solidFill>
                  <a:srgbClr val="EDB44F"/>
                </a:solidFill>
                <a:latin typeface="Consolas"/>
              </a:rPr>
              <a:t>부분</a:t>
            </a:r>
          </a:p>
        </p:txBody>
      </p:sp>
      <p:sp>
        <p:nvSpPr>
          <p:cNvPr id="31" name="Rounded Rectangle 30"/>
          <p:cNvSpPr/>
          <p:nvPr/>
        </p:nvSpPr>
        <p:spPr>
          <a:xfrm>
            <a:off x="868680" y="4892040"/>
            <a:ext cx="10515600" cy="621792"/>
          </a:xfrm>
          <a:prstGeom prst="roundRect">
            <a:avLst>
              <a:gd name="adj" fmla="val 6000"/>
            </a:avLst>
          </a:prstGeom>
          <a:solidFill>
            <a:srgbClr val="121B2B"/>
          </a:solidFill>
          <a:ln w="8890">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4983480"/>
            <a:ext cx="3108960" cy="256032"/>
          </a:xfrm>
          <a:prstGeom prst="rect">
            <a:avLst/>
          </a:prstGeom>
          <a:noFill/>
        </p:spPr>
        <p:txBody>
          <a:bodyPr wrap="square" anchor="t" lIns="0" rIns="0" tIns="0" bIns="0">
            <a:spAutoFit/>
          </a:bodyPr>
          <a:lstStyle/>
          <a:p>
            <a:pPr algn="l">
              <a:lnSpc>
                <a:spcPct val="125000"/>
              </a:lnSpc>
            </a:pPr>
            <a:r>
              <a:rPr sz="1300" b="1">
                <a:solidFill>
                  <a:srgbClr val="E8EEFA"/>
                </a:solidFill>
                <a:latin typeface="맑은 고딕"/>
              </a:rPr>
              <a:t>staging 검증</a:t>
            </a:r>
          </a:p>
        </p:txBody>
      </p:sp>
      <p:sp>
        <p:nvSpPr>
          <p:cNvPr id="33" name="TextBox 32"/>
          <p:cNvSpPr txBox="1"/>
          <p:nvPr/>
        </p:nvSpPr>
        <p:spPr>
          <a:xfrm>
            <a:off x="1097280" y="5239512"/>
            <a:ext cx="5669280" cy="237744"/>
          </a:xfrm>
          <a:prstGeom prst="rect">
            <a:avLst/>
          </a:prstGeom>
          <a:noFill/>
        </p:spPr>
        <p:txBody>
          <a:bodyPr wrap="square" anchor="t" lIns="0" rIns="0" tIns="0" bIns="0">
            <a:spAutoFit/>
          </a:bodyPr>
          <a:lstStyle/>
          <a:p>
            <a:pPr algn="l">
              <a:lnSpc>
                <a:spcPct val="125000"/>
              </a:lnSpc>
            </a:pPr>
            <a:r>
              <a:rPr sz="1050" b="0">
                <a:solidFill>
                  <a:srgbClr val="9AABC4"/>
                </a:solidFill>
                <a:latin typeface="맑은 고딕"/>
              </a:rPr>
              <a:t>실제 메일 발송·공휴일 API를 붙인 환경에서 확인</a:t>
            </a:r>
          </a:p>
        </p:txBody>
      </p:sp>
      <p:sp>
        <p:nvSpPr>
          <p:cNvPr id="34" name="TextBox 33"/>
          <p:cNvSpPr txBox="1"/>
          <p:nvPr/>
        </p:nvSpPr>
        <p:spPr>
          <a:xfrm>
            <a:off x="7132320" y="5093208"/>
            <a:ext cx="2743200" cy="256032"/>
          </a:xfrm>
          <a:prstGeom prst="rect">
            <a:avLst/>
          </a:prstGeom>
          <a:noFill/>
        </p:spPr>
        <p:txBody>
          <a:bodyPr wrap="square" anchor="t" lIns="0" rIns="0" tIns="0" bIns="0">
            <a:spAutoFit/>
          </a:bodyPr>
          <a:lstStyle/>
          <a:p>
            <a:pPr algn="l">
              <a:lnSpc>
                <a:spcPct val="125000"/>
              </a:lnSpc>
            </a:pPr>
            <a:r>
              <a:rPr sz="1100" b="0">
                <a:solidFill>
                  <a:srgbClr val="9AABC4"/>
                </a:solidFill>
                <a:latin typeface="맑은 고딕"/>
              </a:rPr>
              <a:t>환경 필요</a:t>
            </a:r>
          </a:p>
        </p:txBody>
      </p:sp>
      <p:sp>
        <p:nvSpPr>
          <p:cNvPr id="35" name="TextBox 34"/>
          <p:cNvSpPr txBox="1"/>
          <p:nvPr/>
        </p:nvSpPr>
        <p:spPr>
          <a:xfrm>
            <a:off x="10561320" y="5093208"/>
            <a:ext cx="640080" cy="256032"/>
          </a:xfrm>
          <a:prstGeom prst="rect">
            <a:avLst/>
          </a:prstGeom>
          <a:noFill/>
        </p:spPr>
        <p:txBody>
          <a:bodyPr wrap="square" anchor="t" lIns="0" rIns="0" tIns="0" bIns="0">
            <a:spAutoFit/>
          </a:bodyPr>
          <a:lstStyle/>
          <a:p>
            <a:pPr algn="r">
              <a:lnSpc>
                <a:spcPct val="125000"/>
              </a:lnSpc>
            </a:pPr>
            <a:r>
              <a:rPr sz="1000" b="1">
                <a:solidFill>
                  <a:srgbClr val="F2707A"/>
                </a:solidFill>
                <a:latin typeface="Consolas"/>
              </a:rPr>
              <a:t>예정</a:t>
            </a:r>
          </a:p>
        </p:txBody>
      </p:sp>
      <p:sp>
        <p:nvSpPr>
          <p:cNvPr id="36" name="Rectangle 35"/>
          <p:cNvSpPr/>
          <p:nvPr/>
        </p:nvSpPr>
        <p:spPr>
          <a:xfrm>
            <a:off x="868680" y="5596128"/>
            <a:ext cx="45720" cy="502920"/>
          </a:xfrm>
          <a:prstGeom prst="rect">
            <a:avLst/>
          </a:prstGeom>
          <a:solidFill>
            <a:srgbClr val="9AA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14400" y="5596128"/>
            <a:ext cx="10469880" cy="502920"/>
          </a:xfrm>
          <a:prstGeom prst="rect">
            <a:avLst/>
          </a:prstGeom>
          <a:solidFill>
            <a:srgbClr val="1824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43000" y="5742432"/>
            <a:ext cx="9966960" cy="228600"/>
          </a:xfrm>
          <a:prstGeom prst="rect">
            <a:avLst/>
          </a:prstGeom>
          <a:noFill/>
        </p:spPr>
        <p:txBody>
          <a:bodyPr wrap="square" anchor="t" lIns="0" rIns="0" tIns="0" bIns="0">
            <a:spAutoFit/>
          </a:bodyPr>
          <a:lstStyle/>
          <a:p>
            <a:pPr algn="l">
              <a:lnSpc>
                <a:spcPct val="135000"/>
              </a:lnSpc>
            </a:pPr>
            <a:r>
              <a:rPr sz="1200" b="0">
                <a:solidFill>
                  <a:srgbClr val="E8EEFA"/>
                </a:solidFill>
                <a:latin typeface="맑은 고딕"/>
              </a:rPr>
              <a:t>현재 상태의 단일 원본은 docs/12-남은-작업.md 입니다. 이 장표와 어긋나면 그쪽이 맞습니다.</a:t>
            </a:r>
          </a:p>
        </p:txBody>
      </p:sp>
      <p:sp>
        <p:nvSpPr>
          <p:cNvPr id="39" name="TextBox 38"/>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640080" y="566928"/>
            <a:ext cx="54864" cy="384048"/>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8229600" cy="256032"/>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DEPLOY</a:t>
            </a:r>
          </a:p>
        </p:txBody>
      </p:sp>
      <p:sp>
        <p:nvSpPr>
          <p:cNvPr id="4" name="TextBox 3"/>
          <p:cNvSpPr txBox="1"/>
          <p:nvPr/>
        </p:nvSpPr>
        <p:spPr>
          <a:xfrm>
            <a:off x="868680" y="777240"/>
            <a:ext cx="10607040" cy="457200"/>
          </a:xfrm>
          <a:prstGeom prst="rect">
            <a:avLst/>
          </a:prstGeom>
          <a:noFill/>
        </p:spPr>
        <p:txBody>
          <a:bodyPr wrap="square" anchor="t" lIns="0" rIns="0" tIns="0" bIns="0">
            <a:spAutoFit/>
          </a:bodyPr>
          <a:lstStyle/>
          <a:p>
            <a:pPr algn="l">
              <a:lnSpc>
                <a:spcPct val="125000"/>
              </a:lnSpc>
            </a:pPr>
            <a:r>
              <a:rPr sz="2700" b="1">
                <a:solidFill>
                  <a:srgbClr val="E8EEFA"/>
                </a:solidFill>
                <a:latin typeface="맑은 고딕"/>
              </a:rPr>
              <a:t>배포는 어떻게 하나</a:t>
            </a:r>
          </a:p>
        </p:txBody>
      </p:sp>
      <p:sp>
        <p:nvSpPr>
          <p:cNvPr id="5" name="TextBox 4"/>
          <p:cNvSpPr txBox="1"/>
          <p:nvPr/>
        </p:nvSpPr>
        <p:spPr>
          <a:xfrm>
            <a:off x="868680" y="6355080"/>
            <a:ext cx="5486400" cy="228600"/>
          </a:xfrm>
          <a:prstGeom prst="rect">
            <a:avLst/>
          </a:prstGeom>
          <a:noFill/>
        </p:spPr>
        <p:txBody>
          <a:bodyPr wrap="square" anchor="t" lIns="0" rIns="0" tIns="0" bIns="0">
            <a:spAutoFit/>
          </a:bodyPr>
          <a:lstStyle/>
          <a:p>
            <a:pPr algn="l">
              <a:lnSpc>
                <a:spcPct val="125000"/>
              </a:lnSpc>
            </a:pPr>
            <a:r>
              <a:rPr sz="900" b="0">
                <a:solidFill>
                  <a:srgbClr val="6F8099"/>
                </a:solidFill>
                <a:latin typeface="Consolas"/>
              </a:rPr>
              <a:t>미완성본 — 기능이 계속 추가됩니다 · 2026-09-10</a:t>
            </a:r>
          </a:p>
        </p:txBody>
      </p:sp>
      <p:sp>
        <p:nvSpPr>
          <p:cNvPr id="6" name="Rounded Rectangle 5"/>
          <p:cNvSpPr/>
          <p:nvPr/>
        </p:nvSpPr>
        <p:spPr>
          <a:xfrm>
            <a:off x="868680" y="1463040"/>
            <a:ext cx="3337560" cy="18288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45920"/>
            <a:ext cx="2926080"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1</a:t>
            </a:r>
          </a:p>
        </p:txBody>
      </p:sp>
      <p:sp>
        <p:nvSpPr>
          <p:cNvPr id="8" name="TextBox 7"/>
          <p:cNvSpPr txBox="1"/>
          <p:nvPr/>
        </p:nvSpPr>
        <p:spPr>
          <a:xfrm>
            <a:off x="1097280" y="1920240"/>
            <a:ext cx="292608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이미지 빌드</a:t>
            </a:r>
          </a:p>
        </p:txBody>
      </p:sp>
      <p:sp>
        <p:nvSpPr>
          <p:cNvPr id="9" name="TextBox 8"/>
          <p:cNvSpPr txBox="1"/>
          <p:nvPr/>
        </p:nvSpPr>
        <p:spPr>
          <a:xfrm>
            <a:off x="1097280" y="2331720"/>
            <a:ext cx="2926080" cy="822960"/>
          </a:xfrm>
          <a:prstGeom prst="rect">
            <a:avLst/>
          </a:prstGeom>
          <a:noFill/>
        </p:spPr>
        <p:txBody>
          <a:bodyPr wrap="square" anchor="t" lIns="0" rIns="0" tIns="0" bIns="0">
            <a:spAutoFit/>
          </a:bodyPr>
          <a:lstStyle/>
          <a:p>
            <a:pPr algn="l">
              <a:lnSpc>
                <a:spcPct val="135000"/>
              </a:lnSpc>
            </a:pPr>
            <a:r>
              <a:rPr sz="1050" b="0">
                <a:solidFill>
                  <a:srgbClr val="9AABC4"/>
                </a:solidFill>
                <a:latin typeface="맑은 고딕"/>
              </a:rPr>
              <a:t>프론트 빌드 결과를 백엔드 static에 넣어</a:t>
            </a:r>
          </a:p>
          <a:p>
            <a:pPr algn="l">
              <a:lnSpc>
                <a:spcPct val="135000"/>
              </a:lnSpc>
            </a:pPr>
            <a:r>
              <a:rPr sz="1050" b="0">
                <a:solidFill>
                  <a:srgbClr val="9AABC4"/>
                </a:solidFill>
                <a:latin typeface="맑은 고딕"/>
              </a:rPr>
              <a:t>컨테이너 하나로 합친다</a:t>
            </a:r>
          </a:p>
        </p:txBody>
      </p:sp>
      <p:sp>
        <p:nvSpPr>
          <p:cNvPr id="10" name="Rounded Rectangle 9"/>
          <p:cNvSpPr/>
          <p:nvPr/>
        </p:nvSpPr>
        <p:spPr>
          <a:xfrm>
            <a:off x="4434840" y="1463040"/>
            <a:ext cx="3337560" cy="18288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645920"/>
            <a:ext cx="2926080"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2</a:t>
            </a:r>
          </a:p>
        </p:txBody>
      </p:sp>
      <p:sp>
        <p:nvSpPr>
          <p:cNvPr id="12" name="TextBox 11"/>
          <p:cNvSpPr txBox="1"/>
          <p:nvPr/>
        </p:nvSpPr>
        <p:spPr>
          <a:xfrm>
            <a:off x="4663440" y="1920240"/>
            <a:ext cx="292608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스키마 준비</a:t>
            </a:r>
          </a:p>
        </p:txBody>
      </p:sp>
      <p:sp>
        <p:nvSpPr>
          <p:cNvPr id="13" name="TextBox 12"/>
          <p:cNvSpPr txBox="1"/>
          <p:nvPr/>
        </p:nvSpPr>
        <p:spPr>
          <a:xfrm>
            <a:off x="4663440" y="2331720"/>
            <a:ext cx="2926080" cy="822960"/>
          </a:xfrm>
          <a:prstGeom prst="rect">
            <a:avLst/>
          </a:prstGeom>
          <a:noFill/>
        </p:spPr>
        <p:txBody>
          <a:bodyPr wrap="square" anchor="t" lIns="0" rIns="0" tIns="0" bIns="0">
            <a:spAutoFit/>
          </a:bodyPr>
          <a:lstStyle/>
          <a:p>
            <a:pPr algn="l">
              <a:lnSpc>
                <a:spcPct val="135000"/>
              </a:lnSpc>
            </a:pPr>
            <a:r>
              <a:rPr sz="1050" b="0">
                <a:solidFill>
                  <a:srgbClr val="9AABC4"/>
                </a:solidFill>
                <a:latin typeface="맑은 고딕"/>
              </a:rPr>
              <a:t>빈 DB면 schema.sql</a:t>
            </a:r>
          </a:p>
          <a:p>
            <a:pPr algn="l">
              <a:lnSpc>
                <a:spcPct val="135000"/>
              </a:lnSpc>
            </a:pPr>
            <a:r>
              <a:rPr sz="1050" b="0">
                <a:solidFill>
                  <a:srgbClr val="9AABC4"/>
                </a:solidFill>
                <a:latin typeface="맑은 고딕"/>
              </a:rPr>
              <a:t>기존 DB면 backfill SQL 18개</a:t>
            </a:r>
          </a:p>
        </p:txBody>
      </p:sp>
      <p:sp>
        <p:nvSpPr>
          <p:cNvPr id="14" name="Rounded Rectangle 13"/>
          <p:cNvSpPr/>
          <p:nvPr/>
        </p:nvSpPr>
        <p:spPr>
          <a:xfrm>
            <a:off x="8001000" y="1463040"/>
            <a:ext cx="3337560" cy="18288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645920"/>
            <a:ext cx="2926080" cy="274320"/>
          </a:xfrm>
          <a:prstGeom prst="rect">
            <a:avLst/>
          </a:prstGeom>
          <a:noFill/>
        </p:spPr>
        <p:txBody>
          <a:bodyPr wrap="square" anchor="t" lIns="0" rIns="0" tIns="0" bIns="0">
            <a:spAutoFit/>
          </a:bodyPr>
          <a:lstStyle/>
          <a:p>
            <a:pPr algn="l">
              <a:lnSpc>
                <a:spcPct val="125000"/>
              </a:lnSpc>
            </a:pPr>
            <a:r>
              <a:rPr sz="1100" b="1">
                <a:solidFill>
                  <a:srgbClr val="4FB8E8"/>
                </a:solidFill>
                <a:latin typeface="Consolas"/>
              </a:rPr>
              <a:t>3</a:t>
            </a:r>
          </a:p>
        </p:txBody>
      </p:sp>
      <p:sp>
        <p:nvSpPr>
          <p:cNvPr id="16" name="TextBox 15"/>
          <p:cNvSpPr txBox="1"/>
          <p:nvPr/>
        </p:nvSpPr>
        <p:spPr>
          <a:xfrm>
            <a:off x="8229600" y="1920240"/>
            <a:ext cx="2926080" cy="292608"/>
          </a:xfrm>
          <a:prstGeom prst="rect">
            <a:avLst/>
          </a:prstGeom>
          <a:noFill/>
        </p:spPr>
        <p:txBody>
          <a:bodyPr wrap="square" anchor="t" lIns="0" rIns="0" tIns="0" bIns="0">
            <a:spAutoFit/>
          </a:bodyPr>
          <a:lstStyle/>
          <a:p>
            <a:pPr algn="l">
              <a:lnSpc>
                <a:spcPct val="125000"/>
              </a:lnSpc>
            </a:pPr>
            <a:r>
              <a:rPr sz="1400" b="1">
                <a:solidFill>
                  <a:srgbClr val="E8EEFA"/>
                </a:solidFill>
                <a:latin typeface="맑은 고딕"/>
              </a:rPr>
              <a:t>기동 검사</a:t>
            </a:r>
          </a:p>
        </p:txBody>
      </p:sp>
      <p:sp>
        <p:nvSpPr>
          <p:cNvPr id="17" name="TextBox 16"/>
          <p:cNvSpPr txBox="1"/>
          <p:nvPr/>
        </p:nvSpPr>
        <p:spPr>
          <a:xfrm>
            <a:off x="8229600" y="2331720"/>
            <a:ext cx="2926080" cy="822960"/>
          </a:xfrm>
          <a:prstGeom prst="rect">
            <a:avLst/>
          </a:prstGeom>
          <a:noFill/>
        </p:spPr>
        <p:txBody>
          <a:bodyPr wrap="square" anchor="t" lIns="0" rIns="0" tIns="0" bIns="0">
            <a:spAutoFit/>
          </a:bodyPr>
          <a:lstStyle/>
          <a:p>
            <a:pPr algn="l">
              <a:lnSpc>
                <a:spcPct val="135000"/>
              </a:lnSpc>
            </a:pPr>
            <a:r>
              <a:rPr sz="1050" b="0">
                <a:solidFill>
                  <a:srgbClr val="9AABC4"/>
                </a:solidFill>
                <a:latin typeface="맑은 고딕"/>
              </a:rPr>
              <a:t>쿠키 보안 설정·허용 도메인이 비면</a:t>
            </a:r>
          </a:p>
          <a:p>
            <a:pPr algn="l">
              <a:lnSpc>
                <a:spcPct val="135000"/>
              </a:lnSpc>
            </a:pPr>
            <a:r>
              <a:rPr sz="1050" b="0">
                <a:solidFill>
                  <a:srgbClr val="9AABC4"/>
                </a:solidFill>
                <a:latin typeface="맑은 고딕"/>
              </a:rPr>
              <a:t>서버가 아예 안 뜬다 (의도)</a:t>
            </a:r>
          </a:p>
        </p:txBody>
      </p:sp>
      <p:sp>
        <p:nvSpPr>
          <p:cNvPr id="18" name="Rounded Rectangle 17"/>
          <p:cNvSpPr/>
          <p:nvPr/>
        </p:nvSpPr>
        <p:spPr>
          <a:xfrm>
            <a:off x="868680" y="3566160"/>
            <a:ext cx="10515600" cy="566928"/>
          </a:xfrm>
          <a:prstGeom prst="roundRect">
            <a:avLst>
              <a:gd name="adj" fmla="val 6000"/>
            </a:avLst>
          </a:prstGeom>
          <a:solidFill>
            <a:srgbClr val="182438"/>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721608"/>
            <a:ext cx="10058400" cy="274320"/>
          </a:xfrm>
          <a:prstGeom prst="rect">
            <a:avLst/>
          </a:prstGeom>
          <a:noFill/>
        </p:spPr>
        <p:txBody>
          <a:bodyPr wrap="square" anchor="t" lIns="0" rIns="0" tIns="0" bIns="0">
            <a:spAutoFit/>
          </a:bodyPr>
          <a:lstStyle/>
          <a:p>
            <a:pPr algn="l">
              <a:lnSpc>
                <a:spcPct val="125000"/>
              </a:lnSpc>
            </a:pPr>
            <a:r>
              <a:rPr sz="1250" b="0">
                <a:solidFill>
                  <a:srgbClr val="4FB8E8"/>
                </a:solidFill>
                <a:latin typeface="Consolas"/>
              </a:rPr>
              <a:t>docker compose -f docker-compose.prod.yml --env-file .env.prod up -d --build</a:t>
            </a:r>
          </a:p>
        </p:txBody>
      </p:sp>
      <p:sp>
        <p:nvSpPr>
          <p:cNvPr id="20" name="TextBox 19"/>
          <p:cNvSpPr txBox="1"/>
          <p:nvPr/>
        </p:nvSpPr>
        <p:spPr>
          <a:xfrm>
            <a:off x="868680" y="4389120"/>
            <a:ext cx="10515600" cy="1463040"/>
          </a:xfrm>
          <a:prstGeom prst="rect">
            <a:avLst/>
          </a:prstGeom>
          <a:noFill/>
        </p:spPr>
        <p:txBody>
          <a:bodyPr wrap="square" anchor="t" lIns="0" rIns="0" tIns="0" bIns="0">
            <a:spAutoFit/>
          </a:bodyPr>
          <a:lstStyle/>
          <a:p>
            <a:pPr algn="l">
              <a:lnSpc>
                <a:spcPct val="150000"/>
              </a:lnSpc>
            </a:pPr>
            <a:r>
              <a:rPr sz="1400" b="1">
                <a:solidFill>
                  <a:srgbClr val="EDB44F"/>
                </a:solidFill>
                <a:latin typeface="맑은 고딕"/>
              </a:rPr>
              <a:t>배포 전 반드시 확인</a:t>
            </a:r>
          </a:p>
          <a:p>
            <a:pPr algn="l">
              <a:lnSpc>
                <a:spcPct val="150000"/>
              </a:lnSpc>
            </a:pPr>
            <a:r>
              <a:rPr sz="1200" b="0">
                <a:solidFill>
                  <a:srgbClr val="9AABC4"/>
                </a:solidFill>
                <a:latin typeface="맑은 고딕"/>
              </a:rPr>
              <a:t>· 운영은 Hibernate가 테이블을 만들지 않습니다 — 스키마는 사람이 넣습니다</a:t>
            </a:r>
          </a:p>
          <a:p>
            <a:pPr algn="l">
              <a:lnSpc>
                <a:spcPct val="150000"/>
              </a:lnSpc>
            </a:pPr>
            <a:r>
              <a:rPr sz="1200" b="0">
                <a:solidFill>
                  <a:srgbClr val="9AABC4"/>
                </a:solidFill>
                <a:latin typeface="맑은 고딕"/>
              </a:rPr>
              <a:t>· backfill SQL은 전부 멱등하게 써 두었으니 두 번 돌아도 안전합니다</a:t>
            </a:r>
          </a:p>
          <a:p>
            <a:pPr algn="l">
              <a:lnSpc>
                <a:spcPct val="150000"/>
              </a:lnSpc>
            </a:pPr>
            <a:r>
              <a:rPr sz="1200" b="0">
                <a:solidFill>
                  <a:srgbClr val="9AABC4"/>
                </a:solidFill>
                <a:latin typeface="맑은 고딕"/>
              </a:rPr>
              <a:t>· 시크릿 파일은 git과 도커 빌드 컨텍스트 둘 다에서 빼야 합니다 (별개입니다)</a:t>
            </a:r>
          </a:p>
          <a:p>
            <a:pPr algn="l">
              <a:lnSpc>
                <a:spcPct val="150000"/>
              </a:lnSpc>
            </a:pPr>
            <a:r>
              <a:rPr sz="1200" b="0">
                <a:solidFill>
                  <a:srgbClr val="9AABC4"/>
                </a:solidFill>
                <a:latin typeface="맑은 고딕"/>
              </a:rPr>
              <a:t>· 관리자 지정은 최초 가입 때만 적용됩니다 — 기존 계정 승격은 DB 수정 + 재로그인</a:t>
            </a:r>
          </a:p>
        </p:txBody>
      </p:sp>
      <p:sp>
        <p:nvSpPr>
          <p:cNvPr id="21" name="TextBox 20"/>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4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371600"/>
            <a:ext cx="9144000" cy="365760"/>
          </a:xfrm>
          <a:prstGeom prst="rect">
            <a:avLst/>
          </a:prstGeom>
          <a:noFill/>
        </p:spPr>
        <p:txBody>
          <a:bodyPr wrap="square" anchor="t" lIns="0" rIns="0" tIns="0" bIns="0">
            <a:spAutoFit/>
          </a:bodyPr>
          <a:lstStyle/>
          <a:p>
            <a:pPr algn="l">
              <a:lnSpc>
                <a:spcPct val="125000"/>
              </a:lnSpc>
            </a:pPr>
            <a:r>
              <a:rPr sz="1200" b="1">
                <a:solidFill>
                  <a:srgbClr val="4FB8E8"/>
                </a:solidFill>
                <a:latin typeface="Consolas"/>
              </a:rPr>
              <a:t>WRAP UP</a:t>
            </a:r>
          </a:p>
        </p:txBody>
      </p:sp>
      <p:sp>
        <p:nvSpPr>
          <p:cNvPr id="4" name="TextBox 3"/>
          <p:cNvSpPr txBox="1"/>
          <p:nvPr/>
        </p:nvSpPr>
        <p:spPr>
          <a:xfrm>
            <a:off x="1005840" y="1783080"/>
            <a:ext cx="10058400" cy="640080"/>
          </a:xfrm>
          <a:prstGeom prst="rect">
            <a:avLst/>
          </a:prstGeom>
          <a:noFill/>
        </p:spPr>
        <p:txBody>
          <a:bodyPr wrap="square" anchor="t" lIns="0" rIns="0" tIns="0" bIns="0">
            <a:spAutoFit/>
          </a:bodyPr>
          <a:lstStyle/>
          <a:p>
            <a:pPr algn="l">
              <a:lnSpc>
                <a:spcPct val="125000"/>
              </a:lnSpc>
            </a:pPr>
            <a:r>
              <a:rPr sz="3400" b="1">
                <a:solidFill>
                  <a:srgbClr val="E8EEFA"/>
                </a:solidFill>
                <a:latin typeface="맑은 고딕"/>
              </a:rPr>
              <a:t>여기까지가 지금의 전부입니다</a:t>
            </a:r>
          </a:p>
        </p:txBody>
      </p:sp>
      <p:sp>
        <p:nvSpPr>
          <p:cNvPr id="5" name="TextBox 4"/>
          <p:cNvSpPr txBox="1"/>
          <p:nvPr/>
        </p:nvSpPr>
        <p:spPr>
          <a:xfrm>
            <a:off x="1005840" y="2743200"/>
            <a:ext cx="10058400" cy="1097280"/>
          </a:xfrm>
          <a:prstGeom prst="rect">
            <a:avLst/>
          </a:prstGeom>
          <a:noFill/>
        </p:spPr>
        <p:txBody>
          <a:bodyPr wrap="square" anchor="t" lIns="0" rIns="0" tIns="0" bIns="0">
            <a:spAutoFit/>
          </a:bodyPr>
          <a:lstStyle/>
          <a:p>
            <a:pPr algn="l">
              <a:lnSpc>
                <a:spcPct val="160000"/>
              </a:lnSpc>
            </a:pPr>
            <a:r>
              <a:rPr sz="1400" b="0">
                <a:solidFill>
                  <a:srgbClr val="9AABC4"/>
                </a:solidFill>
                <a:latin typeface="맑은 고딕"/>
              </a:rPr>
              <a:t>· 사원이 내고, 팀장이 결재하고, 관리자가 정책을 정하는 흐름은 끝까지 동작합니다</a:t>
            </a:r>
          </a:p>
          <a:p>
            <a:pPr algn="l">
              <a:lnSpc>
                <a:spcPct val="160000"/>
              </a:lnSpc>
            </a:pPr>
            <a:r>
              <a:rPr sz="1400" b="0">
                <a:solidFill>
                  <a:srgbClr val="9AABC4"/>
                </a:solidFill>
                <a:latin typeface="맑은 고딕"/>
              </a:rPr>
              <a:t>· 자동 적립·소멸·파기는 매일 도는 잡이 대신 합니다</a:t>
            </a:r>
          </a:p>
          <a:p>
            <a:pPr algn="l">
              <a:lnSpc>
                <a:spcPct val="160000"/>
              </a:lnSpc>
            </a:pPr>
            <a:r>
              <a:rPr sz="1400" b="0">
                <a:solidFill>
                  <a:srgbClr val="9AABC4"/>
                </a:solidFill>
                <a:latin typeface="맑은 고딕"/>
              </a:rPr>
              <a:t>· 아직 운영에 올리지 않았고, 관리자 문의 등 몇 가지가 남아 있습니다</a:t>
            </a:r>
          </a:p>
        </p:txBody>
      </p:sp>
      <p:sp>
        <p:nvSpPr>
          <p:cNvPr id="6" name="Rounded Rectangle 5"/>
          <p:cNvSpPr/>
          <p:nvPr/>
        </p:nvSpPr>
        <p:spPr>
          <a:xfrm>
            <a:off x="1005840" y="4114800"/>
            <a:ext cx="10149840" cy="1371600"/>
          </a:xfrm>
          <a:prstGeom prst="roundRect">
            <a:avLst>
              <a:gd name="adj" fmla="val 6000"/>
            </a:avLst>
          </a:prstGeom>
          <a:solidFill>
            <a:srgbClr val="121B2B"/>
          </a:solidFill>
          <a:ln w="9525">
            <a:solidFill>
              <a:srgbClr val="263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4343400"/>
            <a:ext cx="9509760" cy="1005840"/>
          </a:xfrm>
          <a:prstGeom prst="rect">
            <a:avLst/>
          </a:prstGeom>
          <a:noFill/>
        </p:spPr>
        <p:txBody>
          <a:bodyPr wrap="square" anchor="t" lIns="0" rIns="0" tIns="0" bIns="0">
            <a:spAutoFit/>
          </a:bodyPr>
          <a:lstStyle/>
          <a:p>
            <a:pPr algn="l">
              <a:lnSpc>
                <a:spcPct val="160000"/>
              </a:lnSpc>
            </a:pPr>
            <a:r>
              <a:rPr sz="1400" b="1">
                <a:solidFill>
                  <a:srgbClr val="4FB8E8"/>
                </a:solidFill>
                <a:latin typeface="맑은 고딕"/>
              </a:rPr>
              <a:t>피드백을 받고 싶은 부분</a:t>
            </a:r>
          </a:p>
          <a:p>
            <a:pPr algn="l">
              <a:lnSpc>
                <a:spcPct val="160000"/>
              </a:lnSpc>
            </a:pPr>
            <a:r>
              <a:rPr sz="1250" b="0">
                <a:solidFill>
                  <a:srgbClr val="9AABC4"/>
                </a:solidFill>
                <a:latin typeface="맑은 고딕"/>
              </a:rPr>
              <a:t>① 회차 창 규칙이 실제 인사 운영과 맞는지  ② 퇴직자 파기 기본값(수동 / 3년 보존)이 적절한지  ③ 재입사자 연차를 새로 시작하는 게 맞는지  ④ 관리자 문의 기능의 형태</a:t>
            </a:r>
          </a:p>
        </p:txBody>
      </p:sp>
      <p:sp>
        <p:nvSpPr>
          <p:cNvPr id="8" name="TextBox 7"/>
          <p:cNvSpPr txBox="1"/>
          <p:nvPr/>
        </p:nvSpPr>
        <p:spPr>
          <a:xfrm>
            <a:off x="1005840" y="5852160"/>
            <a:ext cx="10058400" cy="274320"/>
          </a:xfrm>
          <a:prstGeom prst="rect">
            <a:avLst/>
          </a:prstGeom>
          <a:noFill/>
        </p:spPr>
        <p:txBody>
          <a:bodyPr wrap="square" anchor="t" lIns="0" rIns="0" tIns="0" bIns="0">
            <a:spAutoFit/>
          </a:bodyPr>
          <a:lstStyle/>
          <a:p>
            <a:pPr algn="l">
              <a:lnSpc>
                <a:spcPct val="125000"/>
              </a:lnSpc>
            </a:pPr>
            <a:r>
              <a:rPr sz="1000" b="0">
                <a:solidFill>
                  <a:srgbClr val="6F8099"/>
                </a:solidFill>
                <a:latin typeface="Consolas"/>
              </a:rPr>
              <a:t>미완성본 · 2026-09-10 · 최신 상태는 저장소 docs/12-남은-작업.md</a:t>
            </a:r>
          </a:p>
        </p:txBody>
      </p:sp>
      <p:sp>
        <p:nvSpPr>
          <p:cNvPr id="9" name="TextBox 8"/>
          <p:cNvSpPr txBox="1"/>
          <p:nvPr/>
        </p:nvSpPr>
        <p:spPr>
          <a:xfrm>
            <a:off x="10972800" y="6336792"/>
            <a:ext cx="384048" cy="228600"/>
          </a:xfrm>
          <a:prstGeom prst="rect">
            <a:avLst/>
          </a:prstGeom>
          <a:noFill/>
        </p:spPr>
        <p:txBody>
          <a:bodyPr wrap="square" anchor="t" lIns="0" rIns="0" tIns="0" bIns="0">
            <a:spAutoFit/>
          </a:bodyPr>
          <a:lstStyle/>
          <a:p>
            <a:pPr algn="r">
              <a:lnSpc>
                <a:spcPct val="125000"/>
              </a:lnSpc>
            </a:pPr>
            <a:r>
              <a:rPr sz="1000" b="0">
                <a:solidFill>
                  <a:srgbClr val="6F8099"/>
                </a:solidFill>
                <a:latin typeface="Consolas"/>
              </a:rP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